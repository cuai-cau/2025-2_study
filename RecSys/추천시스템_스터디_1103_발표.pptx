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6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8T05:23:27.2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0,'5425'0,"-5389"0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A0C04-D4D4-4BB0-9C2D-4985AF6E8136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87857-CFDB-40A8-BB66-820DF8F99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525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AF94D103-3292-16A0-9A39-697233E1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7ADDDC95-709E-78B6-833F-13651A54F2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DAB41D9C-D21B-0FAB-7F84-8BA3FF8F9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7085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B64D77F-8FD1-DA1D-151A-EDE03A76D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CC702735-2BD1-31A9-0E1E-0AAFC0ACF2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360D7A41-025C-48DC-8A51-1CD03354A8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2331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6797F055-6211-FDED-D322-4CDD96E0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C7AB8235-1199-E6F2-8F3D-0CBECDA5D3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8F83FCFC-A7B9-895D-03E9-3B30AD50CB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장점</a:t>
            </a:r>
            <a:r>
              <a:rPr lang="en-US" altLang="ko-KR" dirty="0"/>
              <a:t>: </a:t>
            </a:r>
            <a:r>
              <a:rPr lang="ko-KR" altLang="en-US" dirty="0"/>
              <a:t>직관적이고 이해하기 쉬운 추천 결과</a:t>
            </a:r>
            <a:r>
              <a:rPr lang="en-US" altLang="ko-KR" dirty="0"/>
              <a:t>, </a:t>
            </a:r>
            <a:r>
              <a:rPr lang="ko-KR" altLang="en-US" dirty="0"/>
              <a:t>맞춤형 추천 가능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8779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A3D4DE02-86E1-8B28-4035-934786D13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F920505F-F0C5-7951-6C5A-C652304D0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E184756A-3E4D-A3C7-16F5-2DA3C7393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단점</a:t>
            </a:r>
            <a:r>
              <a:rPr lang="en-US" altLang="ko-KR" dirty="0"/>
              <a:t>: Sparsity </a:t>
            </a:r>
            <a:r>
              <a:rPr lang="ko-KR" altLang="en-US" dirty="0"/>
              <a:t>문제</a:t>
            </a:r>
            <a:r>
              <a:rPr lang="en-US" altLang="ko-KR" dirty="0"/>
              <a:t>, Cold Start </a:t>
            </a:r>
            <a:r>
              <a:rPr lang="ko-KR" altLang="en-US" dirty="0"/>
              <a:t>문제</a:t>
            </a:r>
            <a:r>
              <a:rPr lang="en-US" altLang="ko-KR" dirty="0"/>
              <a:t> (</a:t>
            </a:r>
            <a:r>
              <a:rPr lang="ko-KR" altLang="en-US" dirty="0"/>
              <a:t>새로운 </a:t>
            </a:r>
            <a:r>
              <a:rPr lang="en-US" altLang="ko-KR" dirty="0" err="1"/>
              <a:t>item,user</a:t>
            </a:r>
            <a:r>
              <a:rPr lang="en-US" altLang="ko-KR" dirty="0"/>
              <a:t>) , </a:t>
            </a:r>
            <a:r>
              <a:rPr lang="ko-KR" altLang="en-US" dirty="0"/>
              <a:t>확장성 </a:t>
            </a:r>
            <a:r>
              <a:rPr lang="en-US" altLang="ko-KR" dirty="0"/>
              <a:t>(</a:t>
            </a:r>
            <a:r>
              <a:rPr lang="ko-KR" altLang="en-US" dirty="0" err="1"/>
              <a:t>연산량</a:t>
            </a:r>
            <a:r>
              <a:rPr lang="ko-KR" altLang="en-US" dirty="0"/>
              <a:t> 급증</a:t>
            </a:r>
            <a:r>
              <a:rPr lang="en-US" altLang="ko-KR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8693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619E3D3F-4EBB-5EF5-47CE-2437066F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8951CD62-BE29-BC20-E3CC-3EA2A1B2C9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2EB2A632-9C79-444B-B507-1E548EAFE6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1210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4D8210C0-6A54-2D2F-39BB-8868E4B4B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E9901C1E-7E60-4E02-6001-4DF74F1D6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E855827D-F145-EC6B-B3E2-84EEC5C22C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1617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1CB31F4-A176-5839-40D8-88619B2BD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EF051C38-2BC3-8003-6E09-90B3098D55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2CE01C4A-F6C5-B094-D1B7-E78205A7C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8268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D1AEA1F7-5BE9-F833-50DA-7E57EF932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E7F33A87-43AE-3BF9-7319-1E8761B4C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BFC8ADFF-CF83-35C3-F5D3-1F1BE39F78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0901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29DBA97-45C4-96A4-E3E0-E3363DA05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D58D18E8-1B69-1478-ED68-19FD72FA3A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9C030398-8F8F-C72D-6655-023496505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L2 </a:t>
            </a:r>
            <a:r>
              <a:rPr lang="ko-KR" altLang="en-US" dirty="0"/>
              <a:t>항 </a:t>
            </a:r>
            <a:r>
              <a:rPr lang="en-US" altLang="ko-KR" dirty="0"/>
              <a:t>: </a:t>
            </a:r>
            <a:r>
              <a:rPr lang="ko-KR" altLang="en-US" dirty="0"/>
              <a:t>모든 지점에서 미분가능 </a:t>
            </a:r>
            <a:r>
              <a:rPr lang="en-US" altLang="ko-KR" dirty="0"/>
              <a:t>/ </a:t>
            </a:r>
            <a:r>
              <a:rPr lang="ko-KR" altLang="en-US" dirty="0"/>
              <a:t>수치적 안정성 </a:t>
            </a:r>
            <a:r>
              <a:rPr lang="en-US" altLang="ko-KR" dirty="0"/>
              <a:t>/ Selection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Sparsity </a:t>
            </a:r>
            <a:r>
              <a:rPr lang="ko-KR" altLang="en-US" dirty="0"/>
              <a:t>문제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2284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625F6B8-8FB2-6428-3BF1-BFB713B2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5B7C457B-A870-320E-AD4F-7C4F55DB7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02BA31CC-5300-ECDD-9D1B-267ABE5D7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997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D3F0C8D0-475A-9408-43DB-3A595F51D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003FF5F1-DE87-4DCF-C3B7-22541F843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225CBAD5-328D-ADDA-6F8E-D4D60A236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4716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7E7BFF6-0A2C-D522-C4F4-DE4D7650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825722F1-0A21-DB3C-0D5B-0E46F89AA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891BB891-E45A-BFBD-8C0A-11E7ED41FA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73487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FCDB2CC-B980-67B7-5BC2-BFFA1C53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743A463E-45FE-4E75-7D73-FA7EFB8EE7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228D57A3-2D7B-97BD-58DC-674ACCF14C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0818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2AC417F-6F4B-D248-51F2-E0574667E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939281F4-040C-B586-264C-92ED208AB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F9E888B1-A3CF-F162-9CEA-7ED51161B4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1270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8BDD4-3BDD-8ECA-706B-8A4CE67DD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6497F1-2B8C-A874-209D-2BE7F9E14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8473A8-B684-051A-46C9-D83CC6A47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8EE674-8597-C4AD-D7BD-498C9F6C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A11A93-9E49-E2F7-79A2-10A04A19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07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E022C-69EB-5A1A-3695-CC79DB862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15D419-7686-BDB8-39D9-F638D102C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439AE4-FC10-6282-4AF5-1DDC6B10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BA2E3E-CCDF-4D53-6D16-86BD5850B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60BAD3-D34D-A6FC-74A8-17038D8B0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62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77A80-79B1-F4EA-EC14-14BA13D85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3E52BD-D337-06E4-C86D-0A868B2B8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A593C-551C-F5BF-A944-73145B6D7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F5AF6E-552D-3FA4-AA89-5CFBFF0E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667BC5-A835-B105-4E5A-4AB088F10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44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6D9C9-34FB-832C-01A5-16C92FB5A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230B1C-C8D8-6796-B7B7-923DBD4F7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D36D85-13E1-618E-4345-0A35BA52A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B4691A-4EF9-C5F6-8FF8-CB09D066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E18DB8-F06C-A92C-3615-0AA16E3DC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3EF4D3-9D96-D36A-EA65-DED093718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25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9B021-1FA1-8299-3959-5FC96F586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7BC0D0-933B-8B6C-AA44-5BF05BE6B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F29EE8-3F58-4212-A911-6B7463811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E68EC7-DA75-6E9B-19A1-3A9533CD2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BFA7B1-70B8-69F6-52B9-EC2E40CA7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0B58C7-DA16-FE74-CB1C-244A67315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DB9CB5-7A8E-4CBA-E4AC-EEFDA113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C8D66FF-6BD5-DD49-C820-425E52E9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66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CFD4B-16FB-EE64-4A84-A296B900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65067B-5B21-033A-AF57-BE09F341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200FF6-BE90-29B4-88FF-AC2317561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E0C52F-6EAF-36C0-5F9E-10C0A11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073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52C17F-B630-42EE-4323-86FA8486F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B054636-088A-8D55-37E9-2035E965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673A2D-A2EF-DD61-D28B-FFAA630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745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2EC44-2D24-6B11-C088-72927D5CA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5CD7E7-6B9C-9EA2-AA27-BDDFAC839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45F37B-AA0B-4123-35AE-B85A08715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173E8D-5334-C70B-B785-58D7EF2A2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22B2A7-586D-97ED-8E0A-20641E14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26D8AD-68C2-F5C4-C37B-22EE33C4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989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7B3A1-4C2F-B7E5-3402-91A3CB711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51A9C0-6CDF-3C16-E13A-A0E564D72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B16AD0-4337-1E78-140E-1307136E11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59AD6E-FE72-235D-35CB-26EFB1F7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27F859-8EF1-EA82-1D28-819A7EA6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795900-84D1-32A0-64BC-B70A1E27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34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9AB22-B9F6-9682-DD3B-0F6A490D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4E7C3C-9E86-13F7-297E-AA6BA5453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553FD6-B7FF-78BC-9E62-36B99F982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D1E223-87AF-2D47-5638-724D850F2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91523-905F-4DA9-B25A-7EE0D237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32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175F4C-27A8-292C-157B-E11CDEC72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1B4FB9-ABEA-5413-BBA4-51CB136D5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706D5F-291A-C19D-7EB5-7DA182C4B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5B2C1-1913-425C-B454-E8D6084D12C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880E12-93FE-6731-AC20-3C643B3D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41FFE-7195-15CC-7353-A240D21A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70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0FDCCD-B904-F6E2-A62F-1F4CF2397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E910D6-6449-7B10-D499-B2F0E0EB8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F2B3DA-2D85-9AB5-A267-4C3A535FA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5B2C1-1913-425C-B454-E8D6084D12CB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CDE842-898D-B195-BE8F-2D0B69241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0CA15-502D-E88D-C15B-6D79ED82B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7BA77-AC1C-44C3-B685-AB43D213F1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799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US" altLang="ko" sz="2400"/>
              <a:t>T</a:t>
            </a:r>
            <a:endParaRPr sz="2400"/>
          </a:p>
        </p:txBody>
      </p:sp>
      <p:sp>
        <p:nvSpPr>
          <p:cNvPr id="55" name="Google Shape;55;p13"/>
          <p:cNvSpPr txBox="1"/>
          <p:nvPr/>
        </p:nvSpPr>
        <p:spPr>
          <a:xfrm>
            <a:off x="1786333" y="3613400"/>
            <a:ext cx="6639200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" sz="3333" b="1" dirty="0">
                <a:solidFill>
                  <a:srgbClr val="19264B"/>
                </a:solidFill>
              </a:rPr>
              <a:t>CUAI </a:t>
            </a:r>
            <a:r>
              <a:rPr lang="ko-KR" altLang="en-US" sz="3333" b="1" dirty="0">
                <a:solidFill>
                  <a:srgbClr val="19264B"/>
                </a:solidFill>
              </a:rPr>
              <a:t>추천시스템 </a:t>
            </a:r>
            <a:r>
              <a:rPr lang="ko" altLang="en-US" sz="3333" b="1" dirty="0">
                <a:solidFill>
                  <a:srgbClr val="19264B"/>
                </a:solidFill>
              </a:rPr>
              <a:t>스터디</a:t>
            </a:r>
            <a:endParaRPr sz="3333" b="1" dirty="0">
              <a:solidFill>
                <a:srgbClr val="19264B"/>
              </a:solidFill>
            </a:endParaRPr>
          </a:p>
          <a:p>
            <a:pPr>
              <a:lnSpc>
                <a:spcPct val="115000"/>
              </a:lnSpc>
            </a:pPr>
            <a:r>
              <a:rPr lang="en-US" altLang="ko" sz="2400" dirty="0">
                <a:solidFill>
                  <a:srgbClr val="19264B"/>
                </a:solidFill>
              </a:rPr>
              <a:t>2025.11.03</a:t>
            </a:r>
            <a:endParaRPr sz="2400" dirty="0">
              <a:solidFill>
                <a:srgbClr val="19264B"/>
              </a:solidFill>
            </a:endParaRPr>
          </a:p>
          <a:p>
            <a:pPr>
              <a:lnSpc>
                <a:spcPct val="115000"/>
              </a:lnSpc>
            </a:pPr>
            <a:endParaRPr sz="2400" dirty="0">
              <a:solidFill>
                <a:srgbClr val="19264B"/>
              </a:solidFill>
            </a:endParaRPr>
          </a:p>
          <a:p>
            <a:pPr>
              <a:lnSpc>
                <a:spcPct val="115000"/>
              </a:lnSpc>
            </a:pPr>
            <a:endParaRPr sz="2400" dirty="0">
              <a:solidFill>
                <a:srgbClr val="19264B"/>
              </a:solidFill>
            </a:endParaRPr>
          </a:p>
          <a:p>
            <a:pPr>
              <a:lnSpc>
                <a:spcPct val="115000"/>
              </a:lnSpc>
            </a:pPr>
            <a:r>
              <a:rPr lang="ko" altLang="en-US" sz="1467" dirty="0">
                <a:solidFill>
                  <a:srgbClr val="19264B"/>
                </a:solidFill>
              </a:rPr>
              <a:t>발표자 </a:t>
            </a:r>
            <a:r>
              <a:rPr lang="en-US" altLang="ko" sz="1467" dirty="0">
                <a:solidFill>
                  <a:srgbClr val="19264B"/>
                </a:solidFill>
              </a:rPr>
              <a:t>: </a:t>
            </a:r>
            <a:r>
              <a:rPr lang="ko-KR" altLang="en-US" sz="1467" dirty="0">
                <a:solidFill>
                  <a:srgbClr val="19264B"/>
                </a:solidFill>
              </a:rPr>
              <a:t>한승원</a:t>
            </a:r>
            <a:endParaRPr sz="1467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63" name="Google Shape;63;p14"/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2132333" y="1682800"/>
            <a:ext cx="5716800" cy="45528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1600" dirty="0"/>
              <a:t>-</a:t>
            </a:r>
            <a:endParaRPr sz="1600" dirty="0"/>
          </a:p>
        </p:txBody>
      </p:sp>
      <p:sp>
        <p:nvSpPr>
          <p:cNvPr id="66" name="Google Shape;66;p14"/>
          <p:cNvSpPr txBox="1"/>
          <p:nvPr/>
        </p:nvSpPr>
        <p:spPr>
          <a:xfrm>
            <a:off x="1878633" y="409167"/>
            <a:ext cx="6639200" cy="718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" altLang="en-US" sz="2667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667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8183467" y="2426834"/>
            <a:ext cx="30428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ko" altLang="en-US" sz="2400" dirty="0"/>
              <a:t>스터디원 </a:t>
            </a:r>
            <a:r>
              <a:rPr lang="en-US" altLang="ko" sz="2400" dirty="0"/>
              <a:t>1 : </a:t>
            </a:r>
            <a:r>
              <a:rPr lang="ko" altLang="en-US" sz="2400" dirty="0"/>
              <a:t>한승원</a:t>
            </a:r>
            <a:r>
              <a:rPr lang="ko-KR" altLang="en-US" sz="2400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에너지시스템공학부 발전기계 전공</a:t>
            </a:r>
            <a:r>
              <a:rPr lang="en-US" altLang="ko-KR" dirty="0"/>
              <a:t>)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28581CC0-B2A0-BF4D-AEEA-DC1E787B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9A2DF0C-74FD-E82F-3A23-B760C823EE70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A6A51D41-028B-F660-523B-3BC34CC8C6A9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01BD9A5D-B14B-0F36-E8E9-6186351EEF5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EB3B035A-3E6B-C59D-5FD7-590926A0C873}"/>
              </a:ext>
            </a:extLst>
          </p:cNvPr>
          <p:cNvSpPr txBox="1"/>
          <p:nvPr/>
        </p:nvSpPr>
        <p:spPr>
          <a:xfrm>
            <a:off x="1878633" y="409167"/>
            <a:ext cx="6639200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추천 시스템이란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?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1A1D4-7BBC-CCDE-5A94-26F434DCD0CF}"/>
              </a:ext>
            </a:extLst>
          </p:cNvPr>
          <p:cNvSpPr txBox="1"/>
          <p:nvPr/>
        </p:nvSpPr>
        <p:spPr>
          <a:xfrm>
            <a:off x="1878633" y="1318910"/>
            <a:ext cx="8829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: </a:t>
            </a:r>
            <a:r>
              <a:rPr lang="ko-KR" altLang="en-US" sz="2400" b="1" dirty="0">
                <a:highlight>
                  <a:srgbClr val="FFFF00"/>
                </a:highlight>
              </a:rPr>
              <a:t>사용자</a:t>
            </a:r>
            <a:r>
              <a:rPr lang="ko-KR" altLang="en-US" sz="2400" dirty="0"/>
              <a:t>의 정보 데이터를 분석하여 개인의 취향에 맞는 </a:t>
            </a:r>
            <a:r>
              <a:rPr lang="ko-KR" altLang="en-US" sz="2400" b="1" dirty="0">
                <a:highlight>
                  <a:srgbClr val="FFFF00"/>
                </a:highlight>
              </a:rPr>
              <a:t>아이템</a:t>
            </a:r>
            <a:r>
              <a:rPr lang="ko-KR" altLang="en-US" sz="2400" dirty="0"/>
              <a:t>을 선정</a:t>
            </a:r>
            <a:r>
              <a:rPr lang="en-US" altLang="ko-KR" sz="2400" dirty="0"/>
              <a:t>, </a:t>
            </a:r>
            <a:r>
              <a:rPr lang="ko-KR" altLang="en-US" sz="2400" dirty="0"/>
              <a:t>추천하는 알고리즘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EA5894-1FAF-3C4C-8178-EBE82D78F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691" y="2533663"/>
            <a:ext cx="2997239" cy="300542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850001-72F6-6FD4-AFD0-D7659ADB712B}"/>
              </a:ext>
            </a:extLst>
          </p:cNvPr>
          <p:cNvSpPr txBox="1"/>
          <p:nvPr/>
        </p:nvSpPr>
        <p:spPr>
          <a:xfrm>
            <a:off x="5113173" y="5707224"/>
            <a:ext cx="3404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Unknown Rating Prediction,</a:t>
            </a:r>
          </a:p>
          <a:p>
            <a:pPr algn="ctr"/>
            <a:r>
              <a:rPr lang="en-US" altLang="ko-KR" b="1" dirty="0"/>
              <a:t>Ranking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70EC23-9B9D-2AA1-727E-E86A31D2C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316" y="2533663"/>
            <a:ext cx="3104945" cy="300542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1710A16-18F0-89A2-A13D-7B630AE6D8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9509" y="2533663"/>
            <a:ext cx="3122899" cy="210844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E573EA3E-1218-A3CE-0D32-2211ACA85518}"/>
                  </a:ext>
                </a:extLst>
              </p14:cNvPr>
              <p14:cNvContentPartPr/>
              <p14:nvPr/>
            </p14:nvContentPartPr>
            <p14:xfrm>
              <a:off x="8989559" y="2792382"/>
              <a:ext cx="1966277" cy="36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E573EA3E-1218-A3CE-0D32-2211ACA8551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35560" y="2684382"/>
                <a:ext cx="2073915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6">
            <a:extLst>
              <a:ext uri="{FF2B5EF4-FFF2-40B4-BE49-F238E27FC236}">
                <a16:creationId xmlns:a16="http://schemas.microsoft.com/office/drawing/2014/main" id="{0E2580F7-94CF-9490-A18A-9637BDB31AD4}"/>
              </a:ext>
            </a:extLst>
          </p:cNvPr>
          <p:cNvSpPr txBox="1"/>
          <p:nvPr/>
        </p:nvSpPr>
        <p:spPr>
          <a:xfrm>
            <a:off x="8625368" y="4746939"/>
            <a:ext cx="3760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/>
              <a:t>[Various methods of Recommendation]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48500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BA7FA3CA-313C-E370-9B3C-7F0ED596D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D2EE08C7-F4CE-38FE-D0AA-E5910DF99176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5D94A7EC-1B66-3774-DADE-B5EEB8AD0C1D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D8F5ABAE-CA26-5143-59EB-295E7A4D346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FBB60F83-ACB6-8799-71FF-F56D7DC377E5}"/>
              </a:ext>
            </a:extLst>
          </p:cNvPr>
          <p:cNvSpPr txBox="1"/>
          <p:nvPr/>
        </p:nvSpPr>
        <p:spPr>
          <a:xfrm>
            <a:off x="1878633" y="409167"/>
            <a:ext cx="6639200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협업 필터링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(CF)</a:t>
            </a: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이란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?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5B88F6-2D0D-318A-14CA-8755EDF15486}"/>
              </a:ext>
            </a:extLst>
          </p:cNvPr>
          <p:cNvSpPr txBox="1"/>
          <p:nvPr/>
        </p:nvSpPr>
        <p:spPr>
          <a:xfrm>
            <a:off x="1880492" y="1255698"/>
            <a:ext cx="9870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:</a:t>
            </a:r>
            <a:r>
              <a:rPr lang="ko-KR" altLang="en-US" sz="2000" b="1" dirty="0"/>
              <a:t>비슷한 </a:t>
            </a:r>
            <a:r>
              <a:rPr lang="ko-KR" altLang="en-US" sz="2000" b="1" dirty="0">
                <a:highlight>
                  <a:srgbClr val="FFFF00"/>
                </a:highlight>
              </a:rPr>
              <a:t>선호도</a:t>
            </a:r>
            <a:r>
              <a:rPr lang="en-US" altLang="ko-KR" sz="2000" b="1" dirty="0">
                <a:highlight>
                  <a:srgbClr val="FFFF00"/>
                </a:highlight>
              </a:rPr>
              <a:t>, </a:t>
            </a:r>
            <a:r>
              <a:rPr lang="ko-KR" altLang="en-US" sz="2000" b="1" dirty="0">
                <a:highlight>
                  <a:srgbClr val="FFFF00"/>
                </a:highlight>
              </a:rPr>
              <a:t>행동</a:t>
            </a:r>
            <a:r>
              <a:rPr lang="ko-KR" altLang="en-US" sz="2000" b="1" dirty="0"/>
              <a:t>을 가지는 여럿 사용자</a:t>
            </a:r>
            <a:r>
              <a:rPr lang="en-US" altLang="ko-KR" sz="2000" b="1" dirty="0"/>
              <a:t>(User) </a:t>
            </a:r>
            <a:r>
              <a:rPr lang="ko-KR" altLang="en-US" sz="2000" b="1" dirty="0"/>
              <a:t>데이터를 바탕으로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특정 사용자가 선호할만한 아이템</a:t>
            </a:r>
            <a:r>
              <a:rPr lang="en-US" altLang="ko-KR" sz="2000" b="1" dirty="0"/>
              <a:t>(Item)</a:t>
            </a:r>
            <a:r>
              <a:rPr lang="ko-KR" altLang="en-US" sz="2000" b="1" dirty="0"/>
              <a:t>을 추천하는 알고리즘</a:t>
            </a:r>
            <a:r>
              <a:rPr lang="en-US" altLang="ko-KR" sz="2000" b="1" dirty="0"/>
              <a:t>.</a:t>
            </a:r>
            <a:endParaRPr lang="ko-KR" altLang="en-US" sz="2000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6A821D8C-721D-6C98-B0A3-C7F71D793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419" y="2453384"/>
            <a:ext cx="7355974" cy="314891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108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048938D-59EF-DB91-239B-07FB1F37A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0EBF5DB7-A3D4-4615-E3C8-BAE5BCD47625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E644CA4D-EB28-7B23-2974-9B5C3C1F929F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3B1E7826-998B-1511-5BE4-B496773A09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DB8C1AEB-4016-CD85-5767-B8A61CB408FA}"/>
              </a:ext>
            </a:extLst>
          </p:cNvPr>
          <p:cNvSpPr txBox="1"/>
          <p:nvPr/>
        </p:nvSpPr>
        <p:spPr>
          <a:xfrm>
            <a:off x="1878633" y="409167"/>
            <a:ext cx="6639200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Memory Based Filtering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CECEF-B8A2-F637-2363-D1620233B45E}"/>
              </a:ext>
            </a:extLst>
          </p:cNvPr>
          <p:cNvSpPr txBox="1"/>
          <p:nvPr/>
        </p:nvSpPr>
        <p:spPr>
          <a:xfrm>
            <a:off x="1880492" y="1255698"/>
            <a:ext cx="9655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:User</a:t>
            </a:r>
            <a:r>
              <a:rPr lang="ko-KR" altLang="en-US" sz="2000" b="1" dirty="0"/>
              <a:t>의 선호도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평점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을 기반으로 유사도 </a:t>
            </a:r>
            <a:r>
              <a:rPr lang="en-US" altLang="ko-KR" sz="2000" b="1" dirty="0"/>
              <a:t>(</a:t>
            </a:r>
            <a:r>
              <a:rPr lang="en-US" altLang="ko-KR" sz="2000" b="1" dirty="0" err="1"/>
              <a:t>item,user</a:t>
            </a:r>
            <a:r>
              <a:rPr lang="ko-KR" altLang="en-US" sz="2000" b="1" dirty="0"/>
              <a:t>간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를 측정하여 상품</a:t>
            </a:r>
            <a:r>
              <a:rPr lang="en-US" altLang="ko-KR" sz="2000" b="1" dirty="0"/>
              <a:t>(item)</a:t>
            </a:r>
            <a:r>
              <a:rPr lang="ko-KR" altLang="en-US" sz="2000" b="1" dirty="0"/>
              <a:t>을 추천하는 알고리즘</a:t>
            </a:r>
            <a:endParaRPr lang="ko-KR" altLang="en-US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E1CA53-1987-71C7-8FF0-2B6714FB7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350" y="2414491"/>
            <a:ext cx="4450868" cy="240907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0DFD596-261B-3A53-DD92-E4E15D0A54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6389" y="2414492"/>
            <a:ext cx="4474897" cy="240907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69F76F-DEBD-CE67-CA76-B5D2C89BFBAC}"/>
              </a:ext>
            </a:extLst>
          </p:cNvPr>
          <p:cNvSpPr txBox="1"/>
          <p:nvPr/>
        </p:nvSpPr>
        <p:spPr>
          <a:xfrm>
            <a:off x="3173521" y="5074416"/>
            <a:ext cx="2118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[User-Based CF]</a:t>
            </a:r>
            <a:endParaRPr lang="ko-KR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87D4E-EA33-2AF0-062B-B78CBC6964C3}"/>
              </a:ext>
            </a:extLst>
          </p:cNvPr>
          <p:cNvSpPr txBox="1"/>
          <p:nvPr/>
        </p:nvSpPr>
        <p:spPr>
          <a:xfrm>
            <a:off x="8434706" y="5074416"/>
            <a:ext cx="2139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[Item-Based CF]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90267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BB15432-4D43-3007-8DEC-4E674A01F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F0CD91F-42FC-B208-2690-1B5442C875FC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D4160959-31C8-56DC-5FF0-2C5F9E1D7AF5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F6B09596-D15A-B1B9-9538-CC8D1E7CD6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575B4CAA-E3E4-9316-039E-33BD0FA9653C}"/>
              </a:ext>
            </a:extLst>
          </p:cNvPr>
          <p:cNvSpPr txBox="1"/>
          <p:nvPr/>
        </p:nvSpPr>
        <p:spPr>
          <a:xfrm>
            <a:off x="1878633" y="409167"/>
            <a:ext cx="6639200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Memory Based Filtering</a:t>
            </a: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의 단점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2050" name="Picture 2" descr="NLP - 7. 희소 행렬 (Sparse Matrix) - COO 형식, CSR 형식">
            <a:extLst>
              <a:ext uri="{FF2B5EF4-FFF2-40B4-BE49-F238E27FC236}">
                <a16:creationId xmlns:a16="http://schemas.microsoft.com/office/drawing/2014/main" id="{24C396F3-4D73-47C1-6925-8A46DBB09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618" y="1838199"/>
            <a:ext cx="4025381" cy="203816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E370A1-C7D6-C0CA-653D-6146E825EF32}"/>
              </a:ext>
            </a:extLst>
          </p:cNvPr>
          <p:cNvSpPr txBox="1"/>
          <p:nvPr/>
        </p:nvSpPr>
        <p:spPr>
          <a:xfrm>
            <a:off x="3033601" y="4194366"/>
            <a:ext cx="2164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[Sparsity] (</a:t>
            </a:r>
            <a:r>
              <a:rPr lang="ko-KR" altLang="en-US" b="1" dirty="0"/>
              <a:t>희소성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pic>
        <p:nvPicPr>
          <p:cNvPr id="2052" name="Picture 4" descr="Computational cost Vector Icons free download in SVG, PNG Format">
            <a:extLst>
              <a:ext uri="{FF2B5EF4-FFF2-40B4-BE49-F238E27FC236}">
                <a16:creationId xmlns:a16="http://schemas.microsoft.com/office/drawing/2014/main" id="{37A08185-C60C-383F-BE3C-96FFBFB85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2070" y="1846315"/>
            <a:ext cx="2631526" cy="2038169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4563C1-3467-086C-CF0C-428C0169EE19}"/>
              </a:ext>
            </a:extLst>
          </p:cNvPr>
          <p:cNvSpPr txBox="1"/>
          <p:nvPr/>
        </p:nvSpPr>
        <p:spPr>
          <a:xfrm>
            <a:off x="6918036" y="421383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 err="1"/>
              <a:t>연산량</a:t>
            </a:r>
            <a:r>
              <a:rPr lang="en-US" altLang="ko-KR" b="1" dirty="0"/>
              <a:t>] (computational cost)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21699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9AF2CE96-825B-368D-B1D5-42260E89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A7DF1978-74F5-247F-96DF-AFE5E4FFE1E9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B7D1E6B5-3917-E7FC-CE1F-C9CAC28EAF41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D01098B2-58A7-EDED-D6CC-718D73B1BD9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39990F0E-B8D6-3994-B068-70DDCE0B0B53}"/>
              </a:ext>
            </a:extLst>
          </p:cNvPr>
          <p:cNvSpPr txBox="1"/>
          <p:nvPr/>
        </p:nvSpPr>
        <p:spPr>
          <a:xfrm>
            <a:off x="1878633" y="409167"/>
            <a:ext cx="6639200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Model Based Filtering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93837C-CA72-F140-10F6-C13643EBE5D9}"/>
              </a:ext>
            </a:extLst>
          </p:cNvPr>
          <p:cNvSpPr txBox="1"/>
          <p:nvPr/>
        </p:nvSpPr>
        <p:spPr>
          <a:xfrm>
            <a:off x="2008500" y="1094240"/>
            <a:ext cx="78699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:</a:t>
            </a:r>
            <a:r>
              <a:rPr lang="ko-KR" altLang="en-US" sz="2000" b="1" dirty="0"/>
              <a:t>사용자</a:t>
            </a:r>
            <a:r>
              <a:rPr lang="en-US" altLang="ko-KR" sz="2000" b="1" dirty="0"/>
              <a:t>, Item</a:t>
            </a:r>
            <a:r>
              <a:rPr lang="ko-KR" altLang="en-US" sz="2000" b="1" dirty="0"/>
              <a:t>의 행동 데이터를 기반으로 </a:t>
            </a:r>
            <a:r>
              <a:rPr lang="en-US" altLang="ko-KR" sz="2000" b="1" dirty="0">
                <a:highlight>
                  <a:srgbClr val="FFFF00"/>
                </a:highlight>
              </a:rPr>
              <a:t>ML </a:t>
            </a:r>
            <a:r>
              <a:rPr lang="ko-KR" altLang="en-US" sz="2000" b="1" dirty="0">
                <a:highlight>
                  <a:srgbClr val="FFFF00"/>
                </a:highlight>
              </a:rPr>
              <a:t>알고리즘</a:t>
            </a:r>
            <a:r>
              <a:rPr lang="ko-KR" altLang="en-US" sz="2000" b="1" dirty="0"/>
              <a:t>을 활용하여 </a:t>
            </a:r>
            <a:endParaRPr lang="en-US" altLang="ko-KR" sz="2000" b="1" dirty="0"/>
          </a:p>
          <a:p>
            <a:r>
              <a:rPr lang="ko-KR" altLang="en-US" sz="2000" b="1" dirty="0"/>
              <a:t>추천을 위한 예측 모델을 학습하는 알고리즘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3297C-8BC3-4376-0FA8-F0843A135935}"/>
              </a:ext>
            </a:extLst>
          </p:cNvPr>
          <p:cNvSpPr txBox="1"/>
          <p:nvPr/>
        </p:nvSpPr>
        <p:spPr>
          <a:xfrm>
            <a:off x="2225964" y="2382979"/>
            <a:ext cx="53663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b="1" dirty="0">
                <a:highlight>
                  <a:srgbClr val="FFFF00"/>
                </a:highlight>
              </a:rPr>
              <a:t>Latent Factor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b="1" dirty="0"/>
              <a:t>Clustering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b="1" dirty="0"/>
              <a:t>Bayesian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b="1" dirty="0"/>
              <a:t>Deep learning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b="1" dirty="0"/>
              <a:t>Markov Decision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b="1" dirty="0" err="1"/>
              <a:t>Etc</a:t>
            </a:r>
            <a:r>
              <a:rPr lang="en-US" altLang="ko-KR" sz="2400" b="1" dirty="0"/>
              <a:t>…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33844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5DB7444-522D-D580-7133-1446A015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E587D85-5D81-5B05-A559-25FF77D4A7BC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6830F85B-E8C0-ECEE-4703-A82FF6C6E2E8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8DF89FBF-222A-B4F8-B90F-70CAEB68AD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0AD448B0-B81C-E070-3384-49C33588F4F1}"/>
              </a:ext>
            </a:extLst>
          </p:cNvPr>
          <p:cNvSpPr txBox="1"/>
          <p:nvPr/>
        </p:nvSpPr>
        <p:spPr>
          <a:xfrm>
            <a:off x="1878633" y="409167"/>
            <a:ext cx="6639200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Matrix Factorization (</a:t>
            </a: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행렬 분해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)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CA063-A89E-1151-B0AC-C4963FCA9476}"/>
              </a:ext>
            </a:extLst>
          </p:cNvPr>
          <p:cNvSpPr txBox="1"/>
          <p:nvPr/>
        </p:nvSpPr>
        <p:spPr>
          <a:xfrm>
            <a:off x="2008500" y="1094240"/>
            <a:ext cx="8056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:R(User-Item matrix)</a:t>
            </a:r>
            <a:r>
              <a:rPr lang="ko-KR" altLang="en-US" sz="2000" b="1" dirty="0"/>
              <a:t>를 분해해 </a:t>
            </a:r>
            <a:r>
              <a:rPr lang="en-US" altLang="ko-KR" sz="2000" b="1" dirty="0"/>
              <a:t>latent factor(</a:t>
            </a:r>
            <a:r>
              <a:rPr lang="ko-KR" altLang="en-US" sz="2000" b="1" dirty="0"/>
              <a:t>잠재요인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을 학습하여 </a:t>
            </a:r>
            <a:br>
              <a:rPr lang="en-US" altLang="ko-KR" sz="2000" b="1" dirty="0"/>
            </a:br>
            <a:r>
              <a:rPr lang="ko-KR" altLang="en-US" sz="2000" b="1" dirty="0"/>
              <a:t>추천에 이용하는 알고리즘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34701E-090D-469A-048E-5B2880D938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162"/>
          <a:stretch>
            <a:fillRect/>
          </a:stretch>
        </p:blipFill>
        <p:spPr>
          <a:xfrm>
            <a:off x="2137847" y="2578172"/>
            <a:ext cx="4368800" cy="23047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AutoShape 4" descr="Untitled">
            <a:extLst>
              <a:ext uri="{FF2B5EF4-FFF2-40B4-BE49-F238E27FC236}">
                <a16:creationId xmlns:a16="http://schemas.microsoft.com/office/drawing/2014/main" id="{1D15D60F-8E5D-1D06-D2FD-AC62E9B9FF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5D1D2B-458F-D87B-D4F4-2E4DAD607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708" y="2447905"/>
            <a:ext cx="3920127" cy="243502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111E0B-BF8E-6052-9974-76371BE67D24}"/>
              </a:ext>
            </a:extLst>
          </p:cNvPr>
          <p:cNvSpPr txBox="1"/>
          <p:nvPr/>
        </p:nvSpPr>
        <p:spPr>
          <a:xfrm>
            <a:off x="2930680" y="5080000"/>
            <a:ext cx="2783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[SVD</a:t>
            </a:r>
            <a:r>
              <a:rPr lang="ko-KR" altLang="en-US" b="1" dirty="0"/>
              <a:t>를 이용한 </a:t>
            </a:r>
            <a:r>
              <a:rPr lang="en-US" altLang="ko-KR" b="1" dirty="0"/>
              <a:t>MF </a:t>
            </a:r>
            <a:r>
              <a:rPr lang="ko-KR" altLang="en-US" b="1" dirty="0"/>
              <a:t>분해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97E8AE-A4EB-C8A8-55ED-43765DD04AC5}"/>
                  </a:ext>
                </a:extLst>
              </p:cNvPr>
              <p:cNvSpPr txBox="1"/>
              <p:nvPr/>
            </p:nvSpPr>
            <p:spPr>
              <a:xfrm>
                <a:off x="8513872" y="5076184"/>
                <a:ext cx="1494896" cy="7462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sSubSup>
                        <m:sSub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altLang="ko-KR" sz="20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97E8AE-A4EB-C8A8-55ED-43765DD04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872" y="5076184"/>
                <a:ext cx="1494896" cy="746295"/>
              </a:xfrm>
              <a:prstGeom prst="rect">
                <a:avLst/>
              </a:prstGeom>
              <a:blipFill>
                <a:blip r:embed="rId6"/>
                <a:stretch>
                  <a:fillRect t="-820" b="-57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136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7B45460-6AA5-F5B8-0B95-DAAEEF9EC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33FDB41-D1B1-75A0-E94E-CCFA34489FC0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E1435D2A-C77D-7C36-644B-C92698906709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3552076D-AE10-D8D9-F63A-F498EF5168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8AD9401A-E121-6EF7-C255-874D73D52C28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SVD</a:t>
            </a: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란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? (Singular Value Decomposition)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4FEE7E-7A4C-59B2-469E-4E6762BF9EF7}"/>
              </a:ext>
            </a:extLst>
          </p:cNvPr>
          <p:cNvSpPr txBox="1"/>
          <p:nvPr/>
        </p:nvSpPr>
        <p:spPr>
          <a:xfrm>
            <a:off x="2008500" y="1094240"/>
            <a:ext cx="8731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:</a:t>
            </a:r>
            <a:r>
              <a:rPr lang="ko-KR" altLang="en-US" sz="2000" b="1" dirty="0"/>
              <a:t>행렬을 분해하는 기법으로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직사각형 행렬</a:t>
            </a:r>
            <a:r>
              <a:rPr lang="en-US" altLang="ko-KR" sz="2000" b="1" dirty="0"/>
              <a:t>(A)</a:t>
            </a:r>
            <a:r>
              <a:rPr lang="ko-KR" altLang="en-US" sz="2000" b="1" dirty="0"/>
              <a:t>를 </a:t>
            </a:r>
            <a:r>
              <a:rPr lang="en-US" altLang="ko-KR" sz="2000" b="1" dirty="0"/>
              <a:t>3</a:t>
            </a:r>
            <a:r>
              <a:rPr lang="ko-KR" altLang="en-US" sz="2000" b="1" dirty="0"/>
              <a:t>개의 행렬로 나누는 방법</a:t>
            </a:r>
          </a:p>
        </p:txBody>
      </p:sp>
      <p:sp>
        <p:nvSpPr>
          <p:cNvPr id="7" name="AutoShape 4" descr="Untitled">
            <a:extLst>
              <a:ext uri="{FF2B5EF4-FFF2-40B4-BE49-F238E27FC236}">
                <a16:creationId xmlns:a16="http://schemas.microsoft.com/office/drawing/2014/main" id="{F46F0D82-739F-0253-FA2F-93D15405A9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BCC921-077B-B800-1AA7-54B0B343C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803" y="1835941"/>
            <a:ext cx="5660634" cy="1600423"/>
          </a:xfrm>
          <a:prstGeom prst="rect">
            <a:avLst/>
          </a:prstGeom>
        </p:spPr>
      </p:pic>
      <p:sp>
        <p:nvSpPr>
          <p:cNvPr id="5" name="AutoShape 2" descr="Untitled">
            <a:extLst>
              <a:ext uri="{FF2B5EF4-FFF2-40B4-BE49-F238E27FC236}">
                <a16:creationId xmlns:a16="http://schemas.microsoft.com/office/drawing/2014/main" id="{F666EAD3-0826-96AC-F13F-A7435C7884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01FFF48-A8F0-C9F5-F6DE-E1FC45F87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804" y="3979071"/>
            <a:ext cx="5660634" cy="20859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882FD2-9F60-6F79-100F-7DC30054D0EE}"/>
              </a:ext>
            </a:extLst>
          </p:cNvPr>
          <p:cNvSpPr txBox="1"/>
          <p:nvPr/>
        </p:nvSpPr>
        <p:spPr>
          <a:xfrm>
            <a:off x="7984837" y="3059668"/>
            <a:ext cx="2917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[SVD </a:t>
            </a:r>
            <a:r>
              <a:rPr lang="ko-KR" altLang="en-US" b="1" dirty="0"/>
              <a:t>분해 시 </a:t>
            </a:r>
            <a:r>
              <a:rPr lang="en-US" altLang="ko-KR" b="1" dirty="0"/>
              <a:t>Dimension]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C724A1-D2A5-CB5D-20EA-2447A61674B4}"/>
              </a:ext>
            </a:extLst>
          </p:cNvPr>
          <p:cNvSpPr txBox="1"/>
          <p:nvPr/>
        </p:nvSpPr>
        <p:spPr>
          <a:xfrm>
            <a:off x="8148183" y="5695714"/>
            <a:ext cx="2151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[Full-SVD </a:t>
            </a:r>
            <a:r>
              <a:rPr lang="ko-KR" altLang="en-US" b="1" dirty="0"/>
              <a:t>시 결과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68724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C74C70D7-C105-5E76-7CA1-6F1311CDD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873C2461-382F-985A-BB12-F3E30167740D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BF7B15BF-4D06-191F-C9A8-06E70517454B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A0CD325B-412C-F12D-616D-C1B7489935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620C9C7C-D300-CDE6-A39E-D2DD41AF36B5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SVD / Funk SVD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7" name="AutoShape 4" descr="Untitled">
            <a:extLst>
              <a:ext uri="{FF2B5EF4-FFF2-40B4-BE49-F238E27FC236}">
                <a16:creationId xmlns:a16="http://schemas.microsoft.com/office/drawing/2014/main" id="{F3AE496C-0793-1040-46BE-C1F7195E4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2" descr="Untitled">
            <a:extLst>
              <a:ext uri="{FF2B5EF4-FFF2-40B4-BE49-F238E27FC236}">
                <a16:creationId xmlns:a16="http://schemas.microsoft.com/office/drawing/2014/main" id="{772ED712-27B8-28F0-DC83-A2CB156DDA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DB69CBC-C9B3-918B-6B98-D9BDCFCEE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158" y="1190625"/>
            <a:ext cx="5660634" cy="20859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62097A-D668-E520-FD04-3BFD3E05B905}"/>
              </a:ext>
            </a:extLst>
          </p:cNvPr>
          <p:cNvSpPr txBox="1"/>
          <p:nvPr/>
        </p:nvSpPr>
        <p:spPr>
          <a:xfrm>
            <a:off x="7935747" y="2907268"/>
            <a:ext cx="2151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[Full-SVD </a:t>
            </a:r>
            <a:r>
              <a:rPr lang="ko-KR" altLang="en-US" b="1" dirty="0"/>
              <a:t>시 결과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06EB2F-5883-60E3-C53C-77B0AADE9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0358" y="3886200"/>
            <a:ext cx="5711434" cy="20097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994A5F-57BA-FCC8-83D2-F9BEA8F44C24}"/>
              </a:ext>
            </a:extLst>
          </p:cNvPr>
          <p:cNvSpPr txBox="1"/>
          <p:nvPr/>
        </p:nvSpPr>
        <p:spPr>
          <a:xfrm>
            <a:off x="7935747" y="5552043"/>
            <a:ext cx="2278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[Funk-SVD </a:t>
            </a:r>
            <a:r>
              <a:rPr lang="ko-KR" altLang="en-US" b="1" dirty="0"/>
              <a:t>시 결과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6FBD4C-D6A1-E634-1A21-63964AEFCDEB}"/>
              </a:ext>
            </a:extLst>
          </p:cNvPr>
          <p:cNvSpPr txBox="1"/>
          <p:nvPr/>
        </p:nvSpPr>
        <p:spPr>
          <a:xfrm>
            <a:off x="7935747" y="4236602"/>
            <a:ext cx="2945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/>
              <a:t>K </a:t>
            </a:r>
            <a:r>
              <a:rPr lang="ko-KR" altLang="en-US" b="1" dirty="0"/>
              <a:t>개의 </a:t>
            </a:r>
            <a:r>
              <a:rPr lang="en-US" altLang="ko-KR" b="1" dirty="0"/>
              <a:t>Latent Factor</a:t>
            </a:r>
            <a:r>
              <a:rPr lang="ko-KR" altLang="en-US" b="1" dirty="0"/>
              <a:t>를</a:t>
            </a:r>
            <a:br>
              <a:rPr lang="en-US" altLang="ko-KR" b="1" dirty="0"/>
            </a:br>
            <a:r>
              <a:rPr lang="ko-KR" altLang="en-US" b="1" dirty="0"/>
              <a:t>정하여 연산적으로 이점</a:t>
            </a:r>
          </a:p>
        </p:txBody>
      </p:sp>
    </p:spTree>
    <p:extLst>
      <p:ext uri="{BB962C8B-B14F-4D97-AF65-F5344CB8AC3E}">
        <p14:creationId xmlns:p14="http://schemas.microsoft.com/office/powerpoint/2010/main" val="3064979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9CCAF567-BA89-2B7B-4934-0A7BA862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FF20EAFA-3404-CC31-78B3-8A05CDE43110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E309DE2A-A661-5F13-F087-93EA73E4A670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D58572AC-B848-D9A1-5B7B-163EA17832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F274FAEC-56FC-8C56-4AB9-C470989555FF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Matrix Factorization Training process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7" name="AutoShape 4" descr="Untitled">
            <a:extLst>
              <a:ext uri="{FF2B5EF4-FFF2-40B4-BE49-F238E27FC236}">
                <a16:creationId xmlns:a16="http://schemas.microsoft.com/office/drawing/2014/main" id="{ECD26D1A-AA4E-AAE6-82B0-FCDD267A9E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2" descr="Untitled">
            <a:extLst>
              <a:ext uri="{FF2B5EF4-FFF2-40B4-BE49-F238E27FC236}">
                <a16:creationId xmlns:a16="http://schemas.microsoft.com/office/drawing/2014/main" id="{9F92BF7A-C845-5046-5B4F-40A50ED9E0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A732F1-E8DE-D187-00E9-E603A940EDA8}"/>
              </a:ext>
            </a:extLst>
          </p:cNvPr>
          <p:cNvSpPr txBox="1"/>
          <p:nvPr/>
        </p:nvSpPr>
        <p:spPr>
          <a:xfrm>
            <a:off x="2128218" y="1150868"/>
            <a:ext cx="6178743" cy="13234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0. Observed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Index Extraction (</a:t>
            </a:r>
            <a:r>
              <a:rPr lang="ko-KR" altLang="en-US" sz="2000" b="1" dirty="0"/>
              <a:t>관측된 </a:t>
            </a:r>
            <a:r>
              <a:rPr lang="en-US" altLang="ko-KR" sz="2000" b="1" dirty="0"/>
              <a:t>Rating)</a:t>
            </a:r>
          </a:p>
          <a:p>
            <a:pPr marL="342900" indent="-342900">
              <a:buAutoNum type="arabicPeriod"/>
            </a:pPr>
            <a:r>
              <a:rPr lang="ko-KR" altLang="en-US" sz="2000" b="1" dirty="0"/>
              <a:t>초기</a:t>
            </a:r>
            <a:r>
              <a:rPr lang="en-US" altLang="ko-KR" sz="2000" b="1" dirty="0"/>
              <a:t> P,Q matrix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  <a:p>
            <a:pPr marL="342900" indent="-342900">
              <a:buAutoNum type="arabicPeriod"/>
            </a:pPr>
            <a:r>
              <a:rPr lang="ko-KR" altLang="en-US" sz="2000" b="1" dirty="0"/>
              <a:t>목적함수 </a:t>
            </a:r>
            <a:r>
              <a:rPr lang="en-US" altLang="ko-KR" sz="2000" b="1" dirty="0"/>
              <a:t>(Objective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Function)</a:t>
            </a:r>
            <a:r>
              <a:rPr lang="ko-KR" altLang="en-US" sz="2000" b="1" dirty="0"/>
              <a:t> 최소화 과정 진행</a:t>
            </a:r>
            <a:endParaRPr lang="en-US" altLang="ko-KR" sz="2000" b="1" dirty="0"/>
          </a:p>
          <a:p>
            <a:pPr marL="342900" indent="-342900">
              <a:buAutoNum type="arabicPeriod"/>
            </a:pPr>
            <a:r>
              <a:rPr lang="ko-KR" altLang="en-US" sz="2000" b="1" dirty="0"/>
              <a:t>모든 값 </a:t>
            </a:r>
            <a:r>
              <a:rPr lang="en-US" altLang="ko-KR" sz="2000" b="1" dirty="0"/>
              <a:t>Update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46B1161-6305-ACFD-082F-F510C5A35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234" y="3043624"/>
            <a:ext cx="5176321" cy="13803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470F9D-B336-C48D-B118-62EC5AC108B8}"/>
              </a:ext>
            </a:extLst>
          </p:cNvPr>
          <p:cNvSpPr txBox="1"/>
          <p:nvPr/>
        </p:nvSpPr>
        <p:spPr>
          <a:xfrm>
            <a:off x="2128218" y="2672617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/>
              <a:t>[</a:t>
            </a:r>
            <a:r>
              <a:rPr lang="ko-KR" altLang="en-US" b="1" dirty="0"/>
              <a:t>목적함수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EB4236-C5B3-FB64-DABB-52A99DBA11E6}"/>
              </a:ext>
            </a:extLst>
          </p:cNvPr>
          <p:cNvSpPr txBox="1"/>
          <p:nvPr/>
        </p:nvSpPr>
        <p:spPr>
          <a:xfrm>
            <a:off x="7516294" y="3276600"/>
            <a:ext cx="316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altLang="ko-KR" b="1" dirty="0"/>
              <a:t>λ</a:t>
            </a:r>
            <a:r>
              <a:rPr lang="en-US" altLang="ko-KR" b="1" dirty="0"/>
              <a:t>: L2 Regularization </a:t>
            </a:r>
            <a:r>
              <a:rPr lang="ko-KR" altLang="en-US" b="1" dirty="0"/>
              <a:t>항</a:t>
            </a: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 err="1"/>
              <a:t>x_u</a:t>
            </a:r>
            <a:r>
              <a:rPr lang="en-US" altLang="ko-KR" b="1" dirty="0"/>
              <a:t>: P </a:t>
            </a:r>
            <a:r>
              <a:rPr lang="ko-KR" altLang="en-US" b="1" dirty="0"/>
              <a:t>행렬</a:t>
            </a:r>
            <a:r>
              <a:rPr lang="en-US" altLang="ko-KR" b="1" dirty="0"/>
              <a:t> / </a:t>
            </a:r>
            <a:r>
              <a:rPr lang="en-US" altLang="ko-KR" b="1" dirty="0" err="1"/>
              <a:t>y_i</a:t>
            </a:r>
            <a:r>
              <a:rPr lang="en-US" altLang="ko-KR" b="1" dirty="0"/>
              <a:t> : Q </a:t>
            </a:r>
            <a:r>
              <a:rPr lang="ko-KR" altLang="en-US" b="1" dirty="0"/>
              <a:t>행렬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851EA6-D41E-AEB1-F63F-37B96A49D179}"/>
              </a:ext>
            </a:extLst>
          </p:cNvPr>
          <p:cNvSpPr txBox="1"/>
          <p:nvPr/>
        </p:nvSpPr>
        <p:spPr>
          <a:xfrm>
            <a:off x="2128218" y="4809352"/>
            <a:ext cx="59032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/>
              <a:t>[</a:t>
            </a:r>
            <a:r>
              <a:rPr lang="ko-KR" altLang="en-US" b="1" dirty="0"/>
              <a:t>최적화 방법</a:t>
            </a:r>
            <a:r>
              <a:rPr lang="en-US" altLang="ko-KR" b="1" dirty="0"/>
              <a:t>]</a:t>
            </a:r>
          </a:p>
          <a:p>
            <a:pPr marL="342900" indent="-342900">
              <a:buAutoNum type="arabicPeriod"/>
            </a:pPr>
            <a:r>
              <a:rPr lang="en-US" altLang="ko-KR" b="1" dirty="0"/>
              <a:t>SGD (</a:t>
            </a:r>
            <a:r>
              <a:rPr lang="ko-KR" altLang="en-US" b="1" dirty="0"/>
              <a:t>확률적 경사 </a:t>
            </a:r>
            <a:r>
              <a:rPr lang="ko-KR" altLang="en-US" b="1" dirty="0" err="1"/>
              <a:t>하강법</a:t>
            </a:r>
            <a:r>
              <a:rPr lang="en-US" altLang="ko-KR" b="1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b="1" dirty="0"/>
              <a:t>ALS (Alternative Least Squares, </a:t>
            </a:r>
            <a:r>
              <a:rPr lang="ko-KR" altLang="en-US" b="1" dirty="0"/>
              <a:t>교대 최소 </a:t>
            </a:r>
            <a:r>
              <a:rPr lang="ko-KR" altLang="en-US" b="1" dirty="0" err="1"/>
              <a:t>제곱법</a:t>
            </a:r>
            <a:r>
              <a:rPr lang="en-US" altLang="ko-K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6438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0B10D0FC-A5D3-27A4-4731-CAFCAE26D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7042E682-993E-6239-46CE-8F070D56F088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B160E4E7-2225-044A-3FA9-DF065385E2B9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3E905E9B-05A7-90B5-78BD-BDA2C37CC8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5F27359C-13AD-697B-6171-6A9AF88EAF13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MF</a:t>
            </a: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Optimization method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7" name="AutoShape 4" descr="Untitled">
            <a:extLst>
              <a:ext uri="{FF2B5EF4-FFF2-40B4-BE49-F238E27FC236}">
                <a16:creationId xmlns:a16="http://schemas.microsoft.com/office/drawing/2014/main" id="{5A04ADAF-6CD4-E575-F55B-451C8BA1C7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2" descr="Untitled">
            <a:extLst>
              <a:ext uri="{FF2B5EF4-FFF2-40B4-BE49-F238E27FC236}">
                <a16:creationId xmlns:a16="http://schemas.microsoft.com/office/drawing/2014/main" id="{435BB8D2-6EAC-DFC5-4C85-56F44F0BD4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5E20C3-ED80-ABD6-9899-FB45BEC74315}"/>
              </a:ext>
            </a:extLst>
          </p:cNvPr>
          <p:cNvSpPr txBox="1"/>
          <p:nvPr/>
        </p:nvSpPr>
        <p:spPr>
          <a:xfrm>
            <a:off x="2035870" y="1142013"/>
            <a:ext cx="6138668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2. </a:t>
            </a:r>
            <a:r>
              <a:rPr lang="ko-KR" altLang="en-US" sz="2000" b="1" dirty="0"/>
              <a:t>목적함수 </a:t>
            </a:r>
            <a:r>
              <a:rPr lang="en-US" altLang="ko-KR" sz="2000" b="1" dirty="0"/>
              <a:t>(Objective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Function)</a:t>
            </a:r>
            <a:r>
              <a:rPr lang="ko-KR" altLang="en-US" sz="2000" b="1" dirty="0"/>
              <a:t> 최소화 과정 진행</a:t>
            </a:r>
            <a:endParaRPr lang="en-US" altLang="ko-KR" sz="2000" b="1" dirty="0"/>
          </a:p>
          <a:p>
            <a:r>
              <a:rPr lang="en-US" altLang="ko-KR" sz="2000" b="1" dirty="0"/>
              <a:t>3. </a:t>
            </a:r>
            <a:r>
              <a:rPr lang="ko-KR" altLang="en-US" sz="2000" b="1" dirty="0"/>
              <a:t>모든 값 </a:t>
            </a:r>
            <a:r>
              <a:rPr lang="en-US" altLang="ko-KR" sz="2000" b="1" dirty="0"/>
              <a:t>Update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6800A6-2ED1-4ABF-D9FC-09468927E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3297" y="3581400"/>
            <a:ext cx="8875006" cy="22688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0AF3FB-AC99-0AAB-FDE3-8AB59BD1A316}"/>
              </a:ext>
            </a:extLst>
          </p:cNvPr>
          <p:cNvSpPr txBox="1"/>
          <p:nvPr/>
        </p:nvSpPr>
        <p:spPr>
          <a:xfrm>
            <a:off x="1963297" y="2857283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2000" b="1" dirty="0"/>
              <a:t>SGD</a:t>
            </a:r>
            <a:endParaRPr lang="ko-KR" altLang="en-US" sz="2000" b="1" dirty="0"/>
          </a:p>
        </p:txBody>
      </p:sp>
      <p:pic>
        <p:nvPicPr>
          <p:cNvPr id="6146" name="Picture 2" descr="ML/DL] 경사 하강법 SGD 실습(with.python)">
            <a:extLst>
              <a:ext uri="{FF2B5EF4-FFF2-40B4-BE49-F238E27FC236}">
                <a16:creationId xmlns:a16="http://schemas.microsoft.com/office/drawing/2014/main" id="{E5DC1A95-F7A5-6038-8567-76FCBD643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717" y="2310869"/>
            <a:ext cx="3467100" cy="11430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C2121A-BA5E-49E9-C2E5-269B3337791B}"/>
              </a:ext>
            </a:extLst>
          </p:cNvPr>
          <p:cNvSpPr txBox="1"/>
          <p:nvPr/>
        </p:nvSpPr>
        <p:spPr>
          <a:xfrm>
            <a:off x="4473910" y="5989600"/>
            <a:ext cx="4280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</a:t>
            </a:r>
            <a:r>
              <a:rPr lang="ko-KR" altLang="en-US" b="1" dirty="0"/>
              <a:t>목적함수로 도출된 </a:t>
            </a:r>
            <a:r>
              <a:rPr lang="en-US" altLang="ko-KR" b="1" dirty="0"/>
              <a:t>SGD Update </a:t>
            </a:r>
            <a:r>
              <a:rPr lang="ko-KR" altLang="en-US" b="1" dirty="0"/>
              <a:t>방법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61730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008E35DE-83C8-90C5-8E05-EE0F515C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E3012C9C-2B19-229B-B10D-6EB8F0516A15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303282A3-35DF-6750-B75C-F733CB24301B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A655772A-8A46-E626-F4E8-17A6AC029A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192B6C8A-21B6-C63C-A822-BAAC1A7F504D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MF</a:t>
            </a: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Optimization method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7" name="AutoShape 4" descr="Untitled">
            <a:extLst>
              <a:ext uri="{FF2B5EF4-FFF2-40B4-BE49-F238E27FC236}">
                <a16:creationId xmlns:a16="http://schemas.microsoft.com/office/drawing/2014/main" id="{2CAFA982-7861-8144-8DC6-9E4B46BAA0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70526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2" descr="Untitled">
            <a:extLst>
              <a:ext uri="{FF2B5EF4-FFF2-40B4-BE49-F238E27FC236}">
                <a16:creationId xmlns:a16="http://schemas.microsoft.com/office/drawing/2014/main" id="{902473FE-37BB-DE5F-A27E-F432C7C089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85766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A6E88D-9263-1DD3-BA2A-6B4479D981E4}"/>
              </a:ext>
            </a:extLst>
          </p:cNvPr>
          <p:cNvSpPr txBox="1"/>
          <p:nvPr/>
        </p:nvSpPr>
        <p:spPr>
          <a:xfrm>
            <a:off x="2035870" y="1142013"/>
            <a:ext cx="6138668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2. </a:t>
            </a:r>
            <a:r>
              <a:rPr lang="ko-KR" altLang="en-US" sz="2000" b="1" dirty="0"/>
              <a:t>목적함수 </a:t>
            </a:r>
            <a:r>
              <a:rPr lang="en-US" altLang="ko-KR" sz="2000" b="1" dirty="0"/>
              <a:t>(Objective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Function)</a:t>
            </a:r>
            <a:r>
              <a:rPr lang="ko-KR" altLang="en-US" sz="2000" b="1" dirty="0"/>
              <a:t> 최소화 과정 진행</a:t>
            </a:r>
            <a:endParaRPr lang="en-US" altLang="ko-KR" sz="2000" b="1" dirty="0"/>
          </a:p>
          <a:p>
            <a:r>
              <a:rPr lang="en-US" altLang="ko-KR" sz="2000" b="1" dirty="0"/>
              <a:t>3. </a:t>
            </a:r>
            <a:r>
              <a:rPr lang="ko-KR" altLang="en-US" sz="2000" b="1" dirty="0"/>
              <a:t>모든 값 </a:t>
            </a:r>
            <a:r>
              <a:rPr lang="en-US" altLang="ko-KR" sz="2000" b="1" dirty="0"/>
              <a:t>Update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6C3B37-E2B3-E0F1-982C-B4DAA8E6089B}"/>
              </a:ext>
            </a:extLst>
          </p:cNvPr>
          <p:cNvSpPr txBox="1"/>
          <p:nvPr/>
        </p:nvSpPr>
        <p:spPr>
          <a:xfrm>
            <a:off x="1963297" y="2115484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2000" b="1" dirty="0"/>
              <a:t>ALS</a:t>
            </a:r>
            <a:endParaRPr lang="ko-KR" alt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CC1EA-3E83-A926-A042-66A1B15CA2A9}"/>
              </a:ext>
            </a:extLst>
          </p:cNvPr>
          <p:cNvSpPr txBox="1"/>
          <p:nvPr/>
        </p:nvSpPr>
        <p:spPr>
          <a:xfrm>
            <a:off x="2179781" y="2515594"/>
            <a:ext cx="6439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:</a:t>
            </a:r>
            <a:r>
              <a:rPr lang="ko-KR" altLang="en-US" b="1" dirty="0"/>
              <a:t>변수 하나를 상수로 고정한 상태로</a:t>
            </a:r>
            <a:r>
              <a:rPr lang="en-US" altLang="ko-KR" b="1" dirty="0"/>
              <a:t> </a:t>
            </a:r>
            <a:r>
              <a:rPr lang="ko-KR" altLang="en-US" b="1" dirty="0"/>
              <a:t>최적화 문제를 푸는 방법</a:t>
            </a:r>
            <a:endParaRPr lang="en-US" altLang="ko-KR" b="1" dirty="0"/>
          </a:p>
          <a:p>
            <a:r>
              <a:rPr lang="en-US" altLang="ko-KR" b="1" dirty="0"/>
              <a:t>2</a:t>
            </a:r>
            <a:r>
              <a:rPr lang="ko-KR" altLang="en-US" b="1" dirty="0"/>
              <a:t>변수 최적화 </a:t>
            </a:r>
            <a:r>
              <a:rPr lang="en-US" altLang="ko-KR" b="1" dirty="0">
                <a:sym typeface="Wingdings" panose="05000000000000000000" pitchFamily="2" charset="2"/>
              </a:rPr>
              <a:t></a:t>
            </a:r>
            <a:r>
              <a:rPr lang="ko-KR" altLang="en-US" b="1" dirty="0">
                <a:sym typeface="Wingdings" panose="05000000000000000000" pitchFamily="2" charset="2"/>
              </a:rPr>
              <a:t> 단일변수 최적화 </a:t>
            </a:r>
            <a:r>
              <a:rPr lang="en-US" altLang="ko-KR" b="1" dirty="0">
                <a:sym typeface="Wingdings" panose="05000000000000000000" pitchFamily="2" charset="2"/>
              </a:rPr>
              <a:t>(OLS) </a:t>
            </a:r>
            <a:r>
              <a:rPr lang="ko-KR" altLang="en-US" b="1" dirty="0">
                <a:sym typeface="Wingdings" panose="05000000000000000000" pitchFamily="2" charset="2"/>
              </a:rPr>
              <a:t>문제로 치환</a:t>
            </a:r>
            <a:endParaRPr lang="ko-KR" altLang="en-US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293BADD-ABB4-20C0-B2E7-0684BE4E2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400" y="3696076"/>
            <a:ext cx="4354400" cy="11204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CAED50-B048-A7B5-9301-AA59B8568D7B}"/>
              </a:ext>
            </a:extLst>
          </p:cNvPr>
          <p:cNvSpPr txBox="1"/>
          <p:nvPr/>
        </p:nvSpPr>
        <p:spPr>
          <a:xfrm>
            <a:off x="1963297" y="4860923"/>
            <a:ext cx="45320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[ALS</a:t>
            </a:r>
            <a:r>
              <a:rPr lang="ko-KR" altLang="en-US" sz="1600" b="1" dirty="0"/>
              <a:t>를 통해 단일변수 최적화 문제 </a:t>
            </a:r>
            <a:r>
              <a:rPr lang="en-US" altLang="ko-KR" sz="1600" b="1" dirty="0"/>
              <a:t>2</a:t>
            </a:r>
            <a:r>
              <a:rPr lang="ko-KR" altLang="en-US" sz="1600" b="1" dirty="0"/>
              <a:t>개로 치환</a:t>
            </a:r>
            <a:r>
              <a:rPr lang="en-US" altLang="ko-KR" sz="1600" b="1" dirty="0"/>
              <a:t>]</a:t>
            </a:r>
            <a:endParaRPr lang="ko-KR" altLang="en-US" sz="1600" b="1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9D72576-BAB6-5A1F-12A7-9AFCEA67A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465" y="3705260"/>
            <a:ext cx="3741372" cy="995997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CE4D54DB-7433-83FB-936A-28E1891BC898}"/>
              </a:ext>
            </a:extLst>
          </p:cNvPr>
          <p:cNvSpPr/>
          <p:nvPr/>
        </p:nvSpPr>
        <p:spPr>
          <a:xfrm>
            <a:off x="6640945" y="3880320"/>
            <a:ext cx="1062182" cy="646331"/>
          </a:xfrm>
          <a:prstGeom prst="rightArrow">
            <a:avLst/>
          </a:prstGeom>
          <a:solidFill>
            <a:srgbClr val="19264B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AEFF39-FB1F-E6A9-C41A-968FD2CEF326}"/>
              </a:ext>
            </a:extLst>
          </p:cNvPr>
          <p:cNvSpPr txBox="1"/>
          <p:nvPr/>
        </p:nvSpPr>
        <p:spPr>
          <a:xfrm>
            <a:off x="8510340" y="4737812"/>
            <a:ext cx="2829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/>
              <a:t>[ALS Update Rule]</a:t>
            </a:r>
          </a:p>
          <a:p>
            <a:r>
              <a:rPr lang="en-US" altLang="ko-KR" sz="1600" b="1" dirty="0"/>
              <a:t>(q</a:t>
            </a:r>
            <a:r>
              <a:rPr lang="ko-KR" altLang="en-US" sz="1600" b="1" dirty="0"/>
              <a:t>고정</a:t>
            </a:r>
            <a:r>
              <a:rPr lang="en-US" altLang="ko-KR" sz="1600" b="1" dirty="0"/>
              <a:t>,p</a:t>
            </a:r>
            <a:r>
              <a:rPr lang="ko-KR" altLang="en-US" sz="1600" b="1" dirty="0"/>
              <a:t>갱신 </a:t>
            </a:r>
            <a:r>
              <a:rPr lang="en-US" altLang="ko-KR" sz="1600" b="1" dirty="0"/>
              <a:t>/ p</a:t>
            </a:r>
            <a:r>
              <a:rPr lang="ko-KR" altLang="en-US" sz="1600" b="1" dirty="0"/>
              <a:t>고정</a:t>
            </a:r>
            <a:r>
              <a:rPr lang="en-US" altLang="ko-KR" sz="1600" b="1" dirty="0"/>
              <a:t>,q</a:t>
            </a:r>
            <a:r>
              <a:rPr lang="ko-KR" altLang="en-US" sz="1600" b="1" dirty="0"/>
              <a:t>갱신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33F19E-1BB2-F8B3-FE0A-C0D1D609C401}"/>
              </a:ext>
            </a:extLst>
          </p:cNvPr>
          <p:cNvSpPr txBox="1"/>
          <p:nvPr/>
        </p:nvSpPr>
        <p:spPr>
          <a:xfrm>
            <a:off x="4540049" y="5715987"/>
            <a:ext cx="4310795" cy="40011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</a:rPr>
              <a:t>연산속도 면에서 </a:t>
            </a:r>
            <a:r>
              <a:rPr lang="en-US" altLang="ko-KR" sz="2000" b="1" dirty="0">
                <a:solidFill>
                  <a:schemeClr val="accent6">
                    <a:lumMod val="75000"/>
                  </a:schemeClr>
                </a:solidFill>
              </a:rPr>
              <a:t>SGD</a:t>
            </a: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</a:rPr>
              <a:t>보다 우월하다</a:t>
            </a:r>
          </a:p>
        </p:txBody>
      </p:sp>
    </p:spTree>
    <p:extLst>
      <p:ext uri="{BB962C8B-B14F-4D97-AF65-F5344CB8AC3E}">
        <p14:creationId xmlns:p14="http://schemas.microsoft.com/office/powerpoint/2010/main" val="132964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02D247B4-C29C-AA1A-0E76-974A8FF1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40FB3CDE-CEA4-03E0-C64B-F45FFB7E9BD1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9DEBEC29-9F2C-23D6-4BF0-04B0DCE83A59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EBA11C31-621A-80AA-9BF7-E0C3A60710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43382A2D-0B05-235F-91C9-E1684B831680}"/>
              </a:ext>
            </a:extLst>
          </p:cNvPr>
          <p:cNvSpPr txBox="1"/>
          <p:nvPr/>
        </p:nvSpPr>
        <p:spPr>
          <a:xfrm>
            <a:off x="1878632" y="409167"/>
            <a:ext cx="7219185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Adding</a:t>
            </a: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Bias to MF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7" name="AutoShape 4" descr="Untitled">
            <a:extLst>
              <a:ext uri="{FF2B5EF4-FFF2-40B4-BE49-F238E27FC236}">
                <a16:creationId xmlns:a16="http://schemas.microsoft.com/office/drawing/2014/main" id="{703ED618-0DD4-5A97-E730-36A14B57FB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70526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2" descr="Untitled">
            <a:extLst>
              <a:ext uri="{FF2B5EF4-FFF2-40B4-BE49-F238E27FC236}">
                <a16:creationId xmlns:a16="http://schemas.microsoft.com/office/drawing/2014/main" id="{35243ED7-E72F-54AC-9C25-7DD5A3EAF6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85766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87EFE-8B94-715F-733C-4DCF2261B988}"/>
              </a:ext>
            </a:extLst>
          </p:cNvPr>
          <p:cNvSpPr txBox="1"/>
          <p:nvPr/>
        </p:nvSpPr>
        <p:spPr>
          <a:xfrm>
            <a:off x="1878632" y="1098625"/>
            <a:ext cx="9069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:</a:t>
            </a:r>
            <a:r>
              <a:rPr lang="ko-KR" altLang="en-US" b="1" dirty="0"/>
              <a:t>기존의 </a:t>
            </a:r>
            <a:r>
              <a:rPr lang="en-US" altLang="ko-KR" b="1" dirty="0"/>
              <a:t>P,Q</a:t>
            </a:r>
            <a:r>
              <a:rPr lang="ko-KR" altLang="en-US" b="1" dirty="0"/>
              <a:t>로만 학습 시 </a:t>
            </a:r>
            <a:r>
              <a:rPr lang="en-US" altLang="ko-KR" b="1" dirty="0" err="1"/>
              <a:t>user,item</a:t>
            </a:r>
            <a:r>
              <a:rPr lang="ko-KR" altLang="en-US" b="1" dirty="0"/>
              <a:t>의 </a:t>
            </a:r>
            <a:r>
              <a:rPr lang="en-US" altLang="ko-KR" b="1" dirty="0"/>
              <a:t>bias + latent factor</a:t>
            </a:r>
            <a:r>
              <a:rPr lang="ko-KR" altLang="en-US" b="1" dirty="0"/>
              <a:t>를 동시에 학습하여 부담</a:t>
            </a:r>
            <a:br>
              <a:rPr lang="en-US" altLang="ko-KR" b="1" dirty="0"/>
            </a:br>
            <a:r>
              <a:rPr lang="ko-KR" altLang="en-US" b="1" dirty="0"/>
              <a:t>이를 따로 학습 할 수 있는 항을 추가로 도입</a:t>
            </a:r>
          </a:p>
        </p:txBody>
      </p:sp>
      <p:sp>
        <p:nvSpPr>
          <p:cNvPr id="8" name="AutoShape 4" descr="Untitled">
            <a:extLst>
              <a:ext uri="{FF2B5EF4-FFF2-40B4-BE49-F238E27FC236}">
                <a16:creationId xmlns:a16="http://schemas.microsoft.com/office/drawing/2014/main" id="{462748DF-5927-99A0-5336-AF6B9E8020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05055" y="2768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2" descr="Untitled">
            <a:extLst>
              <a:ext uri="{FF2B5EF4-FFF2-40B4-BE49-F238E27FC236}">
                <a16:creationId xmlns:a16="http://schemas.microsoft.com/office/drawing/2014/main" id="{8D894904-42B4-88F6-1411-AEA3C4CD1C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57455" y="292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32B115-0390-E208-CFE9-BDEBDDB56A39}"/>
              </a:ext>
            </a:extLst>
          </p:cNvPr>
          <p:cNvSpPr txBox="1"/>
          <p:nvPr/>
        </p:nvSpPr>
        <p:spPr>
          <a:xfrm>
            <a:off x="1989673" y="2164617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/>
              <a:t>[</a:t>
            </a:r>
            <a:r>
              <a:rPr lang="ko-KR" altLang="en-US" b="1" dirty="0"/>
              <a:t>목적함수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22FDFE-092B-BF04-C308-B88454C01153}"/>
              </a:ext>
            </a:extLst>
          </p:cNvPr>
          <p:cNvSpPr txBox="1"/>
          <p:nvPr/>
        </p:nvSpPr>
        <p:spPr>
          <a:xfrm>
            <a:off x="7826655" y="2786005"/>
            <a:ext cx="3431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altLang="ko-KR" b="1" dirty="0"/>
              <a:t>μ</a:t>
            </a:r>
            <a:r>
              <a:rPr lang="en-US" altLang="ko-KR" b="1" dirty="0"/>
              <a:t>: Global mean (rating)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 err="1"/>
              <a:t>b_u</a:t>
            </a:r>
            <a:r>
              <a:rPr lang="en-US" altLang="ko-KR" b="1" dirty="0"/>
              <a:t>: User / </a:t>
            </a:r>
            <a:r>
              <a:rPr lang="en-US" altLang="ko-KR" b="1" dirty="0" err="1"/>
              <a:t>b_i</a:t>
            </a:r>
            <a:r>
              <a:rPr lang="en-US" altLang="ko-KR" b="1" dirty="0"/>
              <a:t> : Item bias</a:t>
            </a:r>
            <a:endParaRPr lang="ko-KR" altLang="en-US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209223-E79E-0A9F-2995-AA746A022566}"/>
              </a:ext>
            </a:extLst>
          </p:cNvPr>
          <p:cNvSpPr txBox="1"/>
          <p:nvPr/>
        </p:nvSpPr>
        <p:spPr>
          <a:xfrm>
            <a:off x="1989673" y="3857660"/>
            <a:ext cx="199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b="1" dirty="0"/>
              <a:t>[Update</a:t>
            </a:r>
            <a:r>
              <a:rPr lang="ko-KR" altLang="en-US" b="1" dirty="0"/>
              <a:t> </a:t>
            </a:r>
            <a:r>
              <a:rPr lang="en-US" altLang="ko-KR" b="1" dirty="0"/>
              <a:t>Rule]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BDA542E-CF32-879A-6571-702276E8C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673" y="2718590"/>
            <a:ext cx="5525271" cy="78115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7843A6C-FEDA-B234-B375-D392999E02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0589" y="4393021"/>
            <a:ext cx="3070247" cy="145497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8432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C6B265F-AA3B-D4F5-A0EC-DE495B0F9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649C47F-1AC0-EC17-1113-089DD0AA221B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8EF42C19-4DBF-3767-9C76-310FB03B6AD3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B7DCB1AB-2C5E-286B-AA46-4C6E5FC1537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D95E5AD0-FE1F-5C3C-690B-E5BAF8FE6FD8}"/>
              </a:ext>
            </a:extLst>
          </p:cNvPr>
          <p:cNvSpPr txBox="1"/>
          <p:nvPr/>
        </p:nvSpPr>
        <p:spPr>
          <a:xfrm>
            <a:off x="1878633" y="409167"/>
            <a:ext cx="6639200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그럼 추천은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?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DEBF83-2FE4-DF67-E0DA-6194AD14CCCF}"/>
              </a:ext>
            </a:extLst>
          </p:cNvPr>
          <p:cNvSpPr txBox="1"/>
          <p:nvPr/>
        </p:nvSpPr>
        <p:spPr>
          <a:xfrm>
            <a:off x="2008500" y="1094240"/>
            <a:ext cx="87804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: Rating</a:t>
            </a:r>
            <a:r>
              <a:rPr lang="ko-KR" altLang="en-US" sz="2000" b="1" dirty="0"/>
              <a:t>이 높은 순서대로 정렬</a:t>
            </a:r>
            <a:r>
              <a:rPr lang="en-US" altLang="ko-KR" sz="2000" b="1" dirty="0"/>
              <a:t>,</a:t>
            </a:r>
            <a:r>
              <a:rPr lang="ko-KR" altLang="en-US" sz="2000" b="1" dirty="0"/>
              <a:t> 상위 </a:t>
            </a:r>
            <a:r>
              <a:rPr lang="en-US" altLang="ko-KR" sz="2000" b="1" dirty="0"/>
              <a:t>m</a:t>
            </a:r>
            <a:r>
              <a:rPr lang="ko-KR" altLang="en-US" sz="2000" b="1" dirty="0"/>
              <a:t>개의 </a:t>
            </a:r>
            <a:r>
              <a:rPr lang="en-US" altLang="ko-KR" sz="2000" b="1" dirty="0"/>
              <a:t>item</a:t>
            </a:r>
            <a:r>
              <a:rPr lang="ko-KR" altLang="en-US" sz="2000" b="1" dirty="0"/>
              <a:t>을 사용자에게 추천한다</a:t>
            </a:r>
            <a:r>
              <a:rPr lang="en-US" altLang="ko-KR" sz="2000" b="1" dirty="0"/>
              <a:t>.  </a:t>
            </a:r>
            <a:endParaRPr lang="ko-KR" altLang="en-US" sz="2000" b="1" dirty="0"/>
          </a:p>
        </p:txBody>
      </p:sp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9BDD0C9F-9E13-3A3D-9C9D-85594B547065}"/>
              </a:ext>
            </a:extLst>
          </p:cNvPr>
          <p:cNvSpPr txBox="1"/>
          <p:nvPr/>
        </p:nvSpPr>
        <p:spPr>
          <a:xfrm>
            <a:off x="2008500" y="2179423"/>
            <a:ext cx="6639200" cy="222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그럼 평가는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?</a:t>
            </a:r>
          </a:p>
          <a:p>
            <a:pPr>
              <a:lnSpc>
                <a:spcPct val="115000"/>
              </a:lnSpc>
            </a:pP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모델의 성능은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?</a:t>
            </a:r>
          </a:p>
          <a:p>
            <a:pPr>
              <a:lnSpc>
                <a:spcPct val="115000"/>
              </a:lnSpc>
            </a:pP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추천 결과의 검증은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?</a:t>
            </a:r>
          </a:p>
          <a:p>
            <a:pPr>
              <a:lnSpc>
                <a:spcPct val="115000"/>
              </a:lnSpc>
            </a:pPr>
            <a:r>
              <a:rPr lang="ko-KR" altLang="en-US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구현은</a:t>
            </a:r>
            <a:r>
              <a:rPr lang="en-US" altLang="ko-KR" sz="28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?</a:t>
            </a:r>
            <a:endParaRPr sz="28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751686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2D1FBE9-5078-4CB5-65AF-209594BC3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31C23232-E106-579C-8B12-F363A50665B6}"/>
              </a:ext>
            </a:extLst>
          </p:cNvPr>
          <p:cNvSpPr/>
          <p:nvPr/>
        </p:nvSpPr>
        <p:spPr>
          <a:xfrm>
            <a:off x="0" y="-50600"/>
            <a:ext cx="1574800" cy="69592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800"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15F60517-CFE6-9114-6D75-6C030E86914A}"/>
              </a:ext>
            </a:extLst>
          </p:cNvPr>
          <p:cNvCxnSpPr/>
          <p:nvPr/>
        </p:nvCxnSpPr>
        <p:spPr>
          <a:xfrm>
            <a:off x="230500" y="-50600"/>
            <a:ext cx="0" cy="2916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201B65FA-77F1-2D07-B9F8-730A002F120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38266" y="4095533"/>
            <a:ext cx="4051300" cy="15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66;p14">
            <a:extLst>
              <a:ext uri="{FF2B5EF4-FFF2-40B4-BE49-F238E27FC236}">
                <a16:creationId xmlns:a16="http://schemas.microsoft.com/office/drawing/2014/main" id="{98D9F27A-F3EA-E968-95E3-76ABF681275E}"/>
              </a:ext>
            </a:extLst>
          </p:cNvPr>
          <p:cNvSpPr txBox="1"/>
          <p:nvPr/>
        </p:nvSpPr>
        <p:spPr>
          <a:xfrm>
            <a:off x="2776400" y="3058149"/>
            <a:ext cx="6639200" cy="88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36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endParaRPr sz="36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791846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F0817766C077B46A0BD34B46A61B7E8" ma:contentTypeVersion="12" ma:contentTypeDescription="새 문서를 만듭니다." ma:contentTypeScope="" ma:versionID="84b98428ddc7d785a32fe3d335ead57a">
  <xsd:schema xmlns:xsd="http://www.w3.org/2001/XMLSchema" xmlns:xs="http://www.w3.org/2001/XMLSchema" xmlns:p="http://schemas.microsoft.com/office/2006/metadata/properties" xmlns:ns3="32871427-9934-43b5-adf1-35176e2cfa70" targetNamespace="http://schemas.microsoft.com/office/2006/metadata/properties" ma:root="true" ma:fieldsID="25a4eaafa8719f74d0a50a3451912694" ns3:_="">
    <xsd:import namespace="32871427-9934-43b5-adf1-35176e2cfa7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871427-9934-43b5-adf1-35176e2cfa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2871427-9934-43b5-adf1-35176e2cfa70" xsi:nil="true"/>
  </documentManagement>
</p:properties>
</file>

<file path=customXml/itemProps1.xml><?xml version="1.0" encoding="utf-8"?>
<ds:datastoreItem xmlns:ds="http://schemas.openxmlformats.org/officeDocument/2006/customXml" ds:itemID="{3694492D-ADAA-4F0B-9109-497594A9A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871427-9934-43b5-adf1-35176e2cfa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01215F-87ED-4A8B-9060-6C7D52AA68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D985BC-11CF-4655-9771-93A703E067EE}">
  <ds:schemaRefs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32871427-9934-43b5-adf1-35176e2cfa70"/>
    <ds:schemaRef ds:uri="http://www.w3.org/XML/1998/namespace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579</Words>
  <Application>Microsoft Office PowerPoint</Application>
  <PresentationFormat>와이드스크린</PresentationFormat>
  <Paragraphs>87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NanumGothic ExtraBold</vt:lpstr>
      <vt:lpstr>맑은 고딕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한승원</dc:creator>
  <cp:lastModifiedBy>한승원</cp:lastModifiedBy>
  <cp:revision>9</cp:revision>
  <dcterms:created xsi:type="dcterms:W3CDTF">2025-11-03T08:51:30Z</dcterms:created>
  <dcterms:modified xsi:type="dcterms:W3CDTF">2025-11-03T10:41:38Z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0x0101002F0817766C077B46A0BD34B46A61B7E8</vt:lpwstr>
  </property>
</Properties>
</file>