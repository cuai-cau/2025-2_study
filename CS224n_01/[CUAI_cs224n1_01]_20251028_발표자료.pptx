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6" r:id="rId6"/>
    <p:sldId id="267" r:id="rId7"/>
    <p:sldId id="268" r:id="rId8"/>
    <p:sldId id="271" r:id="rId9"/>
    <p:sldId id="272" r:id="rId10"/>
    <p:sldId id="269" r:id="rId11"/>
    <p:sldId id="273" r:id="rId12"/>
    <p:sldId id="274" r:id="rId13"/>
    <p:sldId id="275" r:id="rId14"/>
    <p:sldId id="270" r:id="rId15"/>
    <p:sldId id="265" r:id="rId16"/>
    <p:sldId id="266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86424" autoAdjust="0"/>
  </p:normalViewPr>
  <p:slideViewPr>
    <p:cSldViewPr snapToGrid="0">
      <p:cViewPr varScale="1">
        <p:scale>
          <a:sx n="129" d="100"/>
          <a:sy n="129" d="100"/>
        </p:scale>
        <p:origin x="368" y="52"/>
      </p:cViewPr>
      <p:guideLst>
        <p:guide orient="horz" pos="161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9967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0870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9119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4468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8626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2305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3159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2530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7365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847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1408.5882.pdf" TargetMode="External"/><Relationship Id="rId4" Type="http://schemas.openxmlformats.org/officeDocument/2006/relationships/hyperlink" Target="https://arxiv.org/abs/2210.0362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CUAI </a:t>
            </a:r>
            <a:r>
              <a:rPr lang="en-US" altLang="ko-KR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CS224n</a:t>
            </a:r>
            <a:r>
              <a:rPr lang="ko-KR" altLang="en-US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스터디</a:t>
            </a: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1</a:t>
            </a: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5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10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28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발표자</a:t>
            </a:r>
            <a:r>
              <a:rPr lang="en-US" alt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: </a:t>
            </a:r>
            <a:r>
              <a:rPr lang="ko-KR" altLang="en-US" sz="1100" dirty="0" err="1">
                <a:solidFill>
                  <a:srgbClr val="19264B"/>
                </a:solidFill>
                <a:latin typeface="나눔스퀘어 ExtraBold"/>
                <a:ea typeface="나눔스퀘어 ExtraBold"/>
              </a:rPr>
              <a:t>배동혁</a:t>
            </a:r>
            <a:endParaRPr lang="ko-KR" altLang="en-US" sz="1100"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000107" y="2007831"/>
            <a:ext cx="2886200" cy="156989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1: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 err="1">
                <a:latin typeface="나눔스퀘어"/>
                <a:ea typeface="나눔스퀘어"/>
              </a:rPr>
              <a:t>홍성빈</a:t>
            </a:r>
            <a:endParaRPr lang="en-US" altLang="ko-KR" sz="11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2: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 err="1">
                <a:latin typeface="나눔스퀘어"/>
                <a:ea typeface="나눔스퀘어"/>
              </a:rPr>
              <a:t>조한서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3: </a:t>
            </a:r>
            <a:r>
              <a:rPr lang="ko-KR" altLang="en-US" sz="1300" dirty="0">
                <a:latin typeface="나눔스퀘어"/>
                <a:ea typeface="나눔스퀘어"/>
              </a:rPr>
              <a:t>민세희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4: </a:t>
            </a:r>
            <a:r>
              <a:rPr lang="ko-KR" altLang="en-US" sz="1300" dirty="0" err="1">
                <a:latin typeface="나눔스퀘어"/>
                <a:ea typeface="나눔스퀘어"/>
              </a:rPr>
              <a:t>배동혁</a:t>
            </a:r>
            <a:endParaRPr lang="en-US" altLang="ko-KR" sz="1300" dirty="0">
              <a:latin typeface="나눔스퀘어"/>
              <a:ea typeface="나눔스퀘어"/>
            </a:endParaRPr>
          </a:p>
        </p:txBody>
      </p:sp>
      <p:sp>
        <p:nvSpPr>
          <p:cNvPr id="4" name="Google Shape;67;p14"/>
          <p:cNvSpPr txBox="1"/>
          <p:nvPr/>
        </p:nvSpPr>
        <p:spPr>
          <a:xfrm>
            <a:off x="2842336" y="4371834"/>
            <a:ext cx="2361036" cy="52318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dirty="0">
                <a:latin typeface="나눔스퀘어"/>
                <a:ea typeface="나눔스퀘어"/>
              </a:rPr>
              <a:t>25.10.09 14:00 </a:t>
            </a:r>
            <a:r>
              <a:rPr lang="ko-KR" altLang="en-US" sz="1000" dirty="0">
                <a:latin typeface="나눔스퀘어"/>
                <a:ea typeface="나눔스퀘어"/>
              </a:rPr>
              <a:t>대면 회의 진행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sz="1200" dirty="0">
              <a:latin typeface="나눔스퀘어"/>
              <a:ea typeface="나눔스퀘어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522A59-61AB-41F2-9459-8472C5670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387" y="1675577"/>
            <a:ext cx="4262425" cy="2281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87203" y="328647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소개</a:t>
            </a:r>
          </a:p>
        </p:txBody>
      </p:sp>
      <p:sp>
        <p:nvSpPr>
          <p:cNvPr id="9" name="Google Shape;67;p14"/>
          <p:cNvSpPr txBox="1"/>
          <p:nvPr/>
        </p:nvSpPr>
        <p:spPr>
          <a:xfrm>
            <a:off x="1632857" y="907989"/>
            <a:ext cx="7696200" cy="65981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CS224N: Natural Language Processing with Deep Learning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Stanford / Spring 2024</a:t>
            </a: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38859" y="2043072"/>
            <a:ext cx="3892881" cy="1785737"/>
          </a:xfrm>
          <a:prstGeom prst="rect">
            <a:avLst/>
          </a:prstGeom>
        </p:spPr>
      </p:pic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19583" y="2767853"/>
            <a:ext cx="4019728" cy="213788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923429" y="1825379"/>
            <a:ext cx="3054163" cy="573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매주 동영상 강의 수강 </a:t>
            </a:r>
            <a:r>
              <a:rPr lang="en-US" altLang="ko-KR" sz="1600" b="1">
                <a:latin typeface="나눔스퀘어"/>
                <a:ea typeface="나눔스퀘어"/>
              </a:rPr>
              <a:t>+</a:t>
            </a:r>
            <a:r>
              <a:rPr lang="ko-KR" altLang="en-US" sz="1600" b="1">
                <a:latin typeface="나눔스퀘어"/>
                <a:ea typeface="나눔스퀘어"/>
              </a:rPr>
              <a:t>        질의응답 </a:t>
            </a:r>
            <a:r>
              <a:rPr lang="en-US" altLang="ko-KR" sz="1600" b="1">
                <a:latin typeface="나눔스퀘어"/>
                <a:ea typeface="나눔스퀘어"/>
              </a:rPr>
              <a:t>+</a:t>
            </a:r>
            <a:r>
              <a:rPr lang="ko-KR" altLang="en-US" sz="1600" b="1">
                <a:latin typeface="나눔스퀘어"/>
                <a:ea typeface="나눔스퀘어"/>
              </a:rPr>
              <a:t> 관련 논문 스터디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진행 방향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15" name="Google Shape;67;p14"/>
          <p:cNvSpPr txBox="1"/>
          <p:nvPr/>
        </p:nvSpPr>
        <p:spPr>
          <a:xfrm>
            <a:off x="1956047" y="3114453"/>
            <a:ext cx="5923138" cy="4821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4778D5-7B08-4017-B957-837B47C8A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470" y="803819"/>
            <a:ext cx="6173555" cy="4196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</a:t>
            </a:r>
            <a:r>
              <a:rPr lang="en-US" altLang="ko-KR" sz="2000" b="1" dirty="0" err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Subword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Modeling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88088" y="1104254"/>
            <a:ext cx="74314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>
                <a:solidFill>
                  <a:schemeClr val="accent1"/>
                </a:solidFill>
                <a:latin typeface="+mj-ea"/>
                <a:ea typeface="+mj-ea"/>
              </a:rPr>
              <a:t>Subword</a:t>
            </a: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 Modeling </a:t>
            </a:r>
            <a:r>
              <a:rPr lang="en-US" altLang="ko-KR" sz="1200" dirty="0">
                <a:latin typeface="+mj-ea"/>
                <a:ea typeface="+mj-ea"/>
              </a:rPr>
              <a:t>: </a:t>
            </a:r>
            <a:r>
              <a:rPr lang="ko-KR" altLang="en-US" sz="1200" dirty="0">
                <a:latin typeface="+mj-ea"/>
                <a:ea typeface="+mj-ea"/>
              </a:rPr>
              <a:t>단어를 </a:t>
            </a:r>
            <a:r>
              <a:rPr lang="ko-KR" altLang="en-US" sz="1200" dirty="0">
                <a:solidFill>
                  <a:schemeClr val="accent1"/>
                </a:solidFill>
                <a:latin typeface="+mj-ea"/>
                <a:ea typeface="+mj-ea"/>
              </a:rPr>
              <a:t>하위 단어</a:t>
            </a:r>
            <a:r>
              <a:rPr lang="ko-KR" altLang="en-US" sz="1200" dirty="0">
                <a:latin typeface="+mj-ea"/>
                <a:ea typeface="+mj-ea"/>
              </a:rPr>
              <a:t>로 나누는 방법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endParaRPr lang="en-US" altLang="ko-KR" sz="1200" dirty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  <a:ea typeface="+mj-ea"/>
              </a:rPr>
              <a:t>그래서 새로운 단어나 변형된 단어도 기존 하위 단위 조합으로 표현할 수 있도록 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981E30-60C2-408E-9E0E-8D57C986E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088" y="2116078"/>
            <a:ext cx="6128065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8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58073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Pretraining / Finetuning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93818" y="1178395"/>
            <a:ext cx="7431498" cy="2637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en-US" altLang="ko-KR" dirty="0">
                <a:solidFill>
                  <a:schemeClr val="accent1"/>
                </a:solidFill>
              </a:rPr>
              <a:t>Pretraining</a:t>
            </a:r>
          </a:p>
          <a:p>
            <a:pPr marL="457200" lvl="1">
              <a:lnSpc>
                <a:spcPct val="150000"/>
              </a:lnSpc>
            </a:pPr>
            <a:r>
              <a:rPr lang="ko-KR" altLang="en-US" dirty="0"/>
              <a:t>대량의 텍스트 데이터를 이용해 신경망을 </a:t>
            </a:r>
            <a:r>
              <a:rPr lang="ko-KR" altLang="en-US" dirty="0">
                <a:solidFill>
                  <a:schemeClr val="accent1"/>
                </a:solidFill>
              </a:rPr>
              <a:t>언어모델링 과제로 학습시킨다</a:t>
            </a:r>
            <a:r>
              <a:rPr lang="en-US" altLang="ko-KR" dirty="0"/>
              <a:t>.</a:t>
            </a:r>
          </a:p>
          <a:p>
            <a:pPr marL="457200" lvl="1">
              <a:lnSpc>
                <a:spcPct val="150000"/>
              </a:lnSpc>
            </a:pPr>
            <a:r>
              <a:rPr lang="ko-KR" altLang="en-US" dirty="0"/>
              <a:t>일반적인 언어 지식 </a:t>
            </a:r>
            <a:r>
              <a:rPr lang="en-US" altLang="ko-KR" dirty="0"/>
              <a:t>(</a:t>
            </a:r>
            <a:r>
              <a:rPr lang="ko-KR" altLang="en-US" dirty="0"/>
              <a:t>문법</a:t>
            </a:r>
            <a:r>
              <a:rPr lang="en-US" altLang="ko-KR" dirty="0"/>
              <a:t>, </a:t>
            </a:r>
            <a:r>
              <a:rPr lang="ko-KR" altLang="en-US" dirty="0"/>
              <a:t>단어 의미</a:t>
            </a:r>
            <a:r>
              <a:rPr lang="en-US" altLang="ko-KR" dirty="0"/>
              <a:t>, </a:t>
            </a:r>
            <a:r>
              <a:rPr lang="ko-KR" altLang="en-US" dirty="0"/>
              <a:t>문맥 구조 등</a:t>
            </a:r>
            <a:r>
              <a:rPr lang="en-US" altLang="ko-KR" dirty="0"/>
              <a:t>)</a:t>
            </a:r>
            <a:r>
              <a:rPr lang="ko-KR" altLang="en-US" dirty="0"/>
              <a:t>을 익힘</a:t>
            </a:r>
            <a:r>
              <a:rPr lang="en-US" altLang="ko-KR" dirty="0"/>
              <a:t>.</a:t>
            </a:r>
          </a:p>
          <a:p>
            <a:pPr marL="457200" lvl="1">
              <a:lnSpc>
                <a:spcPct val="150000"/>
              </a:lnSpc>
            </a:pPr>
            <a:r>
              <a:rPr lang="ko-KR" altLang="en-US" dirty="0"/>
              <a:t>그 결과 얻은 </a:t>
            </a:r>
            <a:r>
              <a:rPr lang="en-US" altLang="ko-KR" dirty="0"/>
              <a:t>Parameter(θ̂)</a:t>
            </a:r>
            <a:r>
              <a:rPr lang="ko-KR" altLang="en-US" dirty="0"/>
              <a:t>를 저장해두면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다른 </a:t>
            </a:r>
            <a:r>
              <a:rPr lang="en-US" altLang="ko-KR" dirty="0">
                <a:solidFill>
                  <a:schemeClr val="accent1"/>
                </a:solidFill>
              </a:rPr>
              <a:t>NLP </a:t>
            </a:r>
            <a:r>
              <a:rPr lang="ko-KR" altLang="en-US" dirty="0">
                <a:solidFill>
                  <a:schemeClr val="accent1"/>
                </a:solidFill>
              </a:rPr>
              <a:t>과제에도 재활용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pPr marL="457200" lvl="1">
              <a:lnSpc>
                <a:spcPct val="150000"/>
              </a:lnSpc>
            </a:pPr>
            <a:endParaRPr lang="en-US" altLang="ko-KR" dirty="0"/>
          </a:p>
          <a:p>
            <a:pPr marL="457200" lvl="1"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en-US" altLang="ko-KR" dirty="0">
                <a:solidFill>
                  <a:srgbClr val="FF0000"/>
                </a:solidFill>
              </a:rPr>
              <a:t>Finetuning </a:t>
            </a:r>
          </a:p>
          <a:p>
            <a:pPr marL="457200" lvl="1">
              <a:lnSpc>
                <a:spcPct val="150000"/>
              </a:lnSpc>
            </a:pPr>
            <a:r>
              <a:rPr lang="ko-KR" altLang="en-US" dirty="0"/>
              <a:t>학습된 언어모델을 기반으로</a:t>
            </a:r>
            <a:r>
              <a:rPr lang="en-US" altLang="ko-KR" dirty="0"/>
              <a:t>, </a:t>
            </a:r>
            <a:r>
              <a:rPr lang="ko-KR" altLang="en-US" dirty="0"/>
              <a:t>감정 분석</a:t>
            </a:r>
            <a:r>
              <a:rPr lang="en-US" altLang="ko-KR" dirty="0"/>
              <a:t>, </a:t>
            </a:r>
            <a:r>
              <a:rPr lang="ko-KR" altLang="en-US" dirty="0"/>
              <a:t>질문응답 등 </a:t>
            </a:r>
            <a:r>
              <a:rPr lang="ko-KR" altLang="en-US" dirty="0">
                <a:solidFill>
                  <a:srgbClr val="FF0000"/>
                </a:solidFill>
              </a:rPr>
              <a:t>특정 </a:t>
            </a:r>
            <a:r>
              <a:rPr lang="en-US" altLang="ko-KR" dirty="0">
                <a:solidFill>
                  <a:srgbClr val="FF0000"/>
                </a:solidFill>
              </a:rPr>
              <a:t>task</a:t>
            </a:r>
            <a:r>
              <a:rPr lang="ko-KR" altLang="en-US" dirty="0">
                <a:solidFill>
                  <a:srgbClr val="FF0000"/>
                </a:solidFill>
              </a:rPr>
              <a:t>에 맞게 </a:t>
            </a:r>
            <a:r>
              <a:rPr lang="ko-KR" altLang="en-US" dirty="0"/>
              <a:t>적은 양의 라벨 데이터로 추가 학습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05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Pretraining 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시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architecture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에 따른 차이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4275" y="1147421"/>
            <a:ext cx="7733539" cy="1991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en-US" altLang="ko-KR" dirty="0">
                <a:solidFill>
                  <a:schemeClr val="accent1"/>
                </a:solidFill>
                <a:latin typeface="+mn-ea"/>
                <a:ea typeface="+mn-ea"/>
              </a:rPr>
              <a:t>Encoders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1"/>
                </a:solidFill>
                <a:latin typeface="+mn-ea"/>
                <a:ea typeface="+mn-ea"/>
              </a:rPr>
              <a:t>BERT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RoBERTa</a:t>
            </a:r>
            <a:r>
              <a:rPr lang="en-US" altLang="ko-KR" dirty="0">
                <a:latin typeface="+mn-ea"/>
                <a:ea typeface="+mn-ea"/>
              </a:rPr>
              <a:t>, ELECTRA </a:t>
            </a:r>
            <a:r>
              <a:rPr lang="ko-KR" altLang="en-US" dirty="0">
                <a:latin typeface="+mn-ea"/>
                <a:ea typeface="+mn-ea"/>
              </a:rPr>
              <a:t>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양방향</a:t>
            </a:r>
            <a:r>
              <a:rPr lang="en-US" altLang="ko-KR" dirty="0">
                <a:latin typeface="+mn-ea"/>
                <a:ea typeface="+mn-ea"/>
              </a:rPr>
              <a:t>(bidirectional) </a:t>
            </a:r>
            <a:r>
              <a:rPr lang="ko-KR" altLang="en-US" dirty="0">
                <a:latin typeface="+mn-ea"/>
                <a:ea typeface="+mn-ea"/>
              </a:rPr>
              <a:t>문맥을 모두 사용 → </a:t>
            </a:r>
            <a:r>
              <a:rPr lang="ko-KR" altLang="en-US" dirty="0">
                <a:solidFill>
                  <a:schemeClr val="accent1"/>
                </a:solidFill>
                <a:latin typeface="+mn-ea"/>
                <a:ea typeface="+mn-ea"/>
              </a:rPr>
              <a:t>문장의 이해</a:t>
            </a:r>
            <a:r>
              <a:rPr lang="en-US" altLang="ko-KR" dirty="0">
                <a:solidFill>
                  <a:schemeClr val="accent1"/>
                </a:solidFill>
                <a:latin typeface="+mn-ea"/>
                <a:ea typeface="+mn-ea"/>
              </a:rPr>
              <a:t>(understanding) </a:t>
            </a:r>
            <a:r>
              <a:rPr lang="ko-KR" altLang="en-US" dirty="0">
                <a:solidFill>
                  <a:schemeClr val="accent1"/>
                </a:solidFill>
                <a:latin typeface="+mn-ea"/>
                <a:ea typeface="+mn-ea"/>
              </a:rPr>
              <a:t>능력</a:t>
            </a:r>
            <a:r>
              <a:rPr lang="ko-KR" altLang="en-US" dirty="0">
                <a:latin typeface="+mn-ea"/>
                <a:ea typeface="+mn-ea"/>
              </a:rPr>
              <a:t>이 강함 </a:t>
            </a:r>
            <a:endParaRPr lang="en-US" altLang="ko-KR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사전학습 과제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>
                <a:solidFill>
                  <a:schemeClr val="accent1"/>
                </a:solidFill>
                <a:latin typeface="+mn-ea"/>
                <a:ea typeface="+mn-ea"/>
              </a:rPr>
              <a:t>Masked Language Modeling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>
                <a:solidFill>
                  <a:schemeClr val="accent1"/>
                </a:solidFill>
                <a:latin typeface="+mn-ea"/>
                <a:ea typeface="+mn-ea"/>
              </a:rPr>
              <a:t>Next Sentence Prediction </a:t>
            </a:r>
            <a:r>
              <a:rPr lang="ko-KR" altLang="en-US" dirty="0">
                <a:latin typeface="+mn-ea"/>
                <a:ea typeface="+mn-ea"/>
              </a:rPr>
              <a:t>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단어 간의 관계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문법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의미 표현을 잘 학습함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그러나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미래 단어를 보면서 학습하기 때문에 생성</a:t>
            </a:r>
            <a:r>
              <a:rPr lang="en-US" altLang="ko-KR" dirty="0">
                <a:latin typeface="+mn-ea"/>
                <a:ea typeface="+mn-ea"/>
              </a:rPr>
              <a:t>(generation) </a:t>
            </a:r>
            <a:r>
              <a:rPr lang="ko-KR" altLang="en-US" dirty="0">
                <a:latin typeface="+mn-ea"/>
                <a:ea typeface="+mn-ea"/>
              </a:rPr>
              <a:t>용도로는 부적합</a:t>
            </a:r>
          </a:p>
        </p:txBody>
      </p:sp>
    </p:spTree>
    <p:extLst>
      <p:ext uri="{BB962C8B-B14F-4D97-AF65-F5344CB8AC3E}">
        <p14:creationId xmlns:p14="http://schemas.microsoft.com/office/powerpoint/2010/main" val="190375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Encoder Pretraining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08974" y="1511302"/>
            <a:ext cx="7733539" cy="171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j-ea"/>
                <a:ea typeface="+mj-ea"/>
              </a:rPr>
              <a:t>(1) </a:t>
            </a: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Masked Language Modeling </a:t>
            </a:r>
            <a:r>
              <a:rPr lang="en-US" altLang="ko-KR" sz="1200" dirty="0">
                <a:latin typeface="+mj-ea"/>
                <a:ea typeface="+mj-ea"/>
              </a:rPr>
              <a:t>(MLM)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 입력 문장의 일부 단어를 </a:t>
            </a: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[MASK] token</a:t>
            </a:r>
            <a:r>
              <a:rPr lang="ko-KR" altLang="en-US" sz="1200" dirty="0">
                <a:solidFill>
                  <a:schemeClr val="accent1"/>
                </a:solidFill>
                <a:latin typeface="+mj-ea"/>
                <a:ea typeface="+mj-ea"/>
              </a:rPr>
              <a:t>으로 가리고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그 가려진 단어를 예측하도록 학습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 과정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문장 입력 </a:t>
            </a:r>
            <a:r>
              <a:rPr lang="en-US" altLang="ko-KR" sz="1200" dirty="0">
                <a:latin typeface="+mj-ea"/>
                <a:ea typeface="+mj-ea"/>
              </a:rPr>
              <a:t>: “I went to the store”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일부 단어 </a:t>
            </a:r>
            <a:r>
              <a:rPr lang="en-US" altLang="ko-KR" sz="1200" dirty="0">
                <a:latin typeface="+mj-ea"/>
                <a:ea typeface="+mj-ea"/>
              </a:rPr>
              <a:t>[MASK] </a:t>
            </a:r>
            <a:r>
              <a:rPr lang="ko-KR" altLang="en-US" sz="1200" dirty="0">
                <a:latin typeface="+mj-ea"/>
                <a:ea typeface="+mj-ea"/>
              </a:rPr>
              <a:t>처리 </a:t>
            </a:r>
            <a:r>
              <a:rPr lang="en-US" altLang="ko-KR" sz="1200" dirty="0">
                <a:latin typeface="+mj-ea"/>
                <a:ea typeface="+mj-ea"/>
              </a:rPr>
              <a:t>: “I [MASK] to the [MASK]”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인코더는 양쪽 문맥을 모두 보며 가려진 단어</a:t>
            </a:r>
            <a:r>
              <a:rPr lang="en-US" altLang="ko-KR" sz="1200" dirty="0">
                <a:latin typeface="+mj-ea"/>
                <a:ea typeface="+mj-ea"/>
              </a:rPr>
              <a:t>(‘went’, ‘store’)</a:t>
            </a:r>
            <a:r>
              <a:rPr lang="ko-KR" altLang="en-US" sz="1200" dirty="0">
                <a:latin typeface="+mj-ea"/>
                <a:ea typeface="+mj-ea"/>
              </a:rPr>
              <a:t>를 예측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821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Encoder Pretraining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96326D-E1E8-4A84-8C30-A1B64AF2B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117" y="2807121"/>
            <a:ext cx="6710584" cy="2013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2A018-3C28-4BA8-A2A2-A50E5D2D1FAC}"/>
              </a:ext>
            </a:extLst>
          </p:cNvPr>
          <p:cNvSpPr txBox="1"/>
          <p:nvPr/>
        </p:nvSpPr>
        <p:spPr>
          <a:xfrm>
            <a:off x="1410461" y="898406"/>
            <a:ext cx="7733539" cy="171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j-ea"/>
                <a:ea typeface="+mj-ea"/>
              </a:rPr>
              <a:t>(2) </a:t>
            </a: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Next Sentence Prediction</a:t>
            </a:r>
            <a:r>
              <a:rPr lang="en-US" altLang="ko-KR" sz="1200" dirty="0">
                <a:latin typeface="+mj-ea"/>
                <a:ea typeface="+mj-ea"/>
              </a:rPr>
              <a:t> (NSP)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 문장들을 </a:t>
            </a:r>
            <a:r>
              <a:rPr lang="ko-KR" altLang="en-US" sz="1200" dirty="0" err="1">
                <a:latin typeface="+mj-ea"/>
                <a:ea typeface="+mj-ea"/>
              </a:rPr>
              <a:t>입력받고</a:t>
            </a:r>
            <a:r>
              <a:rPr lang="ko-KR" altLang="en-US" sz="1200" dirty="0">
                <a:latin typeface="+mj-ea"/>
                <a:ea typeface="+mj-ea"/>
              </a:rPr>
              <a:t> 각 문장에 </a:t>
            </a:r>
            <a:r>
              <a:rPr lang="en-US" altLang="ko-KR" sz="1200" dirty="0">
                <a:latin typeface="+mj-ea"/>
                <a:ea typeface="+mj-ea"/>
              </a:rPr>
              <a:t>3</a:t>
            </a:r>
            <a:r>
              <a:rPr lang="ko-KR" altLang="en-US" sz="1200" dirty="0">
                <a:latin typeface="+mj-ea"/>
                <a:ea typeface="+mj-ea"/>
              </a:rPr>
              <a:t>가지 </a:t>
            </a:r>
            <a:r>
              <a:rPr lang="en-US" altLang="ko-KR" sz="1200" dirty="0">
                <a:latin typeface="+mj-ea"/>
                <a:ea typeface="+mj-ea"/>
              </a:rPr>
              <a:t>embedding</a:t>
            </a:r>
            <a:r>
              <a:rPr lang="ko-KR" altLang="en-US" sz="1200" dirty="0">
                <a:latin typeface="+mj-ea"/>
                <a:ea typeface="+mj-ea"/>
              </a:rPr>
              <a:t>이 더해진다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Token Embedding 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단어 벡터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Segment Embedding 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문장 </a:t>
            </a:r>
            <a:r>
              <a:rPr lang="en-US" altLang="ko-KR" sz="1200" dirty="0">
                <a:latin typeface="+mj-ea"/>
                <a:ea typeface="+mj-ea"/>
              </a:rPr>
              <a:t>A/B </a:t>
            </a:r>
            <a:r>
              <a:rPr lang="ko-KR" altLang="en-US" sz="1200" dirty="0">
                <a:latin typeface="+mj-ea"/>
                <a:ea typeface="+mj-ea"/>
              </a:rPr>
              <a:t>구분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accent1"/>
                </a:solidFill>
                <a:latin typeface="+mj-ea"/>
                <a:ea typeface="+mj-ea"/>
              </a:rPr>
              <a:t>Position Embedding 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단어 순서 정보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 이 정보들로 두 문장이 이어지는지 분리되는지 판단한다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814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Pretraining 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시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architecture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에 따른 차이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81088" y="871947"/>
            <a:ext cx="7431498" cy="1991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en-US" altLang="ko-KR" dirty="0">
                <a:solidFill>
                  <a:srgbClr val="00B050"/>
                </a:solidFill>
                <a:latin typeface="+mn-ea"/>
                <a:ea typeface="+mn-ea"/>
              </a:rPr>
              <a:t>Decoders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B050"/>
                </a:solidFill>
                <a:latin typeface="+mn-ea"/>
                <a:ea typeface="+mn-ea"/>
              </a:rPr>
              <a:t>GPT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시리즈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en-US" altLang="ko-KR" dirty="0" err="1">
                <a:latin typeface="+mn-ea"/>
                <a:ea typeface="+mn-ea"/>
              </a:rPr>
              <a:t>LLaMA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B050"/>
                </a:solidFill>
                <a:latin typeface="+mn-ea"/>
                <a:ea typeface="+mn-ea"/>
              </a:rPr>
              <a:t>unidirectional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구조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ko-KR" altLang="en-US" dirty="0">
                <a:latin typeface="+mn-ea"/>
                <a:ea typeface="+mn-ea"/>
              </a:rPr>
              <a:t>다음 단어를 예측하면서 학습 </a:t>
            </a:r>
            <a:endParaRPr lang="en-US" altLang="ko-KR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사전학습 과제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>
                <a:solidFill>
                  <a:srgbClr val="00B050"/>
                </a:solidFill>
                <a:latin typeface="+mn-ea"/>
                <a:ea typeface="+mn-ea"/>
              </a:rPr>
              <a:t>Autoregressive LM</a:t>
            </a:r>
            <a:r>
              <a:rPr lang="en-US" altLang="ko-KR" dirty="0">
                <a:latin typeface="+mn-ea"/>
                <a:ea typeface="+mn-ea"/>
              </a:rPr>
              <a:t> (</a:t>
            </a:r>
            <a:r>
              <a:rPr lang="ko-KR" altLang="en-US" dirty="0">
                <a:latin typeface="+mn-ea"/>
                <a:ea typeface="+mn-ea"/>
              </a:rPr>
              <a:t>다음 단어 예측하기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B050"/>
                </a:solidFill>
                <a:latin typeface="+mn-ea"/>
                <a:ea typeface="+mn-ea"/>
              </a:rPr>
              <a:t>문장 생성에 적합 </a:t>
            </a:r>
            <a:endParaRPr lang="en-US" altLang="ko-KR" dirty="0">
              <a:solidFill>
                <a:srgbClr val="00B050"/>
              </a:solidFill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그러나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미래 단어를 볼 수 없기 때문에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문맥 이해는 상대적으로 약함</a:t>
            </a:r>
          </a:p>
        </p:txBody>
      </p:sp>
    </p:spTree>
    <p:extLst>
      <p:ext uri="{BB962C8B-B14F-4D97-AF65-F5344CB8AC3E}">
        <p14:creationId xmlns:p14="http://schemas.microsoft.com/office/powerpoint/2010/main" val="156340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–Decoder Pretraining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08974" y="1055550"/>
            <a:ext cx="7733539" cy="1343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 Decoder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rgbClr val="00B050"/>
                </a:solidFill>
                <a:latin typeface="+mj-ea"/>
                <a:ea typeface="+mj-ea"/>
              </a:rPr>
              <a:t>이전 단어들을 기반으로 다음 단어를 예측하도록 학습</a:t>
            </a:r>
            <a:r>
              <a:rPr lang="ko-KR" altLang="en-US" dirty="0">
                <a:latin typeface="+mj-ea"/>
                <a:ea typeface="+mj-ea"/>
              </a:rPr>
              <a:t>된 </a:t>
            </a:r>
            <a:r>
              <a:rPr lang="en-US" altLang="ko-KR" dirty="0">
                <a:latin typeface="+mj-ea"/>
                <a:ea typeface="+mj-ea"/>
              </a:rPr>
              <a:t>Language Model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 Decoder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Pretraining </a:t>
            </a:r>
            <a:r>
              <a:rPr lang="ko-KR" altLang="en-US" dirty="0">
                <a:latin typeface="+mj-ea"/>
                <a:ea typeface="+mj-ea"/>
              </a:rPr>
              <a:t>시 모델이 학습하는 확률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ko-KR" dirty="0">
                <a:latin typeface="+mj-ea"/>
                <a:ea typeface="+mj-ea"/>
              </a:rPr>
              <a:t>→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앞의 단어들을 보고 다음 단어를 예측하는 </a:t>
            </a:r>
            <a:r>
              <a:rPr lang="en-US" altLang="ko-KR" dirty="0" err="1">
                <a:solidFill>
                  <a:srgbClr val="00B050"/>
                </a:solidFill>
                <a:latin typeface="+mj-ea"/>
                <a:ea typeface="+mj-ea"/>
              </a:rPr>
              <a:t>AutoRegressive</a:t>
            </a:r>
            <a:r>
              <a:rPr lang="ko-KR" altLang="en-US" dirty="0">
                <a:latin typeface="+mj-ea"/>
                <a:ea typeface="+mj-ea"/>
              </a:rPr>
              <a:t> 방식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364201-797D-4841-B20C-66066FE0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794" y="2571750"/>
            <a:ext cx="3019206" cy="7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9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–Decoder Pretraining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53963" y="913235"/>
            <a:ext cx="7733539" cy="1995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j-ea"/>
                <a:ea typeface="+mj-ea"/>
              </a:rPr>
              <a:t>(1) </a:t>
            </a:r>
            <a:r>
              <a:rPr lang="en-US" altLang="ko-KR" sz="1200" dirty="0">
                <a:solidFill>
                  <a:srgbClr val="00B050"/>
                </a:solidFill>
                <a:latin typeface="+mj-ea"/>
                <a:ea typeface="+mj-ea"/>
              </a:rPr>
              <a:t>generation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목적 → </a:t>
            </a:r>
            <a:r>
              <a:rPr lang="en-US" altLang="ko-KR" sz="1200" dirty="0">
                <a:latin typeface="+mj-ea"/>
                <a:ea typeface="+mj-ea"/>
              </a:rPr>
              <a:t>Decoder</a:t>
            </a:r>
            <a:r>
              <a:rPr lang="ko-KR" altLang="en-US" sz="1200" dirty="0">
                <a:latin typeface="+mj-ea"/>
                <a:ea typeface="+mj-ea"/>
              </a:rPr>
              <a:t>의 정의이기 때문에 따로 </a:t>
            </a:r>
            <a:r>
              <a:rPr lang="en-US" altLang="ko-KR" sz="1200" dirty="0">
                <a:latin typeface="+mj-ea"/>
                <a:ea typeface="+mj-ea"/>
              </a:rPr>
              <a:t>Fine-Tuning </a:t>
            </a:r>
            <a:r>
              <a:rPr lang="ko-KR" altLang="en-US" sz="1200" dirty="0">
                <a:latin typeface="+mj-ea"/>
                <a:ea typeface="+mj-ea"/>
              </a:rPr>
              <a:t>할 필요가 없다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err="1">
                <a:latin typeface="+mj-ea"/>
                <a:ea typeface="+mj-ea"/>
              </a:rPr>
              <a:t>PreTraining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시 아래 확률 학습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 Fine-Tuning </a:t>
            </a:r>
            <a:r>
              <a:rPr lang="ko-KR" altLang="en-US" sz="1200" dirty="0">
                <a:latin typeface="+mj-ea"/>
                <a:ea typeface="+mj-ea"/>
              </a:rPr>
              <a:t>후에도 구조 유지 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en-US" altLang="ko-KR" sz="1200" dirty="0">
                <a:solidFill>
                  <a:srgbClr val="00B050"/>
                </a:solidFill>
                <a:latin typeface="+mj-ea"/>
                <a:ea typeface="+mj-ea"/>
              </a:rPr>
              <a:t>Linear Layer </a:t>
            </a:r>
            <a:r>
              <a:rPr lang="en-US" altLang="ko-KR" sz="1200" dirty="0" err="1">
                <a:solidFill>
                  <a:srgbClr val="00B050"/>
                </a:solidFill>
                <a:latin typeface="+mj-ea"/>
                <a:ea typeface="+mj-ea"/>
              </a:rPr>
              <a:t>A,b</a:t>
            </a:r>
            <a:r>
              <a:rPr lang="ko-KR" altLang="en-US" sz="1200" dirty="0">
                <a:solidFill>
                  <a:srgbClr val="00B050"/>
                </a:solidFill>
                <a:latin typeface="+mj-ea"/>
                <a:ea typeface="+mj-ea"/>
              </a:rPr>
              <a:t>는 이미 학습된 상태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 출력이 문장인 작업들에 적합하다</a:t>
            </a:r>
            <a:r>
              <a:rPr lang="en-US" altLang="ko-KR" sz="1200" dirty="0">
                <a:latin typeface="+mj-ea"/>
                <a:ea typeface="+mj-ea"/>
              </a:rPr>
              <a:t>. (Dialogue, Summarization)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8B67AB-C1B8-419A-A0AF-4F1D5ADA8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4" y="1542125"/>
            <a:ext cx="1712369" cy="5321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AA1864-C2E5-4E17-9AAF-030B0B342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74" y="3473289"/>
            <a:ext cx="4358918" cy="985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45E24C-8F70-4AD9-BB1F-893456EAA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63" y="2690375"/>
            <a:ext cx="3332439" cy="233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5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4" y="323204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–Decoder Pretraining</a:t>
            </a:r>
            <a:endParaRPr lang="ko-KR" altLang="en-US" sz="2000" b="1" dirty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53963" y="913235"/>
            <a:ext cx="7733539" cy="171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(2) </a:t>
            </a:r>
            <a:r>
              <a:rPr lang="en-US" altLang="ko-KR" sz="1200" dirty="0">
                <a:solidFill>
                  <a:srgbClr val="00B050"/>
                </a:solidFill>
                <a:latin typeface="+mn-ea"/>
                <a:ea typeface="+mn-ea"/>
              </a:rPr>
              <a:t>classification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목적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Pretraining</a:t>
            </a:r>
            <a:r>
              <a:rPr lang="ko-KR" altLang="en-US" sz="1200" dirty="0">
                <a:latin typeface="+mn-ea"/>
                <a:ea typeface="+mn-ea"/>
              </a:rPr>
              <a:t>은 동일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그러나 </a:t>
            </a:r>
            <a:r>
              <a:rPr lang="en-US" altLang="ko-KR" sz="1200" dirty="0">
                <a:latin typeface="+mn-ea"/>
                <a:ea typeface="+mn-ea"/>
              </a:rPr>
              <a:t>fine-tuning </a:t>
            </a:r>
            <a:r>
              <a:rPr lang="ko-KR" altLang="en-US" sz="1200" dirty="0">
                <a:latin typeface="+mn-ea"/>
                <a:ea typeface="+mn-ea"/>
              </a:rPr>
              <a:t>할 때 목적에 맞게 바꿔주면 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Pretrain</a:t>
            </a:r>
            <a:r>
              <a:rPr lang="ko-KR" altLang="en-US" sz="1200" dirty="0">
                <a:latin typeface="+mn-ea"/>
                <a:ea typeface="+mn-ea"/>
              </a:rPr>
              <a:t>된 </a:t>
            </a:r>
            <a:r>
              <a:rPr lang="en-US" altLang="ko-KR" sz="1200" dirty="0">
                <a:latin typeface="+mn-ea"/>
                <a:ea typeface="+mn-ea"/>
              </a:rPr>
              <a:t>Decoder </a:t>
            </a:r>
            <a:r>
              <a:rPr lang="ko-KR" altLang="en-US" sz="1200" dirty="0">
                <a:latin typeface="+mn-ea"/>
                <a:ea typeface="+mn-ea"/>
              </a:rPr>
              <a:t>가져와서 </a:t>
            </a:r>
            <a:r>
              <a:rPr lang="en-US" altLang="ko-KR" sz="1200" dirty="0">
                <a:latin typeface="+mn-ea"/>
                <a:ea typeface="+mn-ea"/>
              </a:rPr>
              <a:t>Fine-Tuning </a:t>
            </a:r>
            <a:r>
              <a:rPr lang="ko-KR" altLang="en-US" sz="1200" dirty="0">
                <a:latin typeface="+mn-ea"/>
                <a:ea typeface="+mn-ea"/>
              </a:rPr>
              <a:t>하면 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  <a:ea typeface="+mn-ea"/>
              </a:rPr>
              <a:t> 마지막 </a:t>
            </a:r>
            <a:r>
              <a:rPr lang="en-US" altLang="ko-KR" sz="1200" dirty="0">
                <a:latin typeface="+mn-ea"/>
                <a:ea typeface="+mn-ea"/>
              </a:rPr>
              <a:t>hidden state</a:t>
            </a:r>
            <a:r>
              <a:rPr lang="ko-KR" altLang="en-US" sz="1200" dirty="0">
                <a:latin typeface="+mn-ea"/>
                <a:ea typeface="+mn-ea"/>
              </a:rPr>
              <a:t>를 이용해 새로 분류기를 붙임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solidFill>
                  <a:srgbClr val="00B050"/>
                </a:solidFill>
                <a:latin typeface="+mn-ea"/>
                <a:ea typeface="+mn-ea"/>
              </a:rPr>
              <a:t>A,b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새로 </a:t>
            </a:r>
            <a:r>
              <a:rPr lang="ko-KR" altLang="en-US" sz="1200" dirty="0">
                <a:solidFill>
                  <a:srgbClr val="00B050"/>
                </a:solidFill>
                <a:latin typeface="+mn-ea"/>
                <a:ea typeface="+mn-ea"/>
              </a:rPr>
              <a:t>초기화된</a:t>
            </a:r>
            <a:r>
              <a:rPr lang="ko-KR" altLang="en-US" sz="1200" dirty="0">
                <a:latin typeface="+mn-ea"/>
                <a:ea typeface="+mn-ea"/>
              </a:rPr>
              <a:t> 분류기 파라미터 </a:t>
            </a:r>
            <a:r>
              <a:rPr lang="en-US" altLang="ko-KR" sz="1200" dirty="0">
                <a:latin typeface="+mn-ea"/>
                <a:ea typeface="+mn-ea"/>
              </a:rPr>
              <a:t>→ </a:t>
            </a:r>
            <a:r>
              <a:rPr lang="ko-KR" altLang="en-US" sz="1200" dirty="0">
                <a:latin typeface="+mn-ea"/>
                <a:ea typeface="+mn-ea"/>
              </a:rPr>
              <a:t>이건 </a:t>
            </a:r>
            <a:r>
              <a:rPr lang="ko-KR" altLang="en-US" sz="1200" dirty="0">
                <a:solidFill>
                  <a:srgbClr val="00B050"/>
                </a:solidFill>
                <a:latin typeface="+mn-ea"/>
                <a:ea typeface="+mn-ea"/>
              </a:rPr>
              <a:t>새로 학습해야 한다</a:t>
            </a:r>
            <a:endParaRPr lang="en-US" altLang="ko-KR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  <a:ea typeface="+mn-ea"/>
              </a:rPr>
              <a:t> 마지막 토큰 벡터에 </a:t>
            </a:r>
            <a:r>
              <a:rPr lang="en-US" altLang="ko-KR" sz="1200" dirty="0">
                <a:latin typeface="+mn-ea"/>
                <a:ea typeface="+mn-ea"/>
              </a:rPr>
              <a:t>Linear Layer</a:t>
            </a:r>
            <a:r>
              <a:rPr lang="ko-KR" altLang="en-US" sz="1200" dirty="0">
                <a:latin typeface="+mn-ea"/>
                <a:ea typeface="+mn-ea"/>
              </a:rPr>
              <a:t>을 붙여 분류하는 구조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2503D2-310D-4D86-879D-462BFF659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985" y="3395637"/>
            <a:ext cx="3728882" cy="919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8B94D76-2BC4-4FDD-B61A-86E07A40346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09"/>
          <a:stretch/>
        </p:blipFill>
        <p:spPr>
          <a:xfrm>
            <a:off x="5745943" y="2367555"/>
            <a:ext cx="3113330" cy="251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9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94146" y="234235"/>
            <a:ext cx="7362871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9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주차 스터디 내용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– Pretraining 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시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architecture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에 따른 차이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3245" y="792863"/>
            <a:ext cx="7431498" cy="19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en-US" altLang="ko-KR" dirty="0">
                <a:solidFill>
                  <a:srgbClr val="7030A0"/>
                </a:solidFill>
                <a:latin typeface="+mn-ea"/>
                <a:ea typeface="+mn-ea"/>
              </a:rPr>
              <a:t>Encoders - Decoders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  <a:ea typeface="+mn-ea"/>
              </a:rPr>
              <a:t>T5, </a:t>
            </a:r>
            <a:r>
              <a:rPr lang="en-US" altLang="ko-KR" dirty="0">
                <a:solidFill>
                  <a:srgbClr val="7030A0"/>
                </a:solidFill>
                <a:latin typeface="+mn-ea"/>
                <a:ea typeface="+mn-ea"/>
              </a:rPr>
              <a:t>BART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등 </a:t>
            </a:r>
            <a:endParaRPr lang="en-US" altLang="ko-KR" dirty="0">
              <a:latin typeface="+mn-ea"/>
              <a:ea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사전학습 과제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>
                <a:solidFill>
                  <a:srgbClr val="7030A0"/>
                </a:solidFill>
                <a:latin typeface="+mn-ea"/>
                <a:ea typeface="+mn-ea"/>
              </a:rPr>
              <a:t>Span Corruption</a:t>
            </a:r>
            <a:r>
              <a:rPr lang="en-US" altLang="ko-KR" dirty="0">
                <a:latin typeface="+mn-ea"/>
                <a:ea typeface="+mn-ea"/>
              </a:rPr>
              <a:t>(Denoising)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인코더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입력 이해</a:t>
            </a:r>
            <a:r>
              <a:rPr lang="en-US" altLang="ko-KR" dirty="0">
                <a:latin typeface="+mn-ea"/>
                <a:ea typeface="+mn-ea"/>
              </a:rPr>
              <a:t>) + </a:t>
            </a:r>
            <a:r>
              <a:rPr lang="ko-KR" altLang="en-US" dirty="0" err="1">
                <a:latin typeface="+mn-ea"/>
                <a:ea typeface="+mn-ea"/>
              </a:rPr>
              <a:t>디코더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출력 생성</a:t>
            </a:r>
            <a:r>
              <a:rPr lang="en-US" altLang="ko-KR" dirty="0">
                <a:latin typeface="+mn-ea"/>
                <a:ea typeface="+mn-ea"/>
              </a:rPr>
              <a:t>) </a:t>
            </a:r>
            <a:r>
              <a:rPr lang="ko-KR" altLang="en-US" dirty="0">
                <a:latin typeface="+mn-ea"/>
                <a:ea typeface="+mn-ea"/>
              </a:rPr>
              <a:t>구조로 구성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인코더는 전체 문장을 양방향으로 인코딩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 err="1">
                <a:latin typeface="+mn-ea"/>
                <a:ea typeface="+mn-ea"/>
              </a:rPr>
              <a:t>디코더는</a:t>
            </a:r>
            <a:r>
              <a:rPr lang="ko-KR" altLang="en-US" dirty="0">
                <a:latin typeface="+mn-ea"/>
                <a:ea typeface="+mn-ea"/>
              </a:rPr>
              <a:t> 이를 받아 한 </a:t>
            </a:r>
            <a:r>
              <a:rPr lang="ko-KR" altLang="en-US" dirty="0" err="1">
                <a:latin typeface="+mn-ea"/>
                <a:ea typeface="+mn-ea"/>
              </a:rPr>
              <a:t>단어씩</a:t>
            </a:r>
            <a:r>
              <a:rPr lang="ko-KR" altLang="en-US" dirty="0">
                <a:latin typeface="+mn-ea"/>
                <a:ea typeface="+mn-ea"/>
              </a:rPr>
              <a:t> 생성함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  <a:ea typeface="+mn-ea"/>
              </a:rPr>
              <a:t>입력 이해 </a:t>
            </a:r>
            <a:r>
              <a:rPr lang="en-US" altLang="ko-KR" dirty="0">
                <a:latin typeface="+mn-ea"/>
                <a:ea typeface="+mn-ea"/>
              </a:rPr>
              <a:t>+ </a:t>
            </a:r>
            <a:r>
              <a:rPr lang="ko-KR" altLang="en-US" dirty="0">
                <a:latin typeface="+mn-ea"/>
                <a:ea typeface="+mn-ea"/>
              </a:rPr>
              <a:t>출력 생성 모두 가능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000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7;p14"/>
          <p:cNvSpPr txBox="1"/>
          <p:nvPr/>
        </p:nvSpPr>
        <p:spPr>
          <a:xfrm>
            <a:off x="1448354" y="861326"/>
            <a:ext cx="4659331" cy="92329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latin typeface="나눔스퀘어"/>
                <a:ea typeface="나눔스퀘어"/>
              </a:rPr>
              <a:t>&lt;</a:t>
            </a:r>
            <a:r>
              <a:rPr lang="ko-KR" altLang="en-US" sz="1600" b="1" dirty="0">
                <a:latin typeface="나눔스퀘어"/>
                <a:ea typeface="나눔스퀘어"/>
              </a:rPr>
              <a:t>정기 회의</a:t>
            </a:r>
            <a:r>
              <a:rPr lang="en-US" altLang="ko-KR" sz="1600" b="1" dirty="0">
                <a:latin typeface="나눔스퀘어"/>
                <a:ea typeface="나눔스퀘어"/>
              </a:rPr>
              <a:t>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latin typeface="나눔스퀘어"/>
                <a:ea typeface="나눔스퀘어"/>
              </a:rPr>
              <a:t>날짜 </a:t>
            </a:r>
            <a:r>
              <a:rPr lang="en-US" altLang="ko-KR" sz="1600" b="1" dirty="0">
                <a:latin typeface="나눔스퀘어"/>
                <a:ea typeface="나눔스퀘어"/>
              </a:rPr>
              <a:t>: </a:t>
            </a:r>
            <a:r>
              <a:rPr lang="ko-KR" altLang="en-US" sz="1600" b="1" dirty="0">
                <a:latin typeface="나눔스퀘어"/>
                <a:ea typeface="나눔스퀘어"/>
              </a:rPr>
              <a:t>매주 목요일 </a:t>
            </a:r>
            <a:r>
              <a:rPr lang="en-US" altLang="ko-KR" sz="1600" b="1" dirty="0">
                <a:latin typeface="나눔스퀘어"/>
                <a:ea typeface="나눔스퀘어"/>
              </a:rPr>
              <a:t>18</a:t>
            </a:r>
            <a:r>
              <a:rPr lang="ko-KR" altLang="en-US" sz="1600" b="1" dirty="0">
                <a:latin typeface="나눔스퀘어"/>
                <a:ea typeface="나눔스퀘어"/>
              </a:rPr>
              <a:t>시 </a:t>
            </a:r>
            <a:r>
              <a:rPr lang="en-US" altLang="ko-KR" sz="1600" b="1" dirty="0">
                <a:latin typeface="나눔스퀘어"/>
                <a:ea typeface="나눔스퀘어"/>
              </a:rPr>
              <a:t>(</a:t>
            </a:r>
            <a:r>
              <a:rPr lang="ko-KR" altLang="en-US" sz="1600" b="1" dirty="0">
                <a:latin typeface="나눔스퀘어"/>
                <a:ea typeface="나눔스퀘어"/>
              </a:rPr>
              <a:t>대면</a:t>
            </a:r>
            <a:r>
              <a:rPr lang="en-US" altLang="ko-KR" sz="1600" b="1" dirty="0">
                <a:latin typeface="나눔스퀘어"/>
                <a:ea typeface="나눔스퀘어"/>
              </a:rPr>
              <a:t>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latin typeface="나눔스퀘어"/>
                <a:ea typeface="나눔스퀘어"/>
              </a:rPr>
              <a:t>장소 </a:t>
            </a:r>
            <a:r>
              <a:rPr lang="en-US" altLang="ko-KR" sz="1600" b="1" dirty="0">
                <a:latin typeface="나눔스퀘어"/>
                <a:ea typeface="나눔스퀘어"/>
              </a:rPr>
              <a:t>: </a:t>
            </a:r>
            <a:r>
              <a:rPr lang="ko-KR" altLang="en-US" sz="1600" b="1" dirty="0">
                <a:latin typeface="나눔스퀘어"/>
                <a:ea typeface="나눔스퀘어"/>
              </a:rPr>
              <a:t>중앙대학교 도서관 </a:t>
            </a:r>
            <a:r>
              <a:rPr lang="ko-KR" altLang="en-US" sz="1600" b="1" dirty="0" err="1">
                <a:latin typeface="나눔스퀘어"/>
                <a:ea typeface="나눔스퀘어"/>
              </a:rPr>
              <a:t>스터디룸</a:t>
            </a:r>
            <a:endParaRPr lang="ko-KR" altLang="en-US" sz="1600" b="1" dirty="0">
              <a:latin typeface="나눔스퀘어"/>
              <a:ea typeface="나눔스퀘어"/>
            </a:endParaRPr>
          </a:p>
        </p:txBody>
      </p:sp>
      <p:sp>
        <p:nvSpPr>
          <p:cNvPr id="3" name="Google Shape;66;p14"/>
          <p:cNvSpPr txBox="1"/>
          <p:nvPr/>
        </p:nvSpPr>
        <p:spPr>
          <a:xfrm>
            <a:off x="1408975" y="322747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진행 방식 및 향후 계획</a:t>
            </a:r>
          </a:p>
        </p:txBody>
      </p:sp>
      <p:sp>
        <p:nvSpPr>
          <p:cNvPr id="4" name="Google Shape;66;p14"/>
          <p:cNvSpPr txBox="1"/>
          <p:nvPr/>
        </p:nvSpPr>
        <p:spPr>
          <a:xfrm>
            <a:off x="1794690" y="2779091"/>
            <a:ext cx="1481907" cy="50318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8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D60E13A7-FD11-411D-845B-8D161FF28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22253"/>
              </p:ext>
            </p:extLst>
          </p:nvPr>
        </p:nvGraphicFramePr>
        <p:xfrm>
          <a:off x="1494343" y="2091743"/>
          <a:ext cx="7189985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4487">
                  <a:extLst>
                    <a:ext uri="{9D8B030D-6E8A-4147-A177-3AD203B41FA5}">
                      <a16:colId xmlns:a16="http://schemas.microsoft.com/office/drawing/2014/main" val="1730211531"/>
                    </a:ext>
                  </a:extLst>
                </a:gridCol>
                <a:gridCol w="5995498">
                  <a:extLst>
                    <a:ext uri="{9D8B030D-6E8A-4147-A177-3AD203B41FA5}">
                      <a16:colId xmlns:a16="http://schemas.microsoft.com/office/drawing/2014/main" val="191829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11/06 (</a:t>
                      </a:r>
                      <a:r>
                        <a:rPr lang="ko-KR" altLang="en-US" u="none" dirty="0">
                          <a:solidFill>
                            <a:schemeClr val="tx1"/>
                          </a:solidFill>
                        </a:rPr>
                        <a:t>목</a:t>
                      </a: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Efficient Neural Network Training</a:t>
                      </a:r>
                    </a:p>
                    <a:p>
                      <a:pPr algn="l" latinLnBrk="1"/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Speech Brain-Computer Interface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32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11/13 (</a:t>
                      </a:r>
                      <a:r>
                        <a:rPr lang="ko-KR" altLang="en-US" u="none" dirty="0">
                          <a:solidFill>
                            <a:schemeClr val="tx1"/>
                          </a:solidFill>
                        </a:rPr>
                        <a:t>목</a:t>
                      </a: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14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Reasoning and Agents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논문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: </a:t>
                      </a:r>
                      <a:r>
                        <a:rPr lang="en-US" altLang="ko-KR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ReAct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: Synergizing Reasoning and Acting in Language Models</a:t>
                      </a:r>
                      <a:endParaRPr lang="en-US" altLang="ko-KR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58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11/20 (</a:t>
                      </a:r>
                      <a:r>
                        <a:rPr lang="ko-KR" altLang="en-US" u="none" dirty="0">
                          <a:solidFill>
                            <a:schemeClr val="tx1"/>
                          </a:solidFill>
                        </a:rPr>
                        <a:t>목</a:t>
                      </a: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Life after DPO</a:t>
                      </a:r>
                    </a:p>
                    <a:p>
                      <a:pPr algn="l" latinLnBrk="1"/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16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</a:t>
                      </a:r>
                      <a:r>
                        <a:rPr lang="en-US" altLang="ko-KR" sz="14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ConvNets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Tree Recursive Neural Networks and Constituency Parsing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09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11/27 (</a:t>
                      </a:r>
                      <a:r>
                        <a:rPr lang="ko-KR" altLang="en-US" u="none" dirty="0">
                          <a:solidFill>
                            <a:schemeClr val="tx1"/>
                          </a:solidFill>
                        </a:rPr>
                        <a:t>목</a:t>
                      </a:r>
                      <a:r>
                        <a:rPr lang="en-US" altLang="ko-KR" u="non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논문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: Convolutional Neural Networks for Sentence Classification</a:t>
                      </a:r>
                      <a:endParaRPr lang="en-US" altLang="ko-KR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l" latinLnBrk="1"/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17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강 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An Introduction to Responsible NLP</a:t>
                      </a:r>
                      <a:endParaRPr lang="ko-KR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29842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760</Words>
  <Application>Microsoft Office PowerPoint</Application>
  <PresentationFormat>화면 슬라이드 쇼(16:9)</PresentationFormat>
  <Paragraphs>104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나눔고딕</vt:lpstr>
      <vt:lpstr>나눔스퀘어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donghyeok</cp:lastModifiedBy>
  <cp:revision>86</cp:revision>
  <dcterms:modified xsi:type="dcterms:W3CDTF">2025-10-28T07:43:41Z</dcterms:modified>
  <cp:version>1000.0000.01</cp:version>
</cp:coreProperties>
</file>