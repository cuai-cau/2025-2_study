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9" r:id="rId4"/>
    <p:sldId id="272" r:id="rId5"/>
    <p:sldId id="268" r:id="rId6"/>
    <p:sldId id="269" r:id="rId7"/>
    <p:sldId id="273" r:id="rId8"/>
    <p:sldId id="274" r:id="rId9"/>
    <p:sldId id="276" r:id="rId10"/>
    <p:sldId id="271" r:id="rId11"/>
    <p:sldId id="261" r:id="rId12"/>
  </p:sldIdLst>
  <p:sldSz cx="9144000" cy="5143500" type="screen16x9"/>
  <p:notesSz cx="6858000" cy="9144000"/>
  <p:embeddedFontLst>
    <p:embeddedFont>
      <p:font typeface="나눔바른고딕" panose="020B0603020101020101" pitchFamily="34" charset="-127"/>
      <p:regular r:id="rId14"/>
      <p:bold r:id="rId15"/>
    </p:embeddedFont>
    <p:embeddedFont>
      <p:font typeface="Cambria Math" panose="02040503050406030204" pitchFamily="18" charset="0"/>
      <p:regular r:id="rId16"/>
    </p:embeddedFont>
    <p:embeddedFont>
      <p:font typeface="NanumGothic ExtraBold" panose="020D0604000000000000" pitchFamily="34" charset="-127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CE0"/>
    <a:srgbClr val="6A738C"/>
    <a:srgbClr val="212D4D"/>
    <a:srgbClr val="A1ADCB"/>
    <a:srgbClr val="4356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93" autoAdjust="0"/>
    <p:restoredTop sz="66759"/>
  </p:normalViewPr>
  <p:slideViewPr>
    <p:cSldViewPr snapToGrid="0">
      <p:cViewPr varScale="1">
        <p:scale>
          <a:sx n="103" d="100"/>
          <a:sy n="103" d="100"/>
        </p:scale>
        <p:origin x="186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안녕하세요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오늘은 저희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CS285 Deep Reinforcement Learning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스터디에서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Lecture 7</a:t>
            </a:r>
            <a:r>
              <a:rPr lang="ko-KR" altLang="en-US" b="1" i="0" u="none" strike="noStrike" dirty="0" err="1">
                <a:solidFill>
                  <a:srgbClr val="000000"/>
                </a:solidFill>
                <a:effectLst/>
              </a:rPr>
              <a:t>부터</a:t>
            </a:r>
            <a:r>
              <a:rPr lang="ko-KR" altLang="en-US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Lecture 11</a:t>
            </a:r>
            <a:r>
              <a:rPr lang="ko-KR" altLang="en-US" b="1" i="0" u="none" strike="noStrike" dirty="0">
                <a:solidFill>
                  <a:srgbClr val="000000"/>
                </a:solidFill>
                <a:effectLst/>
              </a:rPr>
              <a:t>까지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배운 내용을 간단하게 정리해 </a:t>
            </a:r>
            <a:r>
              <a:rPr lang="ko-KR" alt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발표드리겠습니다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발표는 </a:t>
            </a:r>
            <a:r>
              <a:rPr lang="ko-KR" alt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태아카입니다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먼저 저희 스터디는 김성민 님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박준우 님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그리고 제가 함께 하고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매주 비대면으로 정해진 강의를 </a:t>
            </a:r>
            <a:r>
              <a:rPr lang="ko-KR" alt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학습고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정리하는 방식으로 진행하고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Google Shape;78;g118d7eca593_0_30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가장 기본적인 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정책 반복</a:t>
                </a:r>
                <a:r>
                  <a:rPr lang="en-US" altLang="ko-KR" b="1" i="0" u="none" strike="noStrike" dirty="0">
                    <a:solidFill>
                      <a:srgbClr val="000000"/>
                    </a:solidFill>
                    <a:effectLst/>
                  </a:rPr>
                  <a:t>(</a:t>
                </a: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Policy Iteration)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구조인데 두 단계로 구성됩니다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cs typeface="Arial"/>
                  <a:sym typeface="Arial"/>
                </a:endParaRPr>
              </a:p>
              <a:p>
                <a:r>
                  <a:rPr lang="ko-KR" altLang="en-US" b="1" dirty="0"/>
                  <a:t>정책 평가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현재 정책 </a:t>
                </a:r>
                <a:r>
                  <a:rPr lang="el-GR" dirty="0"/>
                  <a:t>π</a:t>
                </a:r>
                <a:r>
                  <a:rPr lang="ko-KR" altLang="en-US" dirty="0"/>
                  <a:t>가 있을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그 정책을 따랐을 때 얻게 되는 상태 가치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100" b="0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</m:ctrlPr>
                      </m:sSupPr>
                      <m:e>
                        <m:r>
                          <a:rPr lang="ar-AE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𝑉</m:t>
                        </m:r>
                      </m:e>
                      <m:sup>
                        <m:r>
                          <a:rPr lang="ar-AE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ar-AE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</m:ctrlPr>
                      </m:dPr>
                      <m:e>
                        <m:r>
                          <a:rPr lang="ar-AE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𝑠</m:t>
                        </m:r>
                      </m:e>
                    </m:d>
                  </m:oMath>
                </a14:m>
                <a:r>
                  <a:rPr lang="ko-KR" altLang="en-US" dirty="0" err="1"/>
                  <a:t>를</a:t>
                </a:r>
                <a:r>
                  <a:rPr lang="ko-KR" altLang="en-US" dirty="0"/>
                  <a:t> 계산합니다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b="1" dirty="0"/>
                  <a:t>정책 개선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계산된 가치 기준으로 더 좋은 정책 </a:t>
                </a:r>
                <a:r>
                  <a:rPr lang="el-GR" dirty="0"/>
                  <a:t>π′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만듭니다</a:t>
                </a:r>
                <a:endParaRPr lang="en-US" altLang="ko-KR" dirty="0"/>
              </a:p>
              <a:p>
                <a:endParaRPr lang="en-US" altLang="ko-K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ko-KR" altLang="en-US" b="0" i="0" u="none" strike="noStrike" dirty="0">
                    <a:solidFill>
                      <a:srgbClr val="000000"/>
                    </a:solidFill>
                    <a:effectLst/>
                  </a:rPr>
                  <a:t>여기서 정책 개선은 상태 </a:t>
                </a:r>
                <a:r>
                  <a:rPr lang="en-US" b="0" i="0" u="none" strike="noStrike" dirty="0" err="1">
                    <a:solidFill>
                      <a:srgbClr val="000000"/>
                    </a:solidFill>
                    <a:effectLst/>
                  </a:rPr>
                  <a:t>s_t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 </a:t>
                </a:r>
                <a:r>
                  <a:rPr lang="ko-KR" altLang="en-US" b="0" i="0" u="none" strike="noStrike" dirty="0">
                    <a:solidFill>
                      <a:srgbClr val="000000"/>
                    </a:solidFill>
                    <a:effectLst/>
                  </a:rPr>
                  <a:t>에서 가장 높은 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Advantage</a:t>
                </a:r>
                <a:r>
                  <a:rPr lang="ko-KR" altLang="en-US" b="0" i="0" u="none" strike="noStrike" dirty="0" err="1">
                    <a:solidFill>
                      <a:srgbClr val="000000"/>
                    </a:solidFill>
                    <a:effectLst/>
                  </a:rPr>
                  <a:t>를</a:t>
                </a:r>
                <a:r>
                  <a:rPr lang="ko-KR" altLang="en-US" b="0" i="0" u="none" strike="noStrike" dirty="0">
                    <a:solidFill>
                      <a:srgbClr val="000000"/>
                    </a:solidFill>
                    <a:effectLst/>
                  </a:rPr>
                  <a:t> 주는 행동을 선택하는 방식으로 이루어집니다</a:t>
                </a:r>
                <a:r>
                  <a:rPr lang="en-US" altLang="ko-KR" b="0" i="0" u="none" strike="noStrike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lang="en-US" altLang="ko-KR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정책 평가 식 </a:t>
                </a:r>
                <a:r>
                  <a:rPr lang="en-US" altLang="ko-KR" b="1" i="0" u="none" strike="noStrike" dirty="0">
                    <a:solidFill>
                      <a:srgbClr val="000000"/>
                    </a:solidFill>
                    <a:effectLst/>
                  </a:rPr>
                  <a:t>=&gt;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 </a:t>
                </a:r>
                <a:endParaRPr lang="en-US" altLang="ko-KR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현재 상태에서 정책이 선택한 행동의 보상과</a:t>
                </a:r>
                <a:br>
                  <a:rPr lang="ko-KR" altLang="en-US" dirty="0"/>
                </a:b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다음 상태의 미래 가치를 더해가며 정책의 성능을 평가하는 과정입니다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dirty="0"/>
              </a:p>
            </p:txBody>
          </p:sp>
        </mc:Choice>
        <mc:Fallback>
          <p:sp>
            <p:nvSpPr>
              <p:cNvPr id="78" name="Google Shape;78;g118d7eca593_0_30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가장 기본적인 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정책 반복</a:t>
                </a:r>
                <a:r>
                  <a:rPr lang="en-US" altLang="ko-KR" b="1" i="0" u="none" strike="noStrike" dirty="0">
                    <a:solidFill>
                      <a:srgbClr val="000000"/>
                    </a:solidFill>
                    <a:effectLst/>
                  </a:rPr>
                  <a:t>(</a:t>
                </a: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Policy Iteration)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구조인데 두 단계로 구성됩니다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: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cs typeface="Arial"/>
                  <a:sym typeface="Arial"/>
                </a:endParaRPr>
              </a:p>
              <a:p>
                <a:r>
                  <a:rPr lang="ko-KR" altLang="en-US" b="1" dirty="0"/>
                  <a:t>정책 평가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현재 정책 </a:t>
                </a:r>
                <a:r>
                  <a:rPr lang="el-GR" dirty="0"/>
                  <a:t>π</a:t>
                </a:r>
                <a:r>
                  <a:rPr lang="ko-KR" altLang="en-US" dirty="0"/>
                  <a:t>가 있을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그 정책을 따랐을 때 얻게 되는 상태 가치 </a:t>
                </a:r>
                <a:r>
                  <a:rPr lang="ar-AE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𝑉^𝜋 </a:t>
                </a:r>
                <a:r>
                  <a:rPr lang="ar-AE" sz="1100" b="0" i="0" u="none" strike="noStrike" cap="none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(</a:t>
                </a:r>
                <a:r>
                  <a:rPr lang="ar-AE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𝑠)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계산합니다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b="1" dirty="0"/>
                  <a:t>정책 개선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계산된 가치 기준으로 더 좋은 정책 </a:t>
                </a:r>
                <a:r>
                  <a:rPr lang="el-GR" dirty="0"/>
                  <a:t>π′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만듭니다</a:t>
                </a:r>
                <a:endParaRPr lang="en-US" altLang="ko-KR" dirty="0"/>
              </a:p>
              <a:p>
                <a:endParaRPr lang="en-US" altLang="ko-K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ko-KR" altLang="en-US" b="0" i="0" u="none" strike="noStrike" dirty="0">
                    <a:solidFill>
                      <a:srgbClr val="000000"/>
                    </a:solidFill>
                    <a:effectLst/>
                  </a:rPr>
                  <a:t>여기서 정책 개선은 상태 </a:t>
                </a:r>
                <a:r>
                  <a:rPr lang="en-US" b="0" i="0" u="none" strike="noStrike" dirty="0" err="1">
                    <a:solidFill>
                      <a:srgbClr val="000000"/>
                    </a:solidFill>
                    <a:effectLst/>
                  </a:rPr>
                  <a:t>s_t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 </a:t>
                </a:r>
                <a:r>
                  <a:rPr lang="ko-KR" altLang="en-US" b="0" i="0" u="none" strike="noStrike" dirty="0">
                    <a:solidFill>
                      <a:srgbClr val="000000"/>
                    </a:solidFill>
                    <a:effectLst/>
                  </a:rPr>
                  <a:t>에서 가장 높은 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Advantage</a:t>
                </a:r>
                <a:r>
                  <a:rPr lang="ko-KR" altLang="en-US" b="0" i="0" u="none" strike="noStrike" dirty="0" err="1">
                    <a:solidFill>
                      <a:srgbClr val="000000"/>
                    </a:solidFill>
                    <a:effectLst/>
                  </a:rPr>
                  <a:t>를</a:t>
                </a:r>
                <a:r>
                  <a:rPr lang="ko-KR" altLang="en-US" b="0" i="0" u="none" strike="noStrike" dirty="0">
                    <a:solidFill>
                      <a:srgbClr val="000000"/>
                    </a:solidFill>
                    <a:effectLst/>
                  </a:rPr>
                  <a:t> 주는 행동을 선택하는 방식으로 이루어집니다</a:t>
                </a:r>
                <a:r>
                  <a:rPr lang="en-US" altLang="ko-KR" b="0" i="0" u="none" strike="noStrike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lang="en-US" altLang="ko-KR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정책 평가 식 </a:t>
                </a:r>
                <a:r>
                  <a:rPr lang="en-US" altLang="ko-KR" b="1" i="0" u="none" strike="noStrike" dirty="0">
                    <a:solidFill>
                      <a:srgbClr val="000000"/>
                    </a:solidFill>
                    <a:effectLst/>
                  </a:rPr>
                  <a:t>=&gt;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 </a:t>
                </a:r>
                <a:endParaRPr lang="en-US" altLang="ko-KR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현재 상태에서 정책이 선택한 행동의 보상과</a:t>
                </a:r>
                <a:br>
                  <a:rPr lang="ko-KR" altLang="en-US" dirty="0"/>
                </a:b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다음 상태의 미래 가치를 더해가며 정책의 성능을 평가하는 과정입니다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dirty="0"/>
              </a:p>
            </p:txBody>
          </p:sp>
        </mc:Fallback>
      </mc:AlternateContent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CBA66036-D965-E4A9-37A0-A4C998DD5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ACFF584F-D1FE-B7FE-96D6-32A71503F7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Google Shape;78;g118d7eca593_0_30:notes">
                <a:extLst>
                  <a:ext uri="{FF2B5EF4-FFF2-40B4-BE49-F238E27FC236}">
                    <a16:creationId xmlns:a16="http://schemas.microsoft.com/office/drawing/2014/main" id="{EA10124F-2B4A-BC4E-484E-5AFE10FA79C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정책을 사용하지 않고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아예 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가치 함수 자체를 직접 학습하면 어떨까</a:t>
                </a:r>
                <a:r>
                  <a:rPr lang="en-US" altLang="ko-KR" b="1" i="0" u="none" strike="noStrike" dirty="0">
                    <a:solidFill>
                      <a:srgbClr val="000000"/>
                    </a:solidFill>
                    <a:effectLst/>
                  </a:rPr>
                  <a:t>?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’라는 질문에서 출발합니다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ko-KR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Fitted Value Iteration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을 보면</a:t>
                </a:r>
                <a:endParaRPr lang="en-US" altLang="ko-KR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1.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각 샘플에 대해 타깃 값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100" b="0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ar-AE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𝑦</m:t>
                        </m:r>
                      </m:e>
                      <m:sub>
                        <m:r>
                          <a:rPr lang="ar-AE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를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계산합니다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br>
                  <a:rPr lang="ko-KR" altLang="en-US" dirty="0"/>
                </a:b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이때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행동 중 보상이 최대가 되는 것을 선택해서</a:t>
                </a:r>
                <a:r>
                  <a:rPr lang="ko-KR" altLang="en-US" sz="1100" b="0" i="0" u="none" strike="noStrike" cap="none" baseline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계산합니다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2.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그런 다음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이 타깃과 현재 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Value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네트워크의 출력을 회귀시키는 방식으로</a:t>
                </a:r>
                <a:r>
                  <a:rPr lang="ko-KR" altLang="en-US" sz="1100" b="0" i="0" u="none" strike="noStrike" cap="none" baseline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파라미터 </a:t>
                </a:r>
                <a14:m>
                  <m:oMath xmlns:m="http://schemas.openxmlformats.org/officeDocument/2006/math">
                    <m:r>
                      <a:rPr lang="ko-KR" altLang="en-US" sz="1100" b="0" i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𝜙</m:t>
                    </m:r>
                  </m:oMath>
                </a14:m>
                <a:r>
                  <a:rPr lang="ko-KR" altLang="en-US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를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업데이트합니다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ko-KR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이 과정은 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정책을 명시적으로 다루지 않고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Value</a:t>
                </a:r>
                <a:r>
                  <a:rPr lang="ko-KR" altLang="en-US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를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반복해서 업데이트하여 최적 가치를 찾아가는 형태입니다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--------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lang="en-US" altLang="ko-KR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더 유명한 </a:t>
                </a: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Fitted Q-Iteration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이 나옵니다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여기서는 상태 가치가 아니라 상태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–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행동 쌍의 가치인 </a:t>
                </a: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Q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함수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를 바로 학습합니다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228600" lvl="0" indent="-228600" algn="l" rtl="0">
                  <a:spcBef>
                    <a:spcPts val="0"/>
                  </a:spcBef>
                  <a:spcAft>
                    <a:spcPts val="0"/>
                  </a:spcAft>
                  <a:buAutoNum type="arabicPeriod"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먼저 각 샘플에 대해 타깃을 계산합니다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228600" lvl="0" indent="-228600" algn="l" rtl="0">
                  <a:spcBef>
                    <a:spcPts val="0"/>
                  </a:spcBef>
                  <a:spcAft>
                    <a:spcPts val="0"/>
                  </a:spcAft>
                  <a:buAutoNum type="arabicPeriod"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이후 이 타깃을 회귀시키기 위해 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(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수식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을 수행합니다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b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</a:br>
                <a:b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=&gt;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행동을 실제로 </a:t>
                </a:r>
                <a:r>
                  <a:rPr lang="ko-KR" altLang="en-US" b="1" i="0" u="none" strike="noStrike" dirty="0" err="1">
                    <a:solidFill>
                      <a:srgbClr val="000000"/>
                    </a:solidFill>
                    <a:effectLst/>
                  </a:rPr>
                  <a:t>시뮬레이션할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 필요가 없다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는 점입니다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br>
                  <a:rPr lang="ko-KR" altLang="en-US" dirty="0"/>
                </a:b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다음 상태에서의 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Q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값을 최대화하는 행동을 그냥 “계산으로” 찾을 수 있기 때문입니다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ko-KR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“정리하자면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Lecture 7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에서는 정책을 직접 업데이트하는 대신</a:t>
                </a:r>
                <a:br>
                  <a:rPr lang="ko-KR" altLang="en-US" dirty="0"/>
                </a:b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Value Function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이나 </a:t>
                </a: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Q-function</a:t>
                </a:r>
                <a:r>
                  <a:rPr lang="ko-KR" altLang="en-US" b="1" i="0" u="none" strike="noStrike" dirty="0" err="1">
                    <a:solidFill>
                      <a:srgbClr val="000000"/>
                    </a:solidFill>
                    <a:effectLst/>
                  </a:rPr>
                  <a:t>을직접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 학습하여 최적 정책을 간접적으로 찾는 방법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을 다뤘습니다</a:t>
                </a:r>
                <a:endParaRPr dirty="0"/>
              </a:p>
            </p:txBody>
          </p:sp>
        </mc:Choice>
        <mc:Fallback>
          <p:sp>
            <p:nvSpPr>
              <p:cNvPr id="78" name="Google Shape;78;g118d7eca593_0_30:notes">
                <a:extLst>
                  <a:ext uri="{FF2B5EF4-FFF2-40B4-BE49-F238E27FC236}">
                    <a16:creationId xmlns:a16="http://schemas.microsoft.com/office/drawing/2014/main" id="{EA10124F-2B4A-BC4E-484E-5AFE10FA79C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정책을 사용하지 않고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아예 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가치 함수 자체를 직접 학습하면 어떨까</a:t>
                </a:r>
                <a:r>
                  <a:rPr lang="en-US" altLang="ko-KR" b="1" i="0" u="none" strike="noStrike" dirty="0">
                    <a:solidFill>
                      <a:srgbClr val="000000"/>
                    </a:solidFill>
                    <a:effectLst/>
                  </a:rPr>
                  <a:t>?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’라는 질문에서 출발합니다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ko-KR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Fitted Value Iteration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을 보면</a:t>
                </a:r>
                <a:endParaRPr lang="en-US" altLang="ko-KR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1.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각 샘플에 대해 타깃 값 </a:t>
                </a:r>
                <a:r>
                  <a:rPr lang="ar-AE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𝑦_𝑖</a:t>
                </a:r>
                <a:r>
                  <a:rPr lang="ko-KR" altLang="en-US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를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계산합니다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br>
                  <a:rPr lang="ko-KR" altLang="en-US" dirty="0"/>
                </a:b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이때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행동 중 보상이 최대가 되는 것을 선택해서</a:t>
                </a:r>
                <a:r>
                  <a:rPr lang="ko-KR" altLang="en-US" sz="1100" b="0" i="0" u="none" strike="noStrike" cap="none" baseline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계산합니다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2.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그런 다음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이 타깃과 현재 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Value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네트워크의 출력을 회귀시키는 방식으로</a:t>
                </a:r>
                <a:r>
                  <a:rPr lang="ko-KR" altLang="en-US" sz="1100" b="0" i="0" u="none" strike="noStrike" cap="none" baseline="0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파라미터 </a:t>
                </a:r>
                <a:r>
                  <a:rPr lang="ko-KR" altLang="en-US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𝜙</a:t>
                </a:r>
                <a:r>
                  <a:rPr lang="ko-KR" altLang="en-US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를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업데이트합니다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ko-KR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이 과정은 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정책을 명시적으로 다루지 않고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Value</a:t>
                </a:r>
                <a:r>
                  <a:rPr lang="ko-KR" altLang="en-US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를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반복해서 업데이트하여 최적 가치를 찾아가는 형태입니다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--------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lang="en-US" altLang="ko-KR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더 유명한 </a:t>
                </a: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Fitted Q-Iteration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이 나옵니다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여기서는 상태 가치가 아니라 상태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–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행동 쌍의 가치인 </a:t>
                </a: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Q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함수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를 바로 학습합니다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228600" lvl="0" indent="-228600" algn="l" rtl="0">
                  <a:spcBef>
                    <a:spcPts val="0"/>
                  </a:spcBef>
                  <a:spcAft>
                    <a:spcPts val="0"/>
                  </a:spcAft>
                  <a:buAutoNum type="arabicPeriod"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먼저 각 샘플에 대해 타깃을 계산합니다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228600" lvl="0" indent="-228600" algn="l" rtl="0">
                  <a:spcBef>
                    <a:spcPts val="0"/>
                  </a:spcBef>
                  <a:spcAft>
                    <a:spcPts val="0"/>
                  </a:spcAft>
                  <a:buAutoNum type="arabicPeriod"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이후 이 타깃을 회귀시키기 위해 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(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수식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)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을 수행합니다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b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</a:br>
                <a:b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=&gt;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행동을 실제로 </a:t>
                </a:r>
                <a:r>
                  <a:rPr lang="ko-KR" altLang="en-US" b="1" i="0" u="none" strike="noStrike" dirty="0" err="1">
                    <a:solidFill>
                      <a:srgbClr val="000000"/>
                    </a:solidFill>
                    <a:effectLst/>
                  </a:rPr>
                  <a:t>시뮬레이션할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 필요가 없다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는 점입니다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br>
                  <a:rPr lang="ko-KR" altLang="en-US" dirty="0"/>
                </a:b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다음 상태에서의 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Q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값을 최대화하는 행동을 그냥 “계산으로” 찾을 수 있기 때문입니다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ko-KR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“정리하자면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, 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Lecture 7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에서는 정책을 직접 업데이트하는 대신</a:t>
                </a:r>
                <a:br>
                  <a:rPr lang="ko-KR" altLang="en-US" dirty="0"/>
                </a:b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Value Function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이나 </a:t>
                </a: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Q-function</a:t>
                </a:r>
                <a:r>
                  <a:rPr lang="ko-KR" altLang="en-US" b="1" i="0" u="none" strike="noStrike" dirty="0" err="1">
                    <a:solidFill>
                      <a:srgbClr val="000000"/>
                    </a:solidFill>
                    <a:effectLst/>
                  </a:rPr>
                  <a:t>을직접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 학습하여 최적 정책을 간접적으로 찾는 방법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을 다뤘습니다</a:t>
                </a:r>
                <a:endParaRPr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7271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8D28BEE-5CA2-472F-A85E-94695EBF6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0C18C85C-EEE6-30AB-E96E-13CCF181F8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86DFDEE8-683A-DF86-B826-B95D440489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다음은 </a:t>
            </a:r>
            <a:r>
              <a:rPr lang="en-US" dirty="0"/>
              <a:t>Lecture 8, Deep RL with Q-Functions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슬라이드에서는 우리가 실전에서 가장 널리 사용하는 딥 </a:t>
            </a:r>
            <a:r>
              <a:rPr lang="en-US" dirty="0"/>
              <a:t>Q-learning </a:t>
            </a:r>
            <a:r>
              <a:rPr lang="ko-KR" altLang="en-US" dirty="0"/>
              <a:t>구조</a:t>
            </a:r>
            <a:r>
              <a:rPr lang="en-US" altLang="ko-KR" dirty="0"/>
              <a:t>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특히 </a:t>
            </a:r>
            <a:r>
              <a:rPr lang="en-US" dirty="0"/>
              <a:t>Replay Buffer</a:t>
            </a:r>
            <a:r>
              <a:rPr lang="ko-KR" altLang="en-US" dirty="0"/>
              <a:t>와 </a:t>
            </a:r>
            <a:r>
              <a:rPr lang="en-US" dirty="0"/>
              <a:t>Target Network</a:t>
            </a:r>
            <a:r>
              <a:rPr lang="ko-KR" altLang="en-US" dirty="0" err="1"/>
              <a:t>를</a:t>
            </a:r>
            <a:r>
              <a:rPr lang="ko-KR" altLang="en-US" dirty="0"/>
              <a:t> 이용한 안정적인 </a:t>
            </a:r>
            <a:r>
              <a:rPr lang="en-US" dirty="0"/>
              <a:t>Q-learning </a:t>
            </a:r>
            <a:r>
              <a:rPr lang="ko-KR" altLang="en-US" dirty="0"/>
              <a:t>알고리즘을 설명하고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먼저 이 절차를 보면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Q-learning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 어떻게 동작하는지가 순서대로 나옵니다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Target Network 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저장</a:t>
            </a:r>
          </a:p>
          <a:p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데이터 수집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Replay Buffer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에서 샘플링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Q-network 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업데이트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같이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target network</a:t>
            </a:r>
            <a:r>
              <a:rPr lang="ko-KR" altLang="en-US" b="1" i="0" u="none" strike="noStrike" dirty="0">
                <a:solidFill>
                  <a:srgbClr val="000000"/>
                </a:solidFill>
                <a:effectLst/>
              </a:rPr>
              <a:t>의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Q</a:t>
            </a:r>
            <a:r>
              <a:rPr lang="ko-KR" altLang="en-US" b="1" i="0" u="none" strike="noStrike" dirty="0">
                <a:solidFill>
                  <a:srgbClr val="000000"/>
                </a:solidFill>
                <a:effectLst/>
              </a:rPr>
              <a:t>값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을 사용해 계산합니다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그림은 이 과정을 시각적으로 보여줍니다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/>
              <a:t>Process 1</a:t>
            </a:r>
            <a:r>
              <a:rPr lang="en-US" dirty="0"/>
              <a:t>: </a:t>
            </a:r>
            <a:r>
              <a:rPr lang="ko-KR" altLang="en-US" dirty="0"/>
              <a:t>환경과 상호작용하여 </a:t>
            </a:r>
            <a:r>
              <a:rPr lang="en-US" altLang="ko-KR" dirty="0"/>
              <a:t>(</a:t>
            </a:r>
            <a:r>
              <a:rPr lang="en-US" dirty="0"/>
              <a:t>s, a, s′, r) </a:t>
            </a:r>
            <a:r>
              <a:rPr lang="ko-KR" altLang="en-US" dirty="0"/>
              <a:t>데이터를 계속 생성하고</a:t>
            </a:r>
            <a:br>
              <a:rPr lang="ko-KR" altLang="en-US" dirty="0"/>
            </a:br>
            <a:r>
              <a:rPr lang="en-US" dirty="0"/>
              <a:t>replay buffer</a:t>
            </a:r>
            <a:r>
              <a:rPr lang="ko-KR" altLang="en-US" dirty="0" err="1"/>
              <a:t>에</a:t>
            </a:r>
            <a:r>
              <a:rPr lang="ko-KR" altLang="en-US" dirty="0"/>
              <a:t> 저장합니다</a:t>
            </a:r>
            <a:r>
              <a:rPr lang="en-US" altLang="ko-KR" dirty="0"/>
              <a:t>. </a:t>
            </a:r>
            <a:r>
              <a:rPr lang="ko-KR" altLang="en-US" dirty="0"/>
              <a:t>오래된 데이터는 </a:t>
            </a:r>
            <a:r>
              <a:rPr lang="ko-KR" altLang="en-US" dirty="0" err="1"/>
              <a:t>버려지기도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/>
              <a:t>Process 2</a:t>
            </a:r>
            <a:r>
              <a:rPr lang="en-US" dirty="0"/>
              <a:t>: </a:t>
            </a:r>
            <a:r>
              <a:rPr lang="ko-KR" altLang="en-US" dirty="0"/>
              <a:t>일정 주기마다 </a:t>
            </a:r>
            <a:r>
              <a:rPr lang="en-US" dirty="0"/>
              <a:t>current network</a:t>
            </a:r>
            <a:r>
              <a:rPr lang="ko-KR" altLang="en-US" dirty="0"/>
              <a:t>의 파라미터를</a:t>
            </a:r>
            <a:br>
              <a:rPr lang="ko-KR" altLang="en-US" dirty="0"/>
            </a:br>
            <a:r>
              <a:rPr lang="en-US" dirty="0"/>
              <a:t>target network</a:t>
            </a:r>
            <a:r>
              <a:rPr lang="ko-KR" altLang="en-US" dirty="0" err="1"/>
              <a:t>에</a:t>
            </a:r>
            <a:r>
              <a:rPr lang="ko-KR" altLang="en-US" dirty="0"/>
              <a:t> 복사합니다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이렇게 하면 타깃 값이 갑자기 변하지 않아 안정성이 크게 좋아집니다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/>
              <a:t>Process 3</a:t>
            </a:r>
            <a:r>
              <a:rPr lang="en-US" dirty="0"/>
              <a:t>: replay buffer</a:t>
            </a:r>
            <a:r>
              <a:rPr lang="ko-KR" altLang="en-US" dirty="0"/>
              <a:t>에서 샘플링한 배치를 가지고</a:t>
            </a:r>
            <a:br>
              <a:rPr lang="ko-KR" altLang="en-US" dirty="0"/>
            </a:br>
            <a:r>
              <a:rPr lang="en-US" dirty="0"/>
              <a:t>Q-function </a:t>
            </a:r>
            <a:r>
              <a:rPr lang="ko-KR" altLang="en-US" dirty="0"/>
              <a:t>회귀</a:t>
            </a:r>
            <a:r>
              <a:rPr lang="en-US" altLang="ko-KR" dirty="0"/>
              <a:t>(</a:t>
            </a:r>
            <a:r>
              <a:rPr lang="en-US" dirty="0"/>
              <a:t>regression)</a:t>
            </a:r>
            <a:r>
              <a:rPr lang="ko-KR" altLang="en-US" dirty="0" err="1"/>
              <a:t>를</a:t>
            </a:r>
            <a:r>
              <a:rPr lang="ko-KR" altLang="en-US" dirty="0"/>
              <a:t> 수행합니다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-US" dirty="0"/>
              <a:t>Q-learning</a:t>
            </a:r>
            <a:r>
              <a:rPr lang="ko-KR" altLang="en-US" dirty="0"/>
              <a:t>은 학습 과정이 한 방향으로만 흐르는 것이 아니라</a:t>
            </a:r>
            <a:br>
              <a:rPr lang="ko-KR" altLang="en-US" dirty="0"/>
            </a:br>
            <a:r>
              <a:rPr lang="ko-KR" altLang="en-US" dirty="0"/>
              <a:t>이 세 가지 프로세스가 동시에 돌아가며 안정적인 학습을 만들어냅니다</a:t>
            </a:r>
            <a:r>
              <a:rPr lang="en-US" altLang="ko-KR" dirty="0"/>
              <a:t>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 구조는 이후에 등장하는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DQN, Double DQN,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그리고 더 발전된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Q-learning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계열 알고리즘의 기본 틀이 됩니다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80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EE1F9869-E121-0308-6A76-3F64FB3E8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4D853B58-7879-10BB-2140-2E03B91438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C7ED7722-4CF8-6D0A-2306-CB76333E8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Lecture 9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에서는 정책 경사 기반 기법을 더 안정적으로 만드는 방법들을 다뤘습니다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정책이 너무 급하게 변하면 성능이 떨어질 위험이 있기 때문에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‘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정책 변화량을 안전한 범위 내에서 </a:t>
            </a:r>
            <a:r>
              <a:rPr lang="ko-KR" alt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제한한다’는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게 핵심 아이디어였습니다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6871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9C17597A-A83E-60B3-3587-FABC3A77F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6F24EC61-2C67-7AF9-9BE1-298D0B54A4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Google Shape;78;g118d7eca593_0_30:notes">
                <a:extLst>
                  <a:ext uri="{FF2B5EF4-FFF2-40B4-BE49-F238E27FC236}">
                    <a16:creationId xmlns:a16="http://schemas.microsoft.com/office/drawing/2014/main" id="{9CB675C4-5B4C-D48E-49BE-4375697B12E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Lecture 10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에서는 </a:t>
                </a: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Optimal Control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과 </a:t>
                </a: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Planning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을 다룹니다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ko-KR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환경의 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dynamics </a:t>
                </a:r>
                <a14:m>
                  <m:oMath xmlns:m="http://schemas.openxmlformats.org/officeDocument/2006/math">
                    <m:r>
                      <a:rPr lang="en-US" sz="1100" b="0" i="1" u="none" strike="noStrike" cap="none" smtClean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𝑝</m:t>
                    </m:r>
                    <m:d>
                      <m:dPr>
                        <m:sepChr m:val=","/>
                        <m:ctrlPr>
                          <a:rPr lang="ar-AE" sz="1100" b="0" i="1" u="none" strike="noStrike" cap="none" smtClean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100" b="0" i="1" u="none" strike="noStrike" cap="non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ar-AE" sz="1100" b="0" i="1" u="none" strike="noStrike" cap="non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m:t>𝑠</m:t>
                            </m:r>
                          </m:e>
                          <m:sup>
                            <m:r>
                              <a:rPr lang="ar-AE" sz="1100" b="0" i="0" u="none" strike="noStrike" cap="non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ar-AE" sz="1100" b="0" i="0" u="none" strike="noStrike" cap="none" smtClean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∣</m:t>
                        </m:r>
                        <m:r>
                          <a:rPr lang="ar-AE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𝑠</m:t>
                        </m:r>
                        <m:r>
                          <a:rPr lang="en-US" altLang="ko-KR" sz="1100" b="0" i="1" u="none" strike="noStrike" cap="none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,</m:t>
                        </m:r>
                        <m:r>
                          <a:rPr lang="ar-AE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𝑎</m:t>
                        </m:r>
                      </m:e>
                    </m:d>
                  </m:oMath>
                </a14:m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는 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아예 모른다고 가정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model-free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방식에서는 환경에 직접 행동을 실행해보고</a:t>
                </a:r>
                <a:br>
                  <a:rPr lang="ko-KR" altLang="en-US" dirty="0"/>
                </a:b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나온 데이터를 가지고 정책을 업데이트하는 방식으로 학습합니다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dirty="0"/>
              </a:p>
            </p:txBody>
          </p:sp>
        </mc:Choice>
        <mc:Fallback>
          <p:sp>
            <p:nvSpPr>
              <p:cNvPr id="78" name="Google Shape;78;g118d7eca593_0_30:notes">
                <a:extLst>
                  <a:ext uri="{FF2B5EF4-FFF2-40B4-BE49-F238E27FC236}">
                    <a16:creationId xmlns:a16="http://schemas.microsoft.com/office/drawing/2014/main" id="{9CB675C4-5B4C-D48E-49BE-4375697B12E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Lecture 10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에서는 </a:t>
                </a: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Optimal Control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과 </a:t>
                </a: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Planning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을 다룹니다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ko-KR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환경의 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dynamics 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𝑝</a:t>
                </a:r>
                <a:r>
                  <a:rPr lang="ar-AE" sz="1100" b="0" i="0" u="none" strike="noStrike" cap="none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rPr>
                  <a:t>(</a:t>
                </a:r>
                <a:r>
                  <a:rPr lang="ar-AE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𝑠^′ⓜ,∣𝑠</a:t>
                </a:r>
                <a:r>
                  <a:rPr lang="en-US" altLang="ko-KR" sz="1100" b="0" i="0" u="none" strike="noStrike" cap="none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  <a:sym typeface="Arial"/>
                  </a:rPr>
                  <a:t>,</a:t>
                </a:r>
                <a:r>
                  <a:rPr lang="ar-AE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𝑎)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는 </a:t>
                </a:r>
                <a:r>
                  <a:rPr lang="ko-KR" altLang="en-US" b="1" i="0" u="none" strike="noStrike" dirty="0">
                    <a:solidFill>
                      <a:srgbClr val="000000"/>
                    </a:solidFill>
                    <a:effectLst/>
                  </a:rPr>
                  <a:t>아예 모른다고 가정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model-free </a:t>
                </a: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방식에서는 환경에 직접 행동을 실행해보고</a:t>
                </a:r>
                <a:br>
                  <a:rPr lang="ko-KR" altLang="en-US" dirty="0"/>
                </a:br>
                <a:r>
                  <a:rPr lang="ko-KR" alt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나온 데이터를 가지고 정책을 업데이트하는 방식으로 학습합니다</a:t>
                </a:r>
                <a:r>
                  <a:rPr lang="en-US" altLang="ko-KR" sz="1100" b="0" i="0" u="none" strike="noStrike" cap="none" dirty="0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8152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74AF4F6B-B1EA-FFB7-79EF-65792A93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73307D22-601E-36A6-97D7-15B9BB1B45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CB0F7DA9-0261-47C3-ACC5-ADC1B0E0CE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ko-KR" altLang="en-US" dirty="0"/>
            </a:b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이번 강의의 핵심은 아주 간단한 질문에서 시작합니다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‘만약 우리가 환경의 </a:t>
            </a:r>
            <a:r>
              <a:rPr lang="en-US" dirty="0"/>
              <a:t>transition dynamics</a:t>
            </a:r>
            <a:r>
              <a:rPr lang="ko-KR" altLang="en-US" dirty="0" err="1"/>
              <a:t>를</a:t>
            </a:r>
            <a:r>
              <a:rPr lang="ko-KR" altLang="en-US" dirty="0"/>
              <a:t> 알고 있다면</a:t>
            </a:r>
            <a:r>
              <a:rPr lang="en-US" altLang="ko-KR" dirty="0"/>
              <a:t>, </a:t>
            </a:r>
            <a:r>
              <a:rPr lang="ko-KR" altLang="en-US" dirty="0"/>
              <a:t>더 쉽게 행동을 결정할 수 있을까</a:t>
            </a:r>
            <a:r>
              <a:rPr lang="en-US" altLang="ko-KR" dirty="0"/>
              <a:t>?’</a:t>
            </a:r>
            <a:br>
              <a:rPr lang="en-US" altLang="ko-KR" dirty="0"/>
            </a:br>
            <a:r>
              <a:rPr lang="ko-KR" altLang="en-US" dirty="0"/>
              <a:t>정답은 예</a:t>
            </a:r>
            <a:r>
              <a:rPr lang="en-US" altLang="ko-KR" dirty="0"/>
              <a:t>, </a:t>
            </a:r>
            <a:r>
              <a:rPr lang="ko-KR" altLang="en-US" dirty="0"/>
              <a:t>대부분의 경우 훨씬 쉽습니다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이유는</a:t>
            </a:r>
            <a:r>
              <a:rPr lang="en-US" altLang="ko-KR" dirty="0"/>
              <a:t>, </a:t>
            </a:r>
            <a:r>
              <a:rPr lang="en-US" dirty="0"/>
              <a:t>dynamics</a:t>
            </a:r>
            <a:r>
              <a:rPr lang="ko-KR" altLang="en-US" dirty="0" err="1"/>
              <a:t>를</a:t>
            </a:r>
            <a:r>
              <a:rPr lang="ko-KR" altLang="en-US" dirty="0"/>
              <a:t> 알고 있다면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어떤 행동을 했을 때 다음 상태가 어떻게 될지를 시뮬레이션으로 예측할 수 있기 때문입니다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그래서 </a:t>
            </a:r>
            <a:r>
              <a:rPr lang="en-US" dirty="0"/>
              <a:t>dynamics</a:t>
            </a:r>
            <a:r>
              <a:rPr lang="ko-KR" altLang="en-US" dirty="0" err="1"/>
              <a:t>를</a:t>
            </a:r>
            <a:r>
              <a:rPr lang="ko-KR" altLang="en-US" dirty="0"/>
              <a:t> 안다는 전제하에 우리는 두 가지 질문을 해결할 수 있게 됩니다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</a:t>
            </a:r>
            <a:r>
              <a:rPr lang="ko-KR" altLang="en-US" dirty="0"/>
              <a:t> 완벽한 </a:t>
            </a:r>
            <a:r>
              <a:rPr lang="en-US" dirty="0"/>
              <a:t>dynamics</a:t>
            </a:r>
            <a:r>
              <a:rPr lang="ko-KR" altLang="en-US" dirty="0" err="1"/>
              <a:t>를</a:t>
            </a:r>
            <a:r>
              <a:rPr lang="ko-KR" altLang="en-US" dirty="0"/>
              <a:t> 알고 있을 때 어떻게 행동을 선택할 수 있는지</a:t>
            </a:r>
            <a:r>
              <a:rPr lang="en-US" altLang="ko-KR" dirty="0"/>
              <a:t>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</a:t>
            </a:r>
            <a:r>
              <a:rPr lang="ko-KR" altLang="en-US" dirty="0"/>
              <a:t> 그리고 </a:t>
            </a:r>
            <a:r>
              <a:rPr lang="en-US" dirty="0"/>
              <a:t>Trajectory Optimization, Planning </a:t>
            </a:r>
            <a:r>
              <a:rPr lang="ko-KR" altLang="en-US" dirty="0"/>
              <a:t>같은 기법을 활용해 어떻게 최적 행동을 </a:t>
            </a:r>
            <a:r>
              <a:rPr lang="ko-KR" altLang="en-US" dirty="0" err="1"/>
              <a:t>찾는지입니다</a:t>
            </a:r>
            <a:r>
              <a:rPr lang="en-US" altLang="ko-KR" dirty="0"/>
              <a:t>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4326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894DFE7C-FAC5-269F-BAE8-38DAE39C2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414C9D19-CBD6-D6E5-193A-7CCD2F7C81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A78CC8EB-5EE1-07B1-4041-E72138DA5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이제 본격적으로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dynamics</a:t>
            </a:r>
            <a:r>
              <a:rPr lang="ko-KR" altLang="en-US" b="1" i="0" u="none" strike="noStrike" dirty="0" err="1">
                <a:solidFill>
                  <a:srgbClr val="000000"/>
                </a:solidFill>
                <a:effectLst/>
              </a:rPr>
              <a:t>를</a:t>
            </a:r>
            <a:r>
              <a:rPr lang="ko-KR" altLang="en-US" b="1" i="0" u="none" strike="noStrike" dirty="0">
                <a:solidFill>
                  <a:srgbClr val="000000"/>
                </a:solidFill>
                <a:effectLst/>
              </a:rPr>
              <a:t> 알고 있을 때 할 수 있는 계획</a:t>
            </a:r>
            <a:r>
              <a:rPr lang="en-US" altLang="ko-KR" b="1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planning) </a:t>
            </a:r>
            <a:r>
              <a:rPr lang="ko-KR" altLang="en-US" b="1" i="0" u="none" strike="noStrike" dirty="0">
                <a:solidFill>
                  <a:srgbClr val="000000"/>
                </a:solidFill>
                <a:effectLst/>
              </a:rPr>
              <a:t>방법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들을 살펴봅니다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첫 번째는 아주 단순한 방법입니다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dirty="0"/>
              <a:t>🔹 1. </a:t>
            </a:r>
            <a:r>
              <a:rPr lang="en-US" dirty="0"/>
              <a:t>Random Shooting Method (Guess &amp; Check)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그냥 여러 개의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action sequence</a:t>
            </a:r>
            <a:r>
              <a:rPr lang="ko-KR" alt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랜덤으로 뽑아보고</a:t>
            </a:r>
            <a:br>
              <a:rPr lang="ko-KR" altLang="en-US" dirty="0"/>
            </a:b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 중 성능이 가장 좋은 것을 선택하는 방식입니다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정말 단순하지만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때때로 꽤 잘 작동하기도 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🔹 2.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Cross-Entropy Method (CEM)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 과정을 반복하면</a:t>
            </a:r>
            <a:br>
              <a:rPr lang="ko-KR" altLang="en-US" dirty="0"/>
            </a:b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샘플링 분포가 점점 좋은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action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주변으로 집중되기 때문에</a:t>
            </a:r>
            <a:br>
              <a:rPr lang="ko-KR" altLang="en-US" dirty="0"/>
            </a:b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random shooting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보다 훨씬 효율적입니다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dirty="0"/>
              <a:t>3. Monte Carlo Tree Search (MCTS)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이는 </a:t>
            </a:r>
            <a:r>
              <a:rPr lang="en-US" dirty="0"/>
              <a:t>Discrete action </a:t>
            </a:r>
            <a:r>
              <a:rPr lang="ko-KR" altLang="en-US" dirty="0"/>
              <a:t>환경에서 자주 쓰이는 강력한 </a:t>
            </a:r>
            <a:r>
              <a:rPr lang="en-US" dirty="0"/>
              <a:t>planning </a:t>
            </a:r>
            <a:r>
              <a:rPr lang="ko-KR" altLang="en-US" dirty="0"/>
              <a:t>기법입니다</a:t>
            </a:r>
            <a:r>
              <a:rPr lang="en-US" altLang="ko-KR" dirty="0"/>
              <a:t>.</a:t>
            </a:r>
          </a:p>
          <a:p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행동을 선택할 때마다 트리를 확장하며</a:t>
            </a:r>
            <a:br>
              <a:rPr lang="ko-KR" alt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여러 경로를 시뮬레이션해보는 방식입니다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MCTS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는 체스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바둑 같은 게임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AI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에서</a:t>
            </a:r>
            <a:br>
              <a:rPr lang="ko-KR" alt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AlphaGo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가 사용했던 기법으로 잘 알려져 있습니다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6300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9D5BBF58-72EA-F907-13A1-3E02D87FB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F1BCECAE-3550-E69A-8A5D-0A418480EE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B86AF219-ECBB-4271-DB87-55DB24FC03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환경의 </a:t>
            </a:r>
            <a:r>
              <a:rPr lang="en-US" dirty="0"/>
              <a:t>transition dynamics</a:t>
            </a:r>
            <a:r>
              <a:rPr lang="ko-KR" altLang="en-US" dirty="0" err="1"/>
              <a:t>를</a:t>
            </a:r>
            <a:r>
              <a:rPr lang="ko-KR" altLang="en-US" dirty="0"/>
              <a:t> 먼저 학습하고</a:t>
            </a:r>
            <a:r>
              <a:rPr lang="en-US" altLang="ko-KR" dirty="0"/>
              <a:t>, </a:t>
            </a:r>
            <a:r>
              <a:rPr lang="ko-KR" altLang="en-US" dirty="0"/>
              <a:t>그 모델을 이용해 어떻게 행동을 선택할지 결정합니다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-US" dirty="0"/>
              <a:t>model-free </a:t>
            </a:r>
            <a:r>
              <a:rPr lang="ko-KR" altLang="en-US" dirty="0"/>
              <a:t>강화학습이 환경을 직접 실행하면서 배웠다면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dirty="0"/>
              <a:t>model-based </a:t>
            </a:r>
            <a:r>
              <a:rPr lang="ko-KR" altLang="en-US" dirty="0"/>
              <a:t>방식은 먼저 환경을 예측하는 모델을 만든 뒤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 모델을 활용해 </a:t>
            </a:r>
            <a:r>
              <a:rPr lang="en-US" dirty="0"/>
              <a:t>planning</a:t>
            </a:r>
            <a:r>
              <a:rPr lang="ko-KR" altLang="en-US" dirty="0"/>
              <a:t>이나 </a:t>
            </a:r>
            <a:r>
              <a:rPr lang="en-US" dirty="0"/>
              <a:t>value estimation</a:t>
            </a:r>
            <a:r>
              <a:rPr lang="ko-KR" altLang="en-US" dirty="0"/>
              <a:t>을 합니다</a:t>
            </a:r>
            <a:r>
              <a:rPr lang="en-US" altLang="ko-KR" dirty="0"/>
              <a:t>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model-free 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접근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</a:rPr>
              <a:t>=&gt; 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경험을 모아서 바로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Value function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을 업데이트하고 정책을 개선합니다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model-based 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접근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</a:rPr>
              <a:t>=&gt; 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먼저 경험으로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dynamics model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을 만들고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그 모델을 이용해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planning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을 한 뒤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Value function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</a:rPr>
              <a:t>이나 정책을 업데이트합니다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Model-Based RL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의 기본적인 형태가 정리되어 있고 절차는 다음과 같습니다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결국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Lecture 11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은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model-based RL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의 기본 구조를 소개하며</a:t>
            </a:r>
            <a:b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환경 모델을 배우는 과정과 그 모델로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planning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하는 전체 흐름을 보여줍니다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 방식은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model-free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알고리즘보다</a:t>
            </a:r>
            <a:b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더 적은 샘플로도 빠르게 학습할 수 있다는 장점이 있지만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</a:t>
            </a:r>
            <a:b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정확한 모델을 학습하는 것이 쉽지 않다는 어려움도 함께 가지고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4435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4A342E1-786B-B7AB-503B-6FBE2926D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7CE24EC1-777F-734B-402F-5DCDC84B8D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7896FB6B-6E78-AD1D-9E55-C7FECE67D0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3749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</a:t>
            </a:r>
            <a:endParaRPr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1353963" y="1360455"/>
            <a:ext cx="568745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 err="1">
                <a:solidFill>
                  <a:srgbClr val="19264B"/>
                </a:solidFill>
              </a:rPr>
              <a:t>DeepRL</a:t>
            </a:r>
            <a:r>
              <a:rPr lang="en-US" altLang="ko" sz="2500" b="1" dirty="0">
                <a:solidFill>
                  <a:srgbClr val="19264B"/>
                </a:solidFill>
              </a:rPr>
              <a:t>. CS285</a:t>
            </a:r>
            <a:r>
              <a:rPr lang="ko" sz="2500" b="1" dirty="0">
                <a:solidFill>
                  <a:srgbClr val="19264B"/>
                </a:solidFill>
              </a:rPr>
              <a:t>스터디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-KR" dirty="0">
                <a:solidFill>
                  <a:srgbClr val="19264B"/>
                </a:solidFill>
              </a:rPr>
              <a:t>11.18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태아카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그림 2" descr="텍스트, 스크린샷, 인간의 얼굴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363859-9143-2DA0-B1C1-1B6EC241E6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469"/>
          <a:stretch>
            <a:fillRect/>
          </a:stretch>
        </p:blipFill>
        <p:spPr>
          <a:xfrm>
            <a:off x="3646811" y="1908317"/>
            <a:ext cx="4143226" cy="28936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  <a:latin typeface="+mj-lt"/>
                <a:ea typeface="나눔바른고딕" panose="020B0603020101020101" pitchFamily="50" charset="-127"/>
                <a:cs typeface="NanumGothic ExtraBold"/>
                <a:sym typeface="NanumGothic ExtraBold"/>
              </a:rPr>
              <a:t>스터디원 소개 및 만남 인증</a:t>
            </a:r>
            <a:endParaRPr sz="2000" b="1" dirty="0">
              <a:solidFill>
                <a:srgbClr val="19264B"/>
              </a:solidFill>
              <a:latin typeface="+mj-lt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927712" y="1940823"/>
            <a:ext cx="22821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1 :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김성민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2 :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박준우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3 : </a:t>
            </a: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태아카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 descr="텍스트, 사람, 인간의 얼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8FAA35-4495-50AB-D50C-1A6F549C59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703"/>
          <a:stretch>
            <a:fillRect/>
          </a:stretch>
        </p:blipFill>
        <p:spPr>
          <a:xfrm>
            <a:off x="1815358" y="1493103"/>
            <a:ext cx="3478096" cy="2516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7: Value Function Methods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12" name="Picture 11" descr="A black oval with a black line and an orange oval with white text&#10;&#10;AI-generated content may be incorrect.">
            <a:extLst>
              <a:ext uri="{FF2B5EF4-FFF2-40B4-BE49-F238E27FC236}">
                <a16:creationId xmlns:a16="http://schemas.microsoft.com/office/drawing/2014/main" id="{E6FE637A-1690-CA16-E300-793C5AB26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253" y="1230535"/>
            <a:ext cx="7954357" cy="2551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B4E4EC6E-DB44-CD5B-6B57-D942708D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4EA22ED0-2214-7042-5AEB-EAA45B6B3E5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C534C8A5-F683-CA27-08C9-5861B2586CD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5B79C36F-7070-79B9-931B-6E8938ABB3E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5A3E7BF2-EC22-9FEC-7A94-BC5F759AA500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7: Value Function Methods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7" name="Picture 6" descr="A diagram of a number of equations&#10;&#10;AI-generated content may be incorrect.">
            <a:extLst>
              <a:ext uri="{FF2B5EF4-FFF2-40B4-BE49-F238E27FC236}">
                <a16:creationId xmlns:a16="http://schemas.microsoft.com/office/drawing/2014/main" id="{5FD8AE7F-E738-1642-657A-20AE07236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843" y="1134807"/>
            <a:ext cx="7772400" cy="287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615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CEBF2A21-EF8A-8BD6-D016-3452E37BD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A202F143-97FB-E50F-7951-7388B665FBF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E27234FD-B7A3-3D8F-E5F3-CCCE056B04D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C89AA235-619D-2968-EFF7-8CCEE56D5B8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0F830D75-B54C-52A0-7F17-6F4F3BF876AB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8: Deep RL with Q-Functions</a:t>
            </a:r>
          </a:p>
        </p:txBody>
      </p:sp>
      <p:pic>
        <p:nvPicPr>
          <p:cNvPr id="4" name="Picture 3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F907E725-0ADC-F9A3-034B-2FCE30E95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725" y="972939"/>
            <a:ext cx="7772400" cy="373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5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C48248C5-6EEC-1E78-E1E0-9A5CB95F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E9A891E-37FD-ECD3-E168-16D532A2D79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08E63CB7-FA6A-F4B7-E3BD-98CDB3C7B63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3386BCB5-CF91-EF74-4B82-9BDBB44231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E274A2F7-1533-A141-6B36-BCB0C670C575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9: Advanced Policy Gradients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7B331E-80A3-D8A7-F90F-93A1535B9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507" y="886403"/>
            <a:ext cx="6502369" cy="3950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A3C930-A387-1119-3DDB-10A6F1AECB2E}"/>
              </a:ext>
            </a:extLst>
          </p:cNvPr>
          <p:cNvSpPr txBox="1"/>
          <p:nvPr/>
        </p:nvSpPr>
        <p:spPr>
          <a:xfrm>
            <a:off x="1321564" y="2322905"/>
            <a:ext cx="7114864" cy="1077218"/>
          </a:xfrm>
          <a:prstGeom prst="rect">
            <a:avLst/>
          </a:prstGeom>
          <a:solidFill>
            <a:srgbClr val="C5CCE0"/>
          </a:solidFill>
        </p:spPr>
        <p:txBody>
          <a:bodyPr wrap="square" rtlCol="0">
            <a:spAutoFit/>
          </a:bodyPr>
          <a:lstStyle/>
          <a:p>
            <a:pPr algn="ctr"/>
            <a:endParaRPr lang="en-US" altLang="ko-KR" sz="1600" dirty="0"/>
          </a:p>
          <a:p>
            <a:pPr algn="ctr"/>
            <a:r>
              <a:rPr lang="ko-KR" altLang="en-US" sz="1600" dirty="0"/>
              <a:t>정책이 너무 급하게 변하면 성능이 떨어질 위험이 있기 때문에</a:t>
            </a:r>
            <a:r>
              <a:rPr lang="en-US" altLang="ko-KR" sz="1600" dirty="0"/>
              <a:t>, </a:t>
            </a:r>
          </a:p>
          <a:p>
            <a:pPr algn="ctr"/>
            <a:r>
              <a:rPr lang="en-US" altLang="ko-KR" sz="1600" dirty="0"/>
              <a:t>‘</a:t>
            </a:r>
            <a:r>
              <a:rPr lang="ko-KR" altLang="en-US" sz="1600" dirty="0"/>
              <a:t>정책 변화량을 안전한 범위 내에서 </a:t>
            </a:r>
            <a:r>
              <a:rPr lang="ko-KR" altLang="en-US" sz="1600" dirty="0" err="1"/>
              <a:t>제한한다’는</a:t>
            </a:r>
            <a:r>
              <a:rPr lang="ko-KR" altLang="en-US" sz="1600" dirty="0"/>
              <a:t> 게 핵심 아이디어였습니다</a:t>
            </a:r>
            <a:endParaRPr lang="en-US" altLang="ko-KR" sz="1600" dirty="0"/>
          </a:p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18070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8531D5CC-4007-5CC1-1062-E56FBD97D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EB686BA0-E415-AC35-4CB6-1C818A8735D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77B3764B-E093-B2A4-1D44-FB6AEF1DF64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F63BE668-0AEC-2B6D-6DEE-84B2525450B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231CA620-9B72-4BBB-3C5B-C4D06BD9EBDD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10: Optimal Control and Planning</a:t>
            </a:r>
          </a:p>
        </p:txBody>
      </p:sp>
      <p:pic>
        <p:nvPicPr>
          <p:cNvPr id="5" name="Picture 4" descr="A diagram of a model of a mathematical equation&#10;&#10;AI-generated content may be incorrect.">
            <a:extLst>
              <a:ext uri="{FF2B5EF4-FFF2-40B4-BE49-F238E27FC236}">
                <a16:creationId xmlns:a16="http://schemas.microsoft.com/office/drawing/2014/main" id="{EE449873-FD50-26FF-6591-7552E4F22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630" y="1055550"/>
            <a:ext cx="6202740" cy="3600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E5374F-14E3-46C3-951C-12277833F28E}"/>
              </a:ext>
            </a:extLst>
          </p:cNvPr>
          <p:cNvCxnSpPr/>
          <p:nvPr/>
        </p:nvCxnSpPr>
        <p:spPr>
          <a:xfrm>
            <a:off x="2701255" y="1476462"/>
            <a:ext cx="1417739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198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87532E05-6B61-6190-0681-E3840E5E3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3E459D13-5C27-1CFB-28BF-99A004A0425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B4EE9F7C-1F50-8F7E-D839-0E154C43BF9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82FA878E-F6F2-2434-E2C0-329AFB519CD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F559569E-20A8-034D-1EBF-2107603632D5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10: Optimal Control and Planning</a:t>
            </a:r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3427FFF-C219-571F-E445-2056C23065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08" t="59" r="108" b="83017"/>
          <a:stretch>
            <a:fillRect/>
          </a:stretch>
        </p:blipFill>
        <p:spPr>
          <a:xfrm>
            <a:off x="1504978" y="1197943"/>
            <a:ext cx="6511818" cy="6395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63DFB5E-99D7-1429-F7D0-9C9ADFAD48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15" t="73287" r="8451"/>
          <a:stretch>
            <a:fillRect/>
          </a:stretch>
        </p:blipFill>
        <p:spPr>
          <a:xfrm>
            <a:off x="1504978" y="1896252"/>
            <a:ext cx="6380943" cy="113020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5964197-FC61-EB98-1E46-D06A3D933671}"/>
              </a:ext>
            </a:extLst>
          </p:cNvPr>
          <p:cNvGrpSpPr/>
          <p:nvPr/>
        </p:nvGrpSpPr>
        <p:grpSpPr>
          <a:xfrm>
            <a:off x="1504978" y="3086216"/>
            <a:ext cx="7084503" cy="960338"/>
            <a:chOff x="1504978" y="3086216"/>
            <a:chExt cx="7084503" cy="960338"/>
          </a:xfrm>
        </p:grpSpPr>
        <p:pic>
          <p:nvPicPr>
            <p:cNvPr id="9" name="Picture 8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0A3136E6-B7A8-E494-13FA-6A79BB538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33472"/>
            <a:stretch>
              <a:fillRect/>
            </a:stretch>
          </p:blipFill>
          <p:spPr>
            <a:xfrm>
              <a:off x="1504978" y="3406968"/>
              <a:ext cx="7084503" cy="639586"/>
            </a:xfrm>
            <a:prstGeom prst="rect">
              <a:avLst/>
            </a:prstGeom>
            <a:ln>
              <a:solidFill>
                <a:srgbClr val="212D4D"/>
              </a:solidFill>
            </a:ln>
          </p:spPr>
        </p:pic>
        <p:pic>
          <p:nvPicPr>
            <p:cNvPr id="16" name="Picture 15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C4F53B44-43AF-D3EB-A58E-973FCEAA4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1537" t="60" b="62418"/>
            <a:stretch>
              <a:fillRect/>
            </a:stretch>
          </p:blipFill>
          <p:spPr>
            <a:xfrm>
              <a:off x="1618792" y="3086216"/>
              <a:ext cx="6267129" cy="360728"/>
            </a:xfrm>
            <a:prstGeom prst="rect">
              <a:avLst/>
            </a:prstGeom>
            <a:ln>
              <a:solidFill>
                <a:srgbClr val="212D4D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196652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957538C1-B15C-E980-96C4-01BA5A54D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CA9CB095-68E6-0AC3-BDDC-558B2C87D0C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BB65D787-25AE-26BE-50B5-650049FB9FAE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173153FA-73EB-6AD8-D8E3-C5691B886C0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E805375E-FADA-A169-BCF7-DC981141387D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10: Optimal Control and Planning</a:t>
            </a:r>
          </a:p>
        </p:txBody>
      </p:sp>
      <p:pic>
        <p:nvPicPr>
          <p:cNvPr id="3" name="Picture 2" descr="A close up of a text&#10;&#10;AI-generated content may be incorrect.">
            <a:extLst>
              <a:ext uri="{FF2B5EF4-FFF2-40B4-BE49-F238E27FC236}">
                <a16:creationId xmlns:a16="http://schemas.microsoft.com/office/drawing/2014/main" id="{B23B154C-EF98-54AF-AC36-4B556CCCF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75" y="973876"/>
            <a:ext cx="7055142" cy="1313588"/>
          </a:xfrm>
          <a:prstGeom prst="rect">
            <a:avLst/>
          </a:prstGeom>
        </p:spPr>
      </p:pic>
      <p:pic>
        <p:nvPicPr>
          <p:cNvPr id="5" name="Picture 4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B96C3329-FD34-D6FC-44B2-6451E24EA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809" y="2394845"/>
            <a:ext cx="6530827" cy="2454769"/>
          </a:xfrm>
          <a:prstGeom prst="rect">
            <a:avLst/>
          </a:prstGeom>
        </p:spPr>
      </p:pic>
      <p:pic>
        <p:nvPicPr>
          <p:cNvPr id="8" name="Graphic 7" descr="Badge 1 with solid fill">
            <a:extLst>
              <a:ext uri="{FF2B5EF4-FFF2-40B4-BE49-F238E27FC236}">
                <a16:creationId xmlns:a16="http://schemas.microsoft.com/office/drawing/2014/main" id="{789FAB46-D7A2-DE85-2EE9-5D6F54C61D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8437" y="1072502"/>
            <a:ext cx="360000" cy="360000"/>
          </a:xfrm>
          <a:prstGeom prst="rect">
            <a:avLst/>
          </a:prstGeom>
        </p:spPr>
      </p:pic>
      <p:pic>
        <p:nvPicPr>
          <p:cNvPr id="10" name="Graphic 9" descr="Badge with solid fill">
            <a:extLst>
              <a:ext uri="{FF2B5EF4-FFF2-40B4-BE49-F238E27FC236}">
                <a16:creationId xmlns:a16="http://schemas.microsoft.com/office/drawing/2014/main" id="{49CEC56C-B3B9-A594-94D7-B30E3D6402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8437" y="2462694"/>
            <a:ext cx="360000" cy="360000"/>
          </a:xfrm>
          <a:prstGeom prst="rect">
            <a:avLst/>
          </a:prstGeom>
        </p:spPr>
      </p:pic>
      <p:pic>
        <p:nvPicPr>
          <p:cNvPr id="12" name="Picture 11" descr="A diagram of a triangle&#10;&#10;AI-generated content may be incorrect.">
            <a:extLst>
              <a:ext uri="{FF2B5EF4-FFF2-40B4-BE49-F238E27FC236}">
                <a16:creationId xmlns:a16="http://schemas.microsoft.com/office/drawing/2014/main" id="{5ABCB29B-B091-7DA4-3F96-C677B366AC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4026" y="2193318"/>
            <a:ext cx="2857966" cy="1976306"/>
          </a:xfrm>
          <a:prstGeom prst="rect">
            <a:avLst/>
          </a:prstGeom>
          <a:ln>
            <a:solidFill>
              <a:srgbClr val="212D4D"/>
            </a:solidFill>
          </a:ln>
        </p:spPr>
      </p:pic>
      <p:pic>
        <p:nvPicPr>
          <p:cNvPr id="14" name="Graphic 13" descr="Badge 3 with solid fill">
            <a:extLst>
              <a:ext uri="{FF2B5EF4-FFF2-40B4-BE49-F238E27FC236}">
                <a16:creationId xmlns:a16="http://schemas.microsoft.com/office/drawing/2014/main" id="{6F647257-F23C-E0C7-E0D1-1C438AC6C0A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37984" y="1911662"/>
            <a:ext cx="360000" cy="36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C256FA8-E07C-5385-A04C-2C11C932D188}"/>
              </a:ext>
            </a:extLst>
          </p:cNvPr>
          <p:cNvSpPr txBox="1"/>
          <p:nvPr/>
        </p:nvSpPr>
        <p:spPr>
          <a:xfrm>
            <a:off x="6044921" y="1911662"/>
            <a:ext cx="2436175" cy="306467"/>
          </a:xfrm>
          <a:prstGeom prst="roundRect">
            <a:avLst/>
          </a:prstGeom>
          <a:ln>
            <a:solidFill>
              <a:srgbClr val="212D4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/>
              <a:t>Monte Carlo tree search (MCTS)</a:t>
            </a:r>
          </a:p>
        </p:txBody>
      </p:sp>
    </p:spTree>
    <p:extLst>
      <p:ext uri="{BB962C8B-B14F-4D97-AF65-F5344CB8AC3E}">
        <p14:creationId xmlns:p14="http://schemas.microsoft.com/office/powerpoint/2010/main" val="3016749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480041F4-A006-DF9D-512D-71F49E935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478C4804-997A-CA32-BD5E-9CD342A48B9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247CE577-4B91-8C95-C8A7-96A10EEDC81E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4A68654B-DAFB-5C57-379A-423F893D757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10BB7DB3-90FB-0B32-5DBE-C33D8A287FA7}"/>
              </a:ext>
            </a:extLst>
          </p:cNvPr>
          <p:cNvSpPr txBox="1"/>
          <p:nvPr/>
        </p:nvSpPr>
        <p:spPr>
          <a:xfrm>
            <a:off x="1408974" y="306875"/>
            <a:ext cx="6458097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11: Model-Based Reinforcement Learning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9FF8D3-1874-0C12-5321-DFAEF2DE06DE}"/>
              </a:ext>
            </a:extLst>
          </p:cNvPr>
          <p:cNvSpPr txBox="1"/>
          <p:nvPr/>
        </p:nvSpPr>
        <p:spPr>
          <a:xfrm>
            <a:off x="1635138" y="901661"/>
            <a:ext cx="58737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Learn the transition dynamics, then figure out how to choose actions</a:t>
            </a:r>
          </a:p>
        </p:txBody>
      </p:sp>
      <p:pic>
        <p:nvPicPr>
          <p:cNvPr id="4" name="Picture 3" descr="A diagram of a model&#10;&#10;AI-generated content may be incorrect.">
            <a:extLst>
              <a:ext uri="{FF2B5EF4-FFF2-40B4-BE49-F238E27FC236}">
                <a16:creationId xmlns:a16="http://schemas.microsoft.com/office/drawing/2014/main" id="{F5F6B994-3B19-F437-222D-39B44FA56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765" y="1406108"/>
            <a:ext cx="4448930" cy="14737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D95C85-7870-5070-A8C2-993202A0B6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0121" r="3480"/>
          <a:stretch>
            <a:fillRect/>
          </a:stretch>
        </p:blipFill>
        <p:spPr>
          <a:xfrm>
            <a:off x="1699732" y="3159643"/>
            <a:ext cx="5873724" cy="169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150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0F54809-D650-C4DF-7EE4-F44E0B481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B775852-1155-B97D-EF57-DFE65159CA2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E52188EA-7BD3-DCFA-B87B-7B4B0226AFC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0522869-B24F-128B-864B-4D9C926DB2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FABA7F94-F950-BFBF-393C-32373EB2CCEC}"/>
              </a:ext>
            </a:extLst>
          </p:cNvPr>
          <p:cNvSpPr txBox="1"/>
          <p:nvPr/>
        </p:nvSpPr>
        <p:spPr>
          <a:xfrm>
            <a:off x="2044168" y="2325544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감사합니다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3720127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1062</Words>
  <Application>Microsoft Macintosh PowerPoint</Application>
  <PresentationFormat>On-screen Show (16:9)</PresentationFormat>
  <Paragraphs>116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Cambria Math</vt:lpstr>
      <vt:lpstr>Wingdings</vt:lpstr>
      <vt:lpstr>NanumGothic ExtraBold</vt:lpstr>
      <vt:lpstr>Arial</vt:lpstr>
      <vt:lpstr>나눔바른고딕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김세린</dc:creator>
  <cp:lastModifiedBy>태아카</cp:lastModifiedBy>
  <cp:revision>13</cp:revision>
  <dcterms:modified xsi:type="dcterms:W3CDTF">2025-11-17T16:52:14Z</dcterms:modified>
</cp:coreProperties>
</file>