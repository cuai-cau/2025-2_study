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5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BBF0108D-BD2F-4137-900E-124B796E54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20"/>
    <p:restoredTop sz="95216" autoAdjust="0"/>
  </p:normalViewPr>
  <p:slideViewPr>
    <p:cSldViewPr snapToGrid="0">
      <p:cViewPr varScale="1">
        <p:scale>
          <a:sx n="100" d="100"/>
          <a:sy n="100" d="100"/>
        </p:scale>
        <p:origin x="228" y="39"/>
      </p:cViewPr>
      <p:guideLst>
        <p:guide orient="horz" pos="161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26accca8d11_0_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26accca8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여기부터는 스터디 발표에 쓰이는 PPT 슬라이드입니다!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6accca8d11_0_1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26accca8d11_0_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26accca8d1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6accca8d11_0_2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26accca8d1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6accca8d11_0_2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26accca8d1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6accca8d11_0_2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26accca8d1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6accca8d11_0_2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26accca8d1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6accca8d11_0_2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26accca8d1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6accca8d11_0_2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26accca8d1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6accca8d11_0_2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26accca8d1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6accca8d11_0_2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26accca8d1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6accca8d11_0_2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26accca8d1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6accca8d11_0_2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26accca8d1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0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0.xml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0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0.xml"  /><Relationship Id="rId3" Type="http://schemas.openxmlformats.org/officeDocument/2006/relationships/image" Target="../media/image2.png"  /><Relationship Id="rId4" Type="http://schemas.openxmlformats.org/officeDocument/2006/relationships/image" Target="../media/image4.jpe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0.xml"  /><Relationship Id="rId3" Type="http://schemas.openxmlformats.org/officeDocument/2006/relationships/image" Target="../media/image2.png"  /><Relationship Id="rId4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0.xml"  /><Relationship Id="rId3" Type="http://schemas.openxmlformats.org/officeDocument/2006/relationships/image" Target="../media/image2.png"  /><Relationship Id="rId4" Type="http://schemas.openxmlformats.org/officeDocument/2006/relationships/image" Target="../media/image6.png"  /><Relationship Id="rId5" Type="http://schemas.openxmlformats.org/officeDocument/2006/relationships/image" Target="../media/image7.png"  /><Relationship Id="rId6" Type="http://schemas.openxmlformats.org/officeDocument/2006/relationships/image" Target="../media/image8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0.xml"  /><Relationship Id="rId3" Type="http://schemas.openxmlformats.org/officeDocument/2006/relationships/image" Target="../media/image2.png"  /><Relationship Id="rId4" Type="http://schemas.openxmlformats.org/officeDocument/2006/relationships/image" Target="../media/image9.png"  /><Relationship Id="rId5" Type="http://schemas.openxmlformats.org/officeDocument/2006/relationships/image" Target="../media/image10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0.xml"  /><Relationship Id="rId3" Type="http://schemas.openxmlformats.org/officeDocument/2006/relationships/image" Target="../media/image2.png"  /><Relationship Id="rId4" Type="http://schemas.openxmlformats.org/officeDocument/2006/relationships/image" Target="../media/image11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0.xml"  /><Relationship Id="rId3" Type="http://schemas.openxmlformats.org/officeDocument/2006/relationships/image" Target="../media/image2.png"  /><Relationship Id="rId4" Type="http://schemas.openxmlformats.org/officeDocument/2006/relationships/image" Target="../media/image12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0.xml"  /><Relationship Id="rId3" Type="http://schemas.openxmlformats.org/officeDocument/2006/relationships/image" Target="../media/image2.png"  /><Relationship Id="rId4" Type="http://schemas.openxmlformats.org/officeDocument/2006/relationships/image" Target="../media/image13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0.xml"  /><Relationship Id="rId3" Type="http://schemas.openxmlformats.org/officeDocument/2006/relationships/image" Target="../media/image2.png"  /><Relationship Id="rId4" Type="http://schemas.openxmlformats.org/officeDocument/2006/relationships/image" Target="../media/image14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0.xml"  /><Relationship Id="rId3" Type="http://schemas.openxmlformats.org/officeDocument/2006/relationships/image" Target="../media/image2.png"  /><Relationship Id="rId4" Type="http://schemas.openxmlformats.org/officeDocument/2006/relationships/image" Target="../media/image15.png"  /><Relationship Id="rId5" Type="http://schemas.openxmlformats.org/officeDocument/2006/relationships/image" Target="../media/image16.png"  /><Relationship Id="rId6" Type="http://schemas.openxmlformats.org/officeDocument/2006/relationships/image" Target="../media/image17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0.xml"  /><Relationship Id="rId3" Type="http://schemas.openxmlformats.org/officeDocument/2006/relationships/image" Target="../media/image2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7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12" name="Google Shape;812;p73"/>
          <p:cNvSpPr txBox="1"/>
          <p:nvPr/>
        </p:nvSpPr>
        <p:spPr>
          <a:xfrm>
            <a:off x="1339749" y="2710050"/>
            <a:ext cx="6447674" cy="1553325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500" b="1">
                <a:solidFill>
                  <a:srgbClr val="19264b"/>
                </a:solidFill>
              </a:rPr>
              <a:t>밑바닥부터 시작하는 딥러닝</a:t>
            </a:r>
            <a:r>
              <a:rPr lang="ko" sz="2500" b="1">
                <a:solidFill>
                  <a:srgbClr val="19264b"/>
                </a:solidFill>
              </a:rPr>
              <a:t> 스터디 </a:t>
            </a:r>
            <a:r>
              <a:rPr lang="en-US" altLang="ko" sz="2500" b="1">
                <a:solidFill>
                  <a:srgbClr val="19264b"/>
                </a:solidFill>
              </a:rPr>
              <a:t>1</a:t>
            </a:r>
            <a:r>
              <a:rPr lang="ko" sz="2500" b="1">
                <a:solidFill>
                  <a:srgbClr val="19264b"/>
                </a:solidFill>
              </a:rPr>
              <a:t>팀</a:t>
            </a:r>
            <a:endParaRPr lang="ko" sz="2500" b="1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>
                <a:solidFill>
                  <a:srgbClr val="19264b"/>
                </a:solidFill>
              </a:rPr>
              <a:t>2025.</a:t>
            </a:r>
            <a:r>
              <a:rPr lang="en-US" altLang="ko-KR">
                <a:solidFill>
                  <a:srgbClr val="19264b"/>
                </a:solidFill>
              </a:rPr>
              <a:t>11</a:t>
            </a:r>
            <a:r>
              <a:rPr lang="ko">
                <a:solidFill>
                  <a:srgbClr val="19264b"/>
                </a:solidFill>
              </a:rPr>
              <a:t>.</a:t>
            </a:r>
            <a:r>
              <a:rPr lang="en-US" altLang="ko-KR">
                <a:solidFill>
                  <a:srgbClr val="19264b"/>
                </a:solidFill>
              </a:rPr>
              <a:t>11</a:t>
            </a:r>
            <a:endParaRPr lang="en-US" altLang="ko-KR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100">
                <a:solidFill>
                  <a:srgbClr val="19264b"/>
                </a:solidFill>
              </a:rPr>
              <a:t>발표자 : </a:t>
            </a:r>
            <a:r>
              <a:rPr lang="ko-KR" altLang="en-US" sz="1100">
                <a:solidFill>
                  <a:srgbClr val="19264b"/>
                </a:solidFill>
              </a:rPr>
              <a:t>양재영</a:t>
            </a:r>
            <a:endParaRPr lang="ko-KR" altLang="en-US" sz="1100">
              <a:solidFill>
                <a:srgbClr val="19264b"/>
              </a:solidFill>
            </a:endParaRPr>
          </a:p>
        </p:txBody>
      </p:sp>
      <p:cxnSp>
        <p:nvCxnSpPr>
          <p:cNvPr id="813" name="Google Shape;813;p7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14" name="Google Shape;814;p7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7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30" name="Google Shape;830;p7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31" name="Google Shape;831;p7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75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목차</a:t>
            </a:r>
            <a:endParaRPr sz="2000">
              <a:solidFill>
                <a:srgbClr val="19264b"/>
              </a:solidFill>
              <a:latin typeface="나눔고딕 ExtraBold"/>
              <a:ea typeface="나눔고딕 ExtraBold"/>
              <a:cs typeface="나눔고딕 ExtraBold"/>
              <a:sym typeface="나눔고딕 ExtraBold"/>
            </a:endParaRPr>
          </a:p>
        </p:txBody>
      </p:sp>
      <p:sp>
        <p:nvSpPr>
          <p:cNvPr id="3" name="Google Shape;824;p74"/>
          <p:cNvSpPr txBox="1"/>
          <p:nvPr/>
        </p:nvSpPr>
        <p:spPr>
          <a:xfrm>
            <a:off x="1720146" y="1107494"/>
            <a:ext cx="4599087" cy="81273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ko-KR" altLang="en-US"/>
              <a:t>스터디원 소개 및 만남 인증</a:t>
            </a:r>
            <a:endParaRPr lang="ko-KR" altLang="en-US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ko-KR" altLang="en-US"/>
              <a:t>스터디 진행 현황</a:t>
            </a:r>
            <a:endParaRPr lang="ko-KR" altLang="en-US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ko-KR" altLang="en-US"/>
              <a:t>스터디 내용 정리 </a:t>
            </a:r>
            <a:r>
              <a:rPr lang="en-US" altLang="ko-KR"/>
              <a:t>(Chapter 4, Chapter 5)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7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20" name="Google Shape;820;p7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1" name="Google Shape;821;p74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4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1. </a:t>
            </a:r>
            <a:r>
              <a:rPr lang="ko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스터디원 소개 및 만남 인증</a:t>
            </a:r>
            <a:endParaRPr sz="2000">
              <a:solidFill>
                <a:srgbClr val="19264b"/>
              </a:solidFill>
              <a:latin typeface="나눔고딕 ExtraBold"/>
              <a:ea typeface="나눔고딕 ExtraBold"/>
              <a:cs typeface="나눔고딕 ExtraBold"/>
              <a:sym typeface="나눔고딕 ExtraBold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4956148" y="1852986"/>
          <a:ext cx="3735803" cy="1321740"/>
        </p:xfrm>
        <a:graphic>
          <a:graphicData uri="http://schemas.openxmlformats.org/drawingml/2006/table">
            <a:tbl>
              <a:tblPr firstRow="1" bandRow="1">
                <a:tableStyleId>{BBF0108D-BD2F-4137-900E-124B796E543B}</a:tableStyleId>
              </a:tblPr>
              <a:tblGrid>
                <a:gridCol w="208280"/>
                <a:gridCol w="1439643"/>
                <a:gridCol w="2087880"/>
              </a:tblGrid>
              <a:tr h="330435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solidFill>
                      <a:schemeClr val="tx2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/>
                        <a:t>스터디원</a:t>
                      </a:r>
                      <a:endParaRPr lang="ko-KR" altLang="en-US"/>
                    </a:p>
                  </a:txBody>
                  <a:tcPr marL="91440" marR="91440">
                    <a:solidFill>
                      <a:schemeClr val="tx2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/>
                        <a:t>학과</a:t>
                      </a:r>
                      <a:endParaRPr lang="ko-KR" altLang="en-US"/>
                    </a:p>
                  </a:txBody>
                  <a:tcPr marL="91440" marR="91440">
                    <a:solidFill>
                      <a:schemeClr val="tx2"/>
                    </a:solidFill>
                  </a:tcPr>
                </a:tc>
              </a:tr>
              <a:tr h="330435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/>
                        <a:t>김은기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/>
                        <a:t>AI</a:t>
                      </a:r>
                      <a:r>
                        <a:rPr lang="ko-KR" altLang="en-US"/>
                        <a:t>학과</a:t>
                      </a:r>
                      <a:endParaRPr lang="ko-KR" altLang="en-US"/>
                    </a:p>
                  </a:txBody>
                  <a:tcPr marL="91440" marR="91440"/>
                </a:tc>
              </a:tr>
              <a:tr h="330435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/>
                        <a:t>이성욱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/>
                        <a:t>AI</a:t>
                      </a:r>
                      <a:r>
                        <a:rPr lang="ko-KR" altLang="en-US"/>
                        <a:t>학과</a:t>
                      </a:r>
                      <a:endParaRPr lang="ko-KR" altLang="en-US"/>
                    </a:p>
                  </a:txBody>
                  <a:tcPr marL="91440" marR="91440"/>
                </a:tc>
              </a:tr>
              <a:tr h="330435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/>
                        <a:t>양재영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/>
                        <a:t>AI</a:t>
                      </a:r>
                      <a:r>
                        <a:rPr lang="ko-KR" altLang="en-US"/>
                        <a:t>학과</a:t>
                      </a: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pic>
        <p:nvPicPr>
          <p:cNvPr id="824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405076" y="917222"/>
            <a:ext cx="3441070" cy="37817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38" name="Google Shape;838;p7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39" name="Google Shape;839;p7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7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en-US" altLang="ko-KR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2. </a:t>
            </a:r>
            <a:r>
              <a:rPr lang="ko-KR" altLang="en-US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스터디 진행 현황</a:t>
            </a:r>
            <a:endParaRPr lang="ko-KR" altLang="en-US" sz="2000">
              <a:solidFill>
                <a:srgbClr val="19264b"/>
              </a:solidFill>
              <a:latin typeface="나눔고딕 ExtraBold"/>
              <a:ea typeface="나눔고딕 ExtraBold"/>
              <a:cs typeface="나눔고딕 ExtraBold"/>
              <a:sym typeface="나눔고딕 ExtraBold"/>
            </a:endParaRPr>
          </a:p>
        </p:txBody>
      </p:sp>
      <p:sp>
        <p:nvSpPr>
          <p:cNvPr id="2" name="Google Shape;824;p74"/>
          <p:cNvSpPr txBox="1"/>
          <p:nvPr/>
        </p:nvSpPr>
        <p:spPr>
          <a:xfrm>
            <a:off x="1707900" y="1148316"/>
            <a:ext cx="5251852" cy="182918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ko-KR" altLang="en-US"/>
              <a:t>시간 </a:t>
            </a:r>
            <a:r>
              <a:rPr lang="en-US" altLang="ko-KR"/>
              <a:t>: </a:t>
            </a:r>
            <a:r>
              <a:rPr lang="ko-KR" altLang="en-US"/>
              <a:t>매주 금요일 </a:t>
            </a:r>
            <a:r>
              <a:rPr lang="en-US" altLang="ko-KR"/>
              <a:t>20 – 21</a:t>
            </a:r>
            <a:r>
              <a:rPr lang="ko-KR" altLang="en-US"/>
              <a:t>시</a:t>
            </a:r>
            <a:r>
              <a:rPr lang="en-US" altLang="ko-KR"/>
              <a:t> </a:t>
            </a:r>
            <a:endParaRPr lang="en-US" altLang="ko-KR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ko-KR" altLang="en-US"/>
              <a:t>방법 </a:t>
            </a:r>
            <a:r>
              <a:rPr lang="en-US" altLang="ko-KR"/>
              <a:t>: </a:t>
            </a:r>
            <a:r>
              <a:rPr lang="ko-KR" altLang="en-US"/>
              <a:t>비대면 </a:t>
            </a:r>
            <a:r>
              <a:rPr lang="en-US" altLang="ko-KR"/>
              <a:t>(</a:t>
            </a:r>
            <a:r>
              <a:rPr lang="ko-KR" altLang="en-US"/>
              <a:t>줌 </a:t>
            </a:r>
            <a:r>
              <a:rPr lang="en-US" altLang="ko-KR"/>
              <a:t>/ </a:t>
            </a:r>
            <a:r>
              <a:rPr lang="ko-KR" altLang="en-US"/>
              <a:t>노션 정리</a:t>
            </a:r>
            <a:r>
              <a:rPr lang="en-US" altLang="ko-KR"/>
              <a:t>)</a:t>
            </a:r>
            <a:endParaRPr lang="en-US" altLang="ko-KR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ko-KR" altLang="en-US"/>
              <a:t>진행 방식 </a:t>
            </a:r>
            <a:r>
              <a:rPr lang="en-US" altLang="ko-KR"/>
              <a:t>:</a:t>
            </a:r>
            <a:endParaRPr lang="ko-KR" altLang="en-US"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300" b="1"/>
              <a:t>                </a:t>
            </a:r>
            <a:r>
              <a:rPr lang="en-US" altLang="ko-KR" sz="1300"/>
              <a:t>(1)</a:t>
            </a:r>
            <a:r>
              <a:rPr lang="ko-KR" altLang="en-US" sz="1300" b="1"/>
              <a:t> 매주 한 챕터씩 각자 예습 후 노션에 공부한 내용을 공유</a:t>
            </a:r>
            <a:endParaRPr lang="ko-KR" altLang="en-US" sz="1300" b="1"/>
          </a:p>
          <a:p>
            <a:pPr lvl="2">
              <a:defRPr/>
            </a:pPr>
            <a:r>
              <a:rPr lang="ko-KR" altLang="en-US" sz="1300" b="1"/>
              <a:t>               </a:t>
            </a:r>
            <a:r>
              <a:rPr lang="ko-KR" altLang="en-US" sz="1300"/>
              <a:t> </a:t>
            </a:r>
            <a:r>
              <a:rPr lang="en-US" altLang="ko-KR" sz="1300"/>
              <a:t>(2)</a:t>
            </a:r>
            <a:r>
              <a:rPr lang="ko-KR" altLang="en-US" sz="1300" b="1"/>
              <a:t> 스터디에서 모르는 부분을 함께 상의</a:t>
            </a:r>
            <a:endParaRPr lang="ko-KR" altLang="en-US" sz="1300" b="1"/>
          </a:p>
          <a:p>
            <a:pPr lvl="2">
              <a:defRPr/>
            </a:pPr>
            <a:r>
              <a:rPr lang="ko-KR" altLang="en-US" sz="1300" b="1"/>
              <a:t>              </a:t>
            </a:r>
            <a:r>
              <a:rPr lang="ko-KR" altLang="en-US" sz="1300"/>
              <a:t>  </a:t>
            </a:r>
            <a:r>
              <a:rPr lang="en-US" altLang="ko-KR" sz="1300"/>
              <a:t>(3)</a:t>
            </a:r>
            <a:r>
              <a:rPr lang="ko-KR" altLang="en-US" sz="1300"/>
              <a:t> </a:t>
            </a:r>
            <a:r>
              <a:rPr lang="ko-KR" altLang="en-US" sz="1300" b="1"/>
              <a:t>추가적인</a:t>
            </a:r>
            <a:r>
              <a:rPr lang="ko-KR" altLang="en-US" sz="1300"/>
              <a:t> </a:t>
            </a:r>
            <a:r>
              <a:rPr lang="ko-KR" altLang="en-US" sz="1300" b="1"/>
              <a:t>논문</a:t>
            </a:r>
            <a:r>
              <a:rPr lang="en-US" altLang="ko-KR" sz="1300" b="1"/>
              <a:t>/</a:t>
            </a:r>
            <a:r>
              <a:rPr lang="ko-KR" altLang="en-US" sz="1300" b="1"/>
              <a:t>영상으로 보충</a:t>
            </a:r>
            <a:endParaRPr lang="ko-KR" altLang="en-US" sz="1300" b="1"/>
          </a:p>
          <a:p>
            <a:pPr lvl="2">
              <a:defRPr/>
            </a:pPr>
            <a:endParaRPr lang="ko-KR" altLang="en-US"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>4.</a:t>
            </a:r>
            <a:r>
              <a:rPr lang="ko-KR" altLang="en-US"/>
              <a:t>    스터디 일정 </a:t>
            </a:r>
            <a:r>
              <a:rPr lang="en-US" altLang="ko-KR"/>
              <a:t>: </a:t>
            </a:r>
            <a:endParaRPr lang="en-US" altLang="ko-KR"/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183437" y="3091190"/>
          <a:ext cx="4343024" cy="1246576"/>
        </p:xfrm>
        <a:graphic>
          <a:graphicData uri="http://schemas.openxmlformats.org/drawingml/2006/table">
            <a:tbl>
              <a:tblPr firstRow="1" bandRow="1">
                <a:tableStyleId>{BBF0108D-BD2F-4137-900E-124B796E543B}</a:tableStyleId>
              </a:tblPr>
              <a:tblGrid>
                <a:gridCol w="1508728"/>
                <a:gridCol w="2834295"/>
              </a:tblGrid>
              <a:tr h="415525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/>
                        <a:t>날짜</a:t>
                      </a:r>
                      <a:endParaRPr lang="ko-KR" altLang="en-US"/>
                    </a:p>
                  </a:txBody>
                  <a:tcPr marL="91440" marR="91440" anchor="ctr">
                    <a:solidFill>
                      <a:schemeClr val="tx2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/>
                        <a:t>내용</a:t>
                      </a:r>
                      <a:endParaRPr lang="ko-KR" altLang="en-US"/>
                    </a:p>
                  </a:txBody>
                  <a:tcPr marL="91440" marR="91440" anchor="ctr">
                    <a:solidFill>
                      <a:schemeClr val="tx2"/>
                    </a:solidFill>
                  </a:tcPr>
                </a:tc>
              </a:tr>
              <a:tr h="415525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/>
                        <a:t>10/24~10/31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/>
                        <a:t>Chapter 4 </a:t>
                      </a:r>
                      <a:r>
                        <a:rPr lang="ko-KR" altLang="en-US"/>
                        <a:t>학습</a:t>
                      </a:r>
                      <a:endParaRPr lang="ko-KR" altLang="en-US"/>
                    </a:p>
                  </a:txBody>
                  <a:tcPr marL="91440" marR="91440" anchor="ctr"/>
                </a:tc>
              </a:tr>
              <a:tr h="415525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/>
                        <a:t>11/1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~11/8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/>
                        <a:t>Chapter 5 </a:t>
                      </a:r>
                      <a:r>
                        <a:rPr lang="ko-KR" altLang="en-US"/>
                        <a:t>학습</a:t>
                      </a:r>
                      <a:endParaRPr lang="ko-KR" altLang="en-US"/>
                    </a:p>
                  </a:txBody>
                  <a:tcPr marL="91440" marR="91440" anchor="ctr"/>
                </a:tc>
              </a:tr>
            </a:tbl>
          </a:graphicData>
        </a:graphic>
      </p:graphicFrame>
      <p:pic>
        <p:nvPicPr>
          <p:cNvPr id="1026" name="Picture 2" descr="밑바닥부터 시작하는 딥러닝 1(리마스터판) 대표 이미지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971649" y="1394952"/>
            <a:ext cx="1829849" cy="235359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38" name="Google Shape;838;p7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39" name="Google Shape;839;p7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7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en-US" altLang="ko-KR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3. </a:t>
            </a:r>
            <a:r>
              <a:rPr lang="ko-KR" altLang="en-US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스터디 내용 </a:t>
            </a:r>
            <a:r>
              <a:rPr lang="en-US" altLang="ko-KR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-</a:t>
            </a:r>
            <a:r>
              <a:rPr lang="ko-KR" altLang="en-US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 </a:t>
            </a:r>
            <a:r>
              <a:rPr lang="en-US" altLang="ko-KR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Chapter 4</a:t>
            </a:r>
            <a:endParaRPr lang="en-US" altLang="ko-KR" sz="2000">
              <a:solidFill>
                <a:srgbClr val="19264b"/>
              </a:solidFill>
              <a:latin typeface="나눔고딕 ExtraBold"/>
              <a:ea typeface="나눔고딕 ExtraBold"/>
              <a:cs typeface="나눔고딕 ExtraBold"/>
              <a:sym typeface="나눔고딕 ExtraBold"/>
            </a:endParaRPr>
          </a:p>
        </p:txBody>
      </p:sp>
      <p:pic>
        <p:nvPicPr>
          <p:cNvPr id="842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37946" y="1571625"/>
            <a:ext cx="5698773" cy="1924050"/>
          </a:xfrm>
          <a:prstGeom prst="rect">
            <a:avLst/>
          </a:prstGeom>
        </p:spPr>
      </p:pic>
      <p:sp>
        <p:nvSpPr>
          <p:cNvPr id="843" name=""/>
          <p:cNvSpPr txBox="1"/>
          <p:nvPr/>
        </p:nvSpPr>
        <p:spPr>
          <a:xfrm>
            <a:off x="1901472" y="52562"/>
            <a:ext cx="914400" cy="51703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endPara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>
              <a:defRPr/>
            </a:pPr>
            <a:endParaRPr lang="ko-KR" altLang="en-US"/>
          </a:p>
        </p:txBody>
      </p:sp>
      <p:sp>
        <p:nvSpPr>
          <p:cNvPr id="844" name=""/>
          <p:cNvSpPr/>
          <p:nvPr/>
        </p:nvSpPr>
        <p:spPr>
          <a:xfrm>
            <a:off x="1576916" y="910166"/>
            <a:ext cx="4572000" cy="32455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1. Dataset</a:t>
            </a:r>
            <a:r>
              <a:rPr lang="ko-KR" altLang="en-US">
                <a:solidFill>
                  <a:schemeClr val="dk1"/>
                </a:solidFill>
              </a:rPr>
              <a:t>의 구성 및</a:t>
            </a:r>
            <a:r>
              <a:rPr lang="en-US" altLang="ko-KR">
                <a:solidFill>
                  <a:schemeClr val="dk1"/>
                </a:solidFill>
              </a:rPr>
              <a:t> </a:t>
            </a:r>
            <a:r>
              <a:rPr lang="ko-KR" altLang="en-US">
                <a:solidFill>
                  <a:schemeClr val="dk1"/>
                </a:solidFill>
              </a:rPr>
              <a:t>학습의 종류 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845" name=""/>
          <p:cNvSpPr/>
          <p:nvPr/>
        </p:nvSpPr>
        <p:spPr>
          <a:xfrm>
            <a:off x="1660525" y="1231547"/>
            <a:ext cx="6977944" cy="571500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* </a:t>
            </a:r>
            <a:r>
              <a:rPr lang="ko-KR" altLang="en-US">
                <a:solidFill>
                  <a:schemeClr val="dk1"/>
                </a:solidFill>
              </a:rPr>
              <a:t>전체 </a:t>
            </a:r>
            <a:r>
              <a:rPr lang="en-US" altLang="ko-KR">
                <a:solidFill>
                  <a:schemeClr val="dk1"/>
                </a:solidFill>
              </a:rPr>
              <a:t>sample</a:t>
            </a:r>
            <a:r>
              <a:rPr lang="ko-KR" altLang="en-US">
                <a:solidFill>
                  <a:schemeClr val="dk1"/>
                </a:solidFill>
              </a:rPr>
              <a:t>의 수 </a:t>
            </a:r>
            <a:r>
              <a:rPr lang="en-US" altLang="ko-KR">
                <a:solidFill>
                  <a:schemeClr val="dk1"/>
                </a:solidFill>
              </a:rPr>
              <a:t>=</a:t>
            </a:r>
            <a:r>
              <a:rPr lang="ko-KR" altLang="en-US">
                <a:solidFill>
                  <a:schemeClr val="dk1"/>
                </a:solidFill>
              </a:rPr>
              <a:t> </a:t>
            </a:r>
            <a:r>
              <a:rPr lang="en-US" altLang="ko-KR">
                <a:solidFill>
                  <a:schemeClr val="dk1"/>
                </a:solidFill>
              </a:rPr>
              <a:t>N,</a:t>
            </a:r>
            <a:r>
              <a:rPr lang="ko-KR" altLang="en-US">
                <a:solidFill>
                  <a:schemeClr val="dk1"/>
                </a:solidFill>
              </a:rPr>
              <a:t> 전체 </a:t>
            </a:r>
            <a:r>
              <a:rPr lang="en-US" altLang="ko-KR">
                <a:solidFill>
                  <a:schemeClr val="dk1"/>
                </a:solidFill>
              </a:rPr>
              <a:t>feature</a:t>
            </a:r>
            <a:r>
              <a:rPr lang="ko-KR" altLang="en-US">
                <a:solidFill>
                  <a:schemeClr val="dk1"/>
                </a:solidFill>
              </a:rPr>
              <a:t>의 수 </a:t>
            </a:r>
            <a:r>
              <a:rPr lang="en-US" altLang="ko-KR">
                <a:solidFill>
                  <a:schemeClr val="dk1"/>
                </a:solidFill>
              </a:rPr>
              <a:t>=</a:t>
            </a:r>
            <a:r>
              <a:rPr lang="ko-KR" altLang="en-US">
                <a:solidFill>
                  <a:schemeClr val="dk1"/>
                </a:solidFill>
              </a:rPr>
              <a:t> </a:t>
            </a:r>
            <a:r>
              <a:rPr lang="en-US" altLang="ko-KR">
                <a:solidFill>
                  <a:schemeClr val="dk1"/>
                </a:solidFill>
              </a:rPr>
              <a:t>D,</a:t>
            </a:r>
            <a:r>
              <a:rPr lang="ko-KR" altLang="en-US">
                <a:solidFill>
                  <a:schemeClr val="dk1"/>
                </a:solidFill>
              </a:rPr>
              <a:t> </a:t>
            </a:r>
            <a:r>
              <a:rPr lang="en-US" altLang="ko-KR">
                <a:solidFill>
                  <a:schemeClr val="dk1"/>
                </a:solidFill>
              </a:rPr>
              <a:t>Label = </a:t>
            </a:r>
            <a:r>
              <a:rPr lang="ko-KR" altLang="en-US">
                <a:solidFill>
                  <a:schemeClr val="dk1"/>
                </a:solidFill>
              </a:rPr>
              <a:t>예측하고자 하는 </a:t>
            </a:r>
            <a:r>
              <a:rPr lang="en-US" altLang="ko-KR">
                <a:solidFill>
                  <a:schemeClr val="dk1"/>
                </a:solidFill>
              </a:rPr>
              <a:t>target</a:t>
            </a:r>
            <a:r>
              <a:rPr lang="ko-KR" altLang="en-US">
                <a:solidFill>
                  <a:schemeClr val="dk1"/>
                </a:solidFill>
              </a:rPr>
              <a:t> 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847" name=""/>
          <p:cNvSpPr/>
          <p:nvPr/>
        </p:nvSpPr>
        <p:spPr>
          <a:xfrm>
            <a:off x="1628774" y="3598333"/>
            <a:ext cx="6900333" cy="12911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* target</a:t>
            </a:r>
            <a:r>
              <a:rPr lang="ko-KR" altLang="en-US">
                <a:solidFill>
                  <a:schemeClr val="dk1"/>
                </a:solidFill>
              </a:rPr>
              <a:t>의 종류에 따라 크게 </a:t>
            </a:r>
            <a:r>
              <a:rPr lang="en-US" altLang="ko-KR">
                <a:solidFill>
                  <a:schemeClr val="dk1"/>
                </a:solidFill>
              </a:rPr>
              <a:t>3</a:t>
            </a:r>
            <a:r>
              <a:rPr lang="ko-KR" altLang="en-US">
                <a:solidFill>
                  <a:schemeClr val="dk1"/>
                </a:solidFill>
              </a:rPr>
              <a:t>가지 학습으로 분류</a:t>
            </a: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⓵ </a:t>
            </a:r>
            <a:r>
              <a:rPr lang="en-US" altLang="ko-KR">
                <a:solidFill>
                  <a:schemeClr val="dk1"/>
                </a:solidFill>
              </a:rPr>
              <a:t>target</a:t>
            </a:r>
            <a:r>
              <a:rPr lang="ko-KR" altLang="en-US">
                <a:solidFill>
                  <a:schemeClr val="dk1"/>
                </a:solidFill>
              </a:rPr>
              <a:t>이 연속적인 실수(real number) 인 문제 </a:t>
            </a:r>
            <a:r>
              <a:rPr lang="en-US" altLang="ko-KR">
                <a:solidFill>
                  <a:schemeClr val="dk1"/>
                </a:solidFill>
              </a:rPr>
              <a:t>=</a:t>
            </a:r>
            <a:r>
              <a:rPr lang="ko-KR" altLang="en-US">
                <a:solidFill>
                  <a:schemeClr val="dk1"/>
                </a:solidFill>
              </a:rPr>
              <a:t> </a:t>
            </a:r>
            <a:r>
              <a:rPr lang="en-US" altLang="ko-KR">
                <a:solidFill>
                  <a:schemeClr val="dk1"/>
                </a:solidFill>
              </a:rPr>
              <a:t>regression</a:t>
            </a:r>
            <a:endParaRPr lang="en-US" altLang="ko-KR">
              <a:solidFill>
                <a:schemeClr val="dk1"/>
              </a:solidFill>
            </a:endParaRPr>
          </a:p>
          <a:p>
            <a:pPr>
              <a:defRPr/>
            </a:pPr>
            <a:endParaRPr lang="en-US" altLang="ko-KR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⓶ </a:t>
            </a:r>
            <a:r>
              <a:rPr lang="en-US" altLang="ko-KR">
                <a:solidFill>
                  <a:schemeClr val="dk1"/>
                </a:solidFill>
              </a:rPr>
              <a:t>target</a:t>
            </a:r>
            <a:r>
              <a:rPr lang="ko-KR" altLang="en-US">
                <a:solidFill>
                  <a:schemeClr val="dk1"/>
                </a:solidFill>
              </a:rPr>
              <a:t>이 두 개의 클래스 중 하나인 문제</a:t>
            </a:r>
            <a:r>
              <a:rPr lang="en-US" altLang="ko-KR">
                <a:solidFill>
                  <a:schemeClr val="dk1"/>
                </a:solidFill>
              </a:rPr>
              <a:t> = binary classification</a:t>
            </a:r>
            <a:endParaRPr lang="en-US" altLang="ko-KR">
              <a:solidFill>
                <a:schemeClr val="dk1"/>
              </a:solidFill>
            </a:endParaRPr>
          </a:p>
          <a:p>
            <a:pPr>
              <a:defRPr/>
            </a:pPr>
            <a:endParaRPr lang="en-US" altLang="ko-KR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⓷ </a:t>
            </a:r>
            <a:r>
              <a:rPr lang="en-US" altLang="ko-KR">
                <a:solidFill>
                  <a:schemeClr val="dk1"/>
                </a:solidFill>
              </a:rPr>
              <a:t>target</a:t>
            </a:r>
            <a:r>
              <a:rPr lang="ko-KR" altLang="en-US">
                <a:solidFill>
                  <a:schemeClr val="dk1"/>
                </a:solidFill>
              </a:rPr>
              <a:t>이 여러 개의 클래스 중 하나인 문제</a:t>
            </a:r>
            <a:r>
              <a:rPr lang="en-US" altLang="ko-KR">
                <a:solidFill>
                  <a:schemeClr val="dk1"/>
                </a:solidFill>
              </a:rPr>
              <a:t> = multi-label classification</a:t>
            </a:r>
            <a:endParaRPr lang="en-US" altLang="ko-KR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38" name="Google Shape;838;p7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39" name="Google Shape;839;p7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7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en-US" altLang="ko-KR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3. </a:t>
            </a:r>
            <a:r>
              <a:rPr lang="ko-KR" altLang="en-US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스터디 내용</a:t>
            </a:r>
            <a:r>
              <a:rPr lang="en-US" altLang="ko-KR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 -</a:t>
            </a:r>
            <a:r>
              <a:rPr lang="ko-KR" altLang="en-US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 </a:t>
            </a:r>
            <a:r>
              <a:rPr lang="en-US" altLang="ko-KR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Chapter 4</a:t>
            </a:r>
            <a:endParaRPr lang="en-US" altLang="ko-KR" sz="2000">
              <a:solidFill>
                <a:srgbClr val="19264b"/>
              </a:solidFill>
              <a:latin typeface="나눔고딕 ExtraBold"/>
              <a:ea typeface="나눔고딕 ExtraBold"/>
              <a:cs typeface="나눔고딕 ExtraBold"/>
              <a:sym typeface="나눔고딕 ExtraBold"/>
            </a:endParaRPr>
          </a:p>
        </p:txBody>
      </p:sp>
      <p:sp>
        <p:nvSpPr>
          <p:cNvPr id="841" name=""/>
          <p:cNvSpPr/>
          <p:nvPr/>
        </p:nvSpPr>
        <p:spPr>
          <a:xfrm>
            <a:off x="1576916" y="910166"/>
            <a:ext cx="5863167" cy="324555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 algn="ctr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2. Loss function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: 신경망 성능에서의 ‘나쁨’ 정도를 나타내는 지표</a:t>
            </a:r>
            <a:endPara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842" name=""/>
          <p:cNvSpPr/>
          <p:nvPr/>
        </p:nvSpPr>
        <p:spPr>
          <a:xfrm>
            <a:off x="1605141" y="2447926"/>
            <a:ext cx="7104944" cy="2949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1.</a:t>
            </a:r>
            <a:r>
              <a:rPr lang="ko-KR" altLang="en-US">
                <a:solidFill>
                  <a:schemeClr val="dk1"/>
                </a:solidFill>
              </a:rPr>
              <a:t> </a:t>
            </a:r>
            <a:r>
              <a:rPr lang="en-US" altLang="ko-KR">
                <a:solidFill>
                  <a:schemeClr val="dk1"/>
                </a:solidFill>
              </a:rPr>
              <a:t>MSE : 예측값과 실제값의 차이를 제곱해서 평균을 낸 것</a:t>
            </a:r>
            <a:endParaRPr lang="en-US" altLang="ko-KR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 </a:t>
            </a:r>
            <a:endParaRPr lang="en-US" altLang="ko-KR">
              <a:solidFill>
                <a:schemeClr val="dk1"/>
              </a:solidFill>
            </a:endParaRPr>
          </a:p>
          <a:p>
            <a:pPr>
              <a:defRPr/>
            </a:pPr>
            <a:endParaRPr lang="en-US" altLang="ko-KR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2.</a:t>
            </a:r>
            <a:r>
              <a:rPr lang="ko-KR" altLang="en-US">
                <a:solidFill>
                  <a:schemeClr val="dk1"/>
                </a:solidFill>
              </a:rPr>
              <a:t> </a:t>
            </a:r>
            <a:r>
              <a:rPr lang="en-US" altLang="ko-KR">
                <a:solidFill>
                  <a:schemeClr val="dk1"/>
                </a:solidFill>
              </a:rPr>
              <a:t>Binary-cross entropy : 예측 확률이 실제 라벨(0 또는 1)에 얼마나 가까운지를 </a:t>
            </a:r>
            <a:r>
              <a:rPr lang="ko-KR" altLang="en-US">
                <a:solidFill>
                  <a:schemeClr val="dk1"/>
                </a:solidFill>
              </a:rPr>
              <a:t>계산</a:t>
            </a: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3.</a:t>
            </a:r>
            <a:r>
              <a:rPr lang="ko-KR" altLang="en-US">
                <a:solidFill>
                  <a:schemeClr val="dk1"/>
                </a:solidFill>
              </a:rPr>
              <a:t> </a:t>
            </a:r>
            <a:r>
              <a:rPr lang="en-US" altLang="ko-KR">
                <a:solidFill>
                  <a:schemeClr val="dk1"/>
                </a:solidFill>
              </a:rPr>
              <a:t>Categorical-cross entropy : Softmax 확률분포와 실제 정답(one-hot) 분포의 차이 계산</a:t>
            </a:r>
            <a:endParaRPr lang="en-US" altLang="ko-KR">
              <a:solidFill>
                <a:schemeClr val="dk1"/>
              </a:solidFill>
            </a:endParaRPr>
          </a:p>
          <a:p>
            <a:pPr>
              <a:defRPr/>
            </a:pPr>
            <a:endParaRPr lang="en-US" altLang="ko-KR">
              <a:solidFill>
                <a:schemeClr val="dk1"/>
              </a:solidFill>
            </a:endParaRPr>
          </a:p>
        </p:txBody>
      </p:sp>
      <p:graphicFrame>
        <p:nvGraphicFramePr>
          <p:cNvPr id="843" name=""/>
          <p:cNvGraphicFramePr>
            <a:graphicFrameLocks noGrp="1"/>
          </p:cNvGraphicFramePr>
          <p:nvPr/>
        </p:nvGraphicFramePr>
        <p:xfrm>
          <a:off x="1890889" y="1386416"/>
          <a:ext cx="6075045" cy="138793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516380"/>
                <a:gridCol w="1516380"/>
                <a:gridCol w="1516379"/>
                <a:gridCol w="1525906"/>
              </a:tblGrid>
              <a:tr h="65831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학습</a:t>
                      </a:r>
                      <a:r>
                        <a:rPr lang="ko-KR" altLang="en-US" sz="1300"/>
                        <a:t> </a:t>
                      </a: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종류에 따른 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loss</a:t>
                      </a: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의 종류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regression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binary classification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multi-class classification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639907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endParaRPr lang="en-US" altLang="ko-KR"/>
                    </a:p>
                    <a:p>
                      <a:pPr algn="ctr">
                        <a:defRPr/>
                      </a:pPr>
                      <a:r>
                        <a:rPr lang="en-US" altLang="ko-KR"/>
                        <a:t>Loss function</a:t>
                      </a: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MSE, MAE, Huber Loss</a:t>
                      </a: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Binary-cross entropy, </a:t>
                      </a:r>
                      <a:endParaRPr lang="en-US" altLang="ko-KR"/>
                    </a:p>
                    <a:p>
                      <a:pPr algn="ctr">
                        <a:defRPr/>
                      </a:pPr>
                      <a:r>
                        <a:rPr lang="en-US" altLang="ko-KR"/>
                        <a:t>Hinge loss</a:t>
                      </a: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Categorical - Cross Entropy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844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762124" y="3277989"/>
            <a:ext cx="1618329" cy="413573"/>
          </a:xfrm>
          <a:prstGeom prst="rect">
            <a:avLst/>
          </a:prstGeom>
        </p:spPr>
      </p:pic>
      <p:pic>
        <p:nvPicPr>
          <p:cNvPr id="845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739481" y="3911423"/>
            <a:ext cx="3096813" cy="419453"/>
          </a:xfrm>
          <a:prstGeom prst="rect">
            <a:avLst/>
          </a:prstGeom>
        </p:spPr>
      </p:pic>
      <p:pic>
        <p:nvPicPr>
          <p:cNvPr id="846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824743" y="4610379"/>
            <a:ext cx="1345847" cy="413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38" name="Google Shape;838;p7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39" name="Google Shape;839;p7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7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en-US" altLang="ko-KR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3. </a:t>
            </a:r>
            <a:r>
              <a:rPr lang="ko-KR" altLang="en-US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스터디 내용</a:t>
            </a:r>
            <a:r>
              <a:rPr lang="en-US" altLang="ko-KR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 -</a:t>
            </a:r>
            <a:r>
              <a:rPr lang="ko-KR" altLang="en-US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 </a:t>
            </a:r>
            <a:r>
              <a:rPr lang="en-US" altLang="ko-KR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Chapter 4</a:t>
            </a:r>
            <a:endParaRPr lang="en-US" altLang="ko-KR" sz="2000">
              <a:solidFill>
                <a:srgbClr val="19264b"/>
              </a:solidFill>
              <a:latin typeface="나눔고딕 ExtraBold"/>
              <a:ea typeface="나눔고딕 ExtraBold"/>
              <a:cs typeface="나눔고딕 ExtraBold"/>
              <a:sym typeface="나눔고딕 ExtraBold"/>
            </a:endParaRPr>
          </a:p>
        </p:txBody>
      </p:sp>
      <p:sp>
        <p:nvSpPr>
          <p:cNvPr id="843" name=""/>
          <p:cNvSpPr/>
          <p:nvPr/>
        </p:nvSpPr>
        <p:spPr>
          <a:xfrm>
            <a:off x="1576916" y="910166"/>
            <a:ext cx="6886223" cy="508000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 algn="ctr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3. Gradient Descent  </a:t>
            </a:r>
            <a:endPara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loss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를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최소로 만드는 가중치(weight)를 찾기 위해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기울기가 낮아지는 방향으로 조금씩 이동하는 optimization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방법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844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18264" y="1901472"/>
            <a:ext cx="2712861" cy="2517535"/>
          </a:xfrm>
          <a:prstGeom prst="rect">
            <a:avLst/>
          </a:prstGeom>
        </p:spPr>
      </p:pic>
      <p:pic>
        <p:nvPicPr>
          <p:cNvPr id="845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553986" y="1596319"/>
            <a:ext cx="1774472" cy="666750"/>
          </a:xfrm>
          <a:prstGeom prst="rect">
            <a:avLst/>
          </a:prstGeom>
        </p:spPr>
      </p:pic>
      <p:sp>
        <p:nvSpPr>
          <p:cNvPr id="846" name=""/>
          <p:cNvSpPr/>
          <p:nvPr/>
        </p:nvSpPr>
        <p:spPr>
          <a:xfrm>
            <a:off x="1626305" y="2307167"/>
            <a:ext cx="2839861" cy="2046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w :</a:t>
            </a:r>
            <a:r>
              <a:rPr lang="en-US" altLang="ko-KR"/>
              <a:t> </a:t>
            </a:r>
            <a:r>
              <a:rPr lang="ko-KR" altLang="en-US">
                <a:solidFill>
                  <a:schemeClr val="dk1"/>
                </a:solidFill>
              </a:rPr>
              <a:t>학습중인 파라미터</a:t>
            </a:r>
            <a:endParaRPr lang="en-US" altLang="ko-KR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L :</a:t>
            </a:r>
            <a:r>
              <a:rPr lang="ko-KR" altLang="en-US">
                <a:solidFill>
                  <a:schemeClr val="dk1"/>
                </a:solidFill>
              </a:rPr>
              <a:t> </a:t>
            </a:r>
            <a:r>
              <a:rPr lang="en-US" altLang="ko-KR">
                <a:solidFill>
                  <a:schemeClr val="dk1"/>
                </a:solidFill>
              </a:rPr>
              <a:t>loss function</a:t>
            </a:r>
            <a:endParaRPr lang="en-US" altLang="ko-KR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η (eta) : </a:t>
            </a:r>
            <a:r>
              <a:rPr lang="ko-KR" altLang="en-US">
                <a:solidFill>
                  <a:schemeClr val="dk1"/>
                </a:solidFill>
              </a:rPr>
              <a:t>학습률</a:t>
            </a:r>
            <a:r>
              <a:rPr lang="en-US" altLang="ko-KR">
                <a:solidFill>
                  <a:schemeClr val="dk1"/>
                </a:solidFill>
              </a:rPr>
              <a:t>,</a:t>
            </a:r>
            <a:r>
              <a:rPr lang="ko-KR" altLang="en-US">
                <a:solidFill>
                  <a:schemeClr val="dk1"/>
                </a:solidFill>
              </a:rPr>
              <a:t> 이동 속도의 조절</a:t>
            </a: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∂L</a:t>
            </a:r>
            <a:r>
              <a:rPr lang="en-US" altLang="ko-KR">
                <a:solidFill>
                  <a:schemeClr val="dk1"/>
                </a:solidFill>
              </a:rPr>
              <a:t>/</a:t>
            </a:r>
            <a:r>
              <a:rPr lang="ko-KR" altLang="en-US">
                <a:solidFill>
                  <a:schemeClr val="dk1"/>
                </a:solidFill>
              </a:rPr>
              <a:t>∂w </a:t>
            </a:r>
            <a:r>
              <a:rPr lang="en-US" altLang="ko-KR">
                <a:solidFill>
                  <a:schemeClr val="dk1"/>
                </a:solidFill>
              </a:rPr>
              <a:t>:</a:t>
            </a:r>
            <a:r>
              <a:rPr lang="ko-KR" altLang="en-US">
                <a:solidFill>
                  <a:schemeClr val="dk1"/>
                </a:solidFill>
              </a:rPr>
              <a:t> 손실 함수를 가중치에 대해 편미분 한 값 </a:t>
            </a: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en-US">
                <a:solidFill>
                  <a:schemeClr val="dk1"/>
                </a:solidFill>
              </a:rPr>
              <a:t>→</a:t>
            </a:r>
            <a:r>
              <a:rPr lang="ko-KR" altLang="en-US">
                <a:solidFill>
                  <a:schemeClr val="dk1"/>
                </a:solidFill>
              </a:rPr>
              <a:t> </a:t>
            </a:r>
            <a:r>
              <a:rPr lang="en-US" altLang="ko-KR">
                <a:solidFill>
                  <a:schemeClr val="dk1"/>
                </a:solidFill>
              </a:rPr>
              <a:t>loss</a:t>
            </a:r>
            <a:r>
              <a:rPr lang="ko-KR" altLang="en-US">
                <a:solidFill>
                  <a:schemeClr val="dk1"/>
                </a:solidFill>
              </a:rPr>
              <a:t>가 </a:t>
            </a:r>
            <a:r>
              <a:rPr lang="en-US" altLang="ko-KR">
                <a:solidFill>
                  <a:schemeClr val="dk1"/>
                </a:solidFill>
              </a:rPr>
              <a:t>local minimnum</a:t>
            </a:r>
            <a:r>
              <a:rPr lang="ko-KR" altLang="en-US">
                <a:solidFill>
                  <a:schemeClr val="dk1"/>
                </a:solidFill>
              </a:rPr>
              <a:t>이 되는 지점까지 도달하거나 일정 값으로 </a:t>
            </a:r>
            <a:r>
              <a:rPr lang="en-US" altLang="ko-KR">
                <a:solidFill>
                  <a:schemeClr val="dk1"/>
                </a:solidFill>
              </a:rPr>
              <a:t>converge(</a:t>
            </a:r>
            <a:r>
              <a:rPr lang="ko-KR" altLang="en-US">
                <a:solidFill>
                  <a:schemeClr val="dk1"/>
                </a:solidFill>
              </a:rPr>
              <a:t>수렴</a:t>
            </a:r>
            <a:r>
              <a:rPr lang="en-US" altLang="ko-KR">
                <a:solidFill>
                  <a:schemeClr val="dk1"/>
                </a:solidFill>
              </a:rPr>
              <a:t>)</a:t>
            </a:r>
            <a:r>
              <a:rPr lang="ko-KR" altLang="en-US">
                <a:solidFill>
                  <a:schemeClr val="dk1"/>
                </a:solidFill>
              </a:rPr>
              <a:t> 되는 지점까지의 </a:t>
            </a:r>
            <a:r>
              <a:rPr lang="en-US" altLang="ko-KR">
                <a:solidFill>
                  <a:schemeClr val="dk1"/>
                </a:solidFill>
              </a:rPr>
              <a:t>w</a:t>
            </a:r>
            <a:r>
              <a:rPr lang="ko-KR" altLang="en-US">
                <a:solidFill>
                  <a:schemeClr val="dk1"/>
                </a:solidFill>
              </a:rPr>
              <a:t>를 구한다​</a:t>
            </a:r>
            <a:endParaRPr lang="ko-KR" altLang="en-US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38" name="Google Shape;838;p7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39" name="Google Shape;839;p7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7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en-US" altLang="ko-KR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3. </a:t>
            </a:r>
            <a:r>
              <a:rPr lang="ko-KR" altLang="en-US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스터디 내용</a:t>
            </a:r>
            <a:r>
              <a:rPr lang="en-US" altLang="ko-KR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 - Chapter 4</a:t>
            </a:r>
            <a:endParaRPr lang="en-US" altLang="ko-KR" sz="2000">
              <a:solidFill>
                <a:srgbClr val="19264b"/>
              </a:solidFill>
              <a:latin typeface="나눔고딕 ExtraBold"/>
              <a:ea typeface="나눔고딕 ExtraBold"/>
              <a:cs typeface="나눔고딕 ExtraBold"/>
              <a:sym typeface="나눔고딕 ExtraBold"/>
            </a:endParaRPr>
          </a:p>
        </p:txBody>
      </p:sp>
      <p:sp>
        <p:nvSpPr>
          <p:cNvPr id="841" name=""/>
          <p:cNvSpPr/>
          <p:nvPr/>
        </p:nvSpPr>
        <p:spPr>
          <a:xfrm>
            <a:off x="1576916" y="910166"/>
            <a:ext cx="5863167" cy="324555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 algn="ctr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4. Overfitting vs Underfitting</a:t>
            </a:r>
            <a:endPara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842" name=""/>
          <p:cNvSpPr/>
          <p:nvPr/>
        </p:nvSpPr>
        <p:spPr>
          <a:xfrm>
            <a:off x="1682750" y="1319388"/>
            <a:ext cx="6815667" cy="4727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843" name=""/>
          <p:cNvSpPr/>
          <p:nvPr/>
        </p:nvSpPr>
        <p:spPr>
          <a:xfrm>
            <a:off x="1718027" y="1347610"/>
            <a:ext cx="6787444" cy="543277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844" name=""/>
          <p:cNvSpPr/>
          <p:nvPr/>
        </p:nvSpPr>
        <p:spPr>
          <a:xfrm>
            <a:off x="1703916" y="1326444"/>
            <a:ext cx="6900333" cy="5432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Underfitting : 데이터에 대한 표현이 제대로 이루어지지 않아 성능이 낮음</a:t>
            </a:r>
            <a:endParaRPr lang="en-US" altLang="ko-KR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Overfitting : 데이터 하나하나에 너무 집중하여 학습 데이터에는 잘 작동하나, 새로운 데이터에는 낮은 성능을 보임 </a:t>
            </a:r>
            <a:endParaRPr lang="en-US" altLang="ko-KR">
              <a:solidFill>
                <a:schemeClr val="dk1"/>
              </a:solidFill>
            </a:endParaRPr>
          </a:p>
        </p:txBody>
      </p:sp>
      <p:sp>
        <p:nvSpPr>
          <p:cNvPr id="846" name=""/>
          <p:cNvSpPr/>
          <p:nvPr/>
        </p:nvSpPr>
        <p:spPr>
          <a:xfrm>
            <a:off x="5796139" y="2571750"/>
            <a:ext cx="3090333" cy="17674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 </a:t>
            </a: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pic>
        <p:nvPicPr>
          <p:cNvPr id="847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720144" y="2027237"/>
            <a:ext cx="6705600" cy="1724025"/>
          </a:xfrm>
          <a:prstGeom prst="rect">
            <a:avLst/>
          </a:prstGeom>
        </p:spPr>
      </p:pic>
      <p:sp>
        <p:nvSpPr>
          <p:cNvPr id="848" name=""/>
          <p:cNvSpPr/>
          <p:nvPr/>
        </p:nvSpPr>
        <p:spPr>
          <a:xfrm>
            <a:off x="1668991" y="4131732"/>
            <a:ext cx="6900333" cy="543277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bias : 모델이 실제 정답(데이터의 참값)에서 얼마나 벗어나 있는가?</a:t>
            </a:r>
            <a:endPara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variance : 모델이 새로운 데이터에 얼마나 민감하게 반응하는가? - generalization</a:t>
            </a:r>
            <a:endPara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우리의 목표 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: Bias와 Variance가 적절히 균형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잡힌 모델을 찾는 것</a:t>
            </a:r>
            <a:endPara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endPara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38" name="Google Shape;838;p7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39" name="Google Shape;839;p7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7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en-US" altLang="ko-KR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3. </a:t>
            </a:r>
            <a:r>
              <a:rPr lang="ko-KR" altLang="en-US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스터디 내용</a:t>
            </a:r>
            <a:r>
              <a:rPr lang="en-US" altLang="ko-KR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 - Chapter 4</a:t>
            </a:r>
            <a:endParaRPr lang="en-US" altLang="ko-KR" sz="2000">
              <a:solidFill>
                <a:srgbClr val="19264b"/>
              </a:solidFill>
              <a:latin typeface="나눔고딕 ExtraBold"/>
              <a:ea typeface="나눔고딕 ExtraBold"/>
              <a:cs typeface="나눔고딕 ExtraBold"/>
              <a:sym typeface="나눔고딕 ExtraBold"/>
            </a:endParaRPr>
          </a:p>
        </p:txBody>
      </p:sp>
      <p:sp>
        <p:nvSpPr>
          <p:cNvPr id="841" name=""/>
          <p:cNvSpPr/>
          <p:nvPr/>
        </p:nvSpPr>
        <p:spPr>
          <a:xfrm>
            <a:off x="1576916" y="910166"/>
            <a:ext cx="5863167" cy="324555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 algn="ctr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4. Overfitting vs Underfitting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예시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842" name=""/>
          <p:cNvSpPr/>
          <p:nvPr/>
        </p:nvSpPr>
        <p:spPr>
          <a:xfrm>
            <a:off x="1682750" y="1319388"/>
            <a:ext cx="6815667" cy="4727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843" name=""/>
          <p:cNvSpPr/>
          <p:nvPr/>
        </p:nvSpPr>
        <p:spPr>
          <a:xfrm>
            <a:off x="1718027" y="1347610"/>
            <a:ext cx="6787444" cy="543277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844" name=""/>
          <p:cNvSpPr/>
          <p:nvPr/>
        </p:nvSpPr>
        <p:spPr>
          <a:xfrm>
            <a:off x="1703916" y="1326444"/>
            <a:ext cx="6900333" cy="5432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 </a:t>
            </a:r>
            <a:endParaRPr lang="en-US" altLang="ko-KR">
              <a:solidFill>
                <a:schemeClr val="dk1"/>
              </a:solidFill>
            </a:endParaRPr>
          </a:p>
        </p:txBody>
      </p:sp>
      <p:pic>
        <p:nvPicPr>
          <p:cNvPr id="84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18355" y="1237040"/>
            <a:ext cx="4195233" cy="3633372"/>
          </a:xfrm>
          <a:prstGeom prst="rect">
            <a:avLst/>
          </a:prstGeom>
        </p:spPr>
      </p:pic>
      <p:sp>
        <p:nvSpPr>
          <p:cNvPr id="846" name=""/>
          <p:cNvSpPr/>
          <p:nvPr/>
        </p:nvSpPr>
        <p:spPr>
          <a:xfrm>
            <a:off x="5764389" y="1688041"/>
            <a:ext cx="3379611" cy="1767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*</a:t>
            </a:r>
            <a:r>
              <a:rPr lang="ko-KR" altLang="en-US">
                <a:solidFill>
                  <a:schemeClr val="dk1"/>
                </a:solidFill>
              </a:rPr>
              <a:t> 사진 </a:t>
            </a:r>
            <a:r>
              <a:rPr lang="en-US" altLang="ko-KR">
                <a:solidFill>
                  <a:schemeClr val="dk1"/>
                </a:solidFill>
              </a:rPr>
              <a:t>속 파란 색 점 : train data</a:t>
            </a:r>
            <a:endParaRPr lang="en-US" altLang="ko-KR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*</a:t>
            </a:r>
            <a:r>
              <a:rPr lang="ko-KR" altLang="en-US">
                <a:solidFill>
                  <a:schemeClr val="dk1"/>
                </a:solidFill>
              </a:rPr>
              <a:t> </a:t>
            </a:r>
            <a:r>
              <a:rPr lang="en-US" altLang="ko-KR">
                <a:solidFill>
                  <a:schemeClr val="dk1"/>
                </a:solidFill>
              </a:rPr>
              <a:t>사진 속 빨간 색 점 : test data</a:t>
            </a:r>
            <a:endParaRPr lang="en-US" altLang="ko-KR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*</a:t>
            </a:r>
            <a:r>
              <a:rPr lang="ko-KR" altLang="en-US">
                <a:solidFill>
                  <a:schemeClr val="dk1"/>
                </a:solidFill>
              </a:rPr>
              <a:t> </a:t>
            </a:r>
            <a:r>
              <a:rPr lang="en-US" altLang="ko-KR">
                <a:solidFill>
                  <a:schemeClr val="dk1"/>
                </a:solidFill>
              </a:rPr>
              <a:t>degree :</a:t>
            </a:r>
            <a:r>
              <a:rPr lang="ko-KR" altLang="en-US">
                <a:solidFill>
                  <a:schemeClr val="dk1"/>
                </a:solidFill>
              </a:rPr>
              <a:t> 학습 모델의 차원</a:t>
            </a: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→</a:t>
            </a:r>
            <a:r>
              <a:rPr lang="ko-KR" altLang="en-US">
                <a:solidFill>
                  <a:schemeClr val="dk1"/>
                </a:solidFill>
              </a:rPr>
              <a:t> </a:t>
            </a:r>
            <a:r>
              <a:rPr lang="en-US" altLang="ko-KR">
                <a:solidFill>
                  <a:schemeClr val="dk1"/>
                </a:solidFill>
              </a:rPr>
              <a:t>degree</a:t>
            </a:r>
            <a:r>
              <a:rPr lang="ko-KR" altLang="en-US">
                <a:solidFill>
                  <a:schemeClr val="dk1"/>
                </a:solidFill>
              </a:rPr>
              <a:t>가 높아질 수록 </a:t>
            </a:r>
            <a:r>
              <a:rPr lang="en-US" altLang="ko-KR">
                <a:solidFill>
                  <a:schemeClr val="dk1"/>
                </a:solidFill>
              </a:rPr>
              <a:t>train data</a:t>
            </a:r>
            <a:r>
              <a:rPr lang="ko-KR" altLang="en-US">
                <a:solidFill>
                  <a:schemeClr val="dk1"/>
                </a:solidFill>
              </a:rPr>
              <a:t>를 더 정밀하게 학습 가능하지만 새로운 </a:t>
            </a:r>
            <a:r>
              <a:rPr lang="en-US" altLang="ko-KR">
                <a:solidFill>
                  <a:schemeClr val="dk1"/>
                </a:solidFill>
              </a:rPr>
              <a:t>data</a:t>
            </a:r>
            <a:r>
              <a:rPr lang="ko-KR" altLang="en-US">
                <a:solidFill>
                  <a:schemeClr val="dk1"/>
                </a:solidFill>
              </a:rPr>
              <a:t>에 대해서 일반화가 어렵다 </a:t>
            </a: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847" name=""/>
          <p:cNvSpPr/>
          <p:nvPr/>
        </p:nvSpPr>
        <p:spPr>
          <a:xfrm>
            <a:off x="7101416" y="3414888"/>
            <a:ext cx="373945" cy="45155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48" name=""/>
          <p:cNvSpPr/>
          <p:nvPr/>
        </p:nvSpPr>
        <p:spPr>
          <a:xfrm>
            <a:off x="6314722" y="4049888"/>
            <a:ext cx="1982611" cy="740833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chemeClr val="dk1"/>
                </a:solidFill>
              </a:rPr>
              <a:t>bias -variance trade off</a:t>
            </a:r>
            <a:endParaRPr lang="en-US" altLang="ko-KR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38" name="Google Shape;838;p7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39" name="Google Shape;839;p7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7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en-US" altLang="ko-KR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3. </a:t>
            </a:r>
            <a:r>
              <a:rPr lang="ko-KR" altLang="en-US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스터디 내용 </a:t>
            </a:r>
            <a:r>
              <a:rPr lang="en-US" altLang="ko-KR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-</a:t>
            </a:r>
            <a:r>
              <a:rPr lang="ko-KR" altLang="en-US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 </a:t>
            </a:r>
            <a:r>
              <a:rPr lang="en-US" altLang="ko-KR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Chapter 5</a:t>
            </a:r>
            <a:endParaRPr lang="en-US" altLang="ko-KR" sz="2000">
              <a:solidFill>
                <a:srgbClr val="19264b"/>
              </a:solidFill>
              <a:latin typeface="나눔고딕 ExtraBold"/>
              <a:ea typeface="나눔고딕 ExtraBold"/>
              <a:cs typeface="나눔고딕 ExtraBold"/>
              <a:sym typeface="나눔고딕 ExtraBold"/>
            </a:endParaRPr>
          </a:p>
        </p:txBody>
      </p:sp>
      <p:sp>
        <p:nvSpPr>
          <p:cNvPr id="841" name=""/>
          <p:cNvSpPr/>
          <p:nvPr/>
        </p:nvSpPr>
        <p:spPr>
          <a:xfrm>
            <a:off x="1576916" y="910166"/>
            <a:ext cx="5863167" cy="324555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 algn="ctr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Forward propagation : 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순전파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842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20295" y="1241953"/>
            <a:ext cx="6724297" cy="2264480"/>
          </a:xfrm>
          <a:prstGeom prst="rect">
            <a:avLst/>
          </a:prstGeom>
        </p:spPr>
      </p:pic>
      <p:sp>
        <p:nvSpPr>
          <p:cNvPr id="843" name=""/>
          <p:cNvSpPr/>
          <p:nvPr/>
        </p:nvSpPr>
        <p:spPr>
          <a:xfrm>
            <a:off x="1400527" y="3450167"/>
            <a:ext cx="7838720" cy="1312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* 입력 데이터</a:t>
            </a:r>
            <a:r>
              <a:rPr lang="ko-KR" altLang="en-US">
                <a:solidFill>
                  <a:schemeClr val="dk1"/>
                </a:solidFill>
              </a:rPr>
              <a:t>가 각종 신경망을 통과하면서 가중치와 편향과 연산되어 최종출력에 도달하는 과정</a:t>
            </a: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*</a:t>
            </a:r>
            <a:r>
              <a:rPr lang="ko-KR" altLang="en-US">
                <a:solidFill>
                  <a:schemeClr val="dk1"/>
                </a:solidFill>
              </a:rPr>
              <a:t> 방향 </a:t>
            </a:r>
            <a:r>
              <a:rPr lang="en-US" altLang="ko-KR">
                <a:solidFill>
                  <a:schemeClr val="dk1"/>
                </a:solidFill>
              </a:rPr>
              <a:t>: input → hidden layer → output</a:t>
            </a:r>
            <a:endParaRPr lang="en-US" altLang="ko-KR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*</a:t>
            </a:r>
            <a:r>
              <a:rPr lang="ko-KR" altLang="en-US">
                <a:solidFill>
                  <a:schemeClr val="dk1"/>
                </a:solidFill>
              </a:rPr>
              <a:t> 각각의 신경망</a:t>
            </a:r>
            <a:r>
              <a:rPr lang="en-US" altLang="ko-KR">
                <a:solidFill>
                  <a:schemeClr val="dk1"/>
                </a:solidFill>
              </a:rPr>
              <a:t>,</a:t>
            </a:r>
            <a:r>
              <a:rPr lang="ko-KR" altLang="en-US">
                <a:solidFill>
                  <a:schemeClr val="dk1"/>
                </a:solidFill>
              </a:rPr>
              <a:t> </a:t>
            </a:r>
            <a:r>
              <a:rPr lang="en-US" altLang="ko-KR">
                <a:solidFill>
                  <a:schemeClr val="dk1"/>
                </a:solidFill>
              </a:rPr>
              <a:t>hidden layer</a:t>
            </a:r>
            <a:r>
              <a:rPr lang="ko-KR" altLang="en-US">
                <a:solidFill>
                  <a:schemeClr val="dk1"/>
                </a:solidFill>
              </a:rPr>
              <a:t>에는 </a:t>
            </a:r>
            <a:r>
              <a:rPr lang="en-US" altLang="ko-KR">
                <a:solidFill>
                  <a:schemeClr val="dk1"/>
                </a:solidFill>
              </a:rPr>
              <a:t>Relu</a:t>
            </a:r>
            <a:r>
              <a:rPr lang="ko-KR" altLang="en-US">
                <a:solidFill>
                  <a:schemeClr val="dk1"/>
                </a:solidFill>
              </a:rPr>
              <a:t>와 같은 비선형 </a:t>
            </a:r>
            <a:r>
              <a:rPr lang="en-US" altLang="ko-KR">
                <a:solidFill>
                  <a:schemeClr val="dk1"/>
                </a:solidFill>
              </a:rPr>
              <a:t>activation function</a:t>
            </a:r>
            <a:r>
              <a:rPr lang="ko-KR" altLang="en-US">
                <a:solidFill>
                  <a:schemeClr val="dk1"/>
                </a:solidFill>
              </a:rPr>
              <a:t>이 존재</a:t>
            </a: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이때 최종 출력값과 실제 값간의 차이가 발생  </a:t>
            </a:r>
            <a:r>
              <a:rPr lang="en-US" altLang="ko-KR">
                <a:solidFill>
                  <a:schemeClr val="dk1"/>
                </a:solidFill>
              </a:rPr>
              <a:t>=</a:t>
            </a:r>
            <a:r>
              <a:rPr lang="ko-KR" altLang="en-US">
                <a:solidFill>
                  <a:schemeClr val="dk1"/>
                </a:solidFill>
              </a:rPr>
              <a:t> </a:t>
            </a:r>
            <a:r>
              <a:rPr lang="en-US" altLang="ko-KR">
                <a:solidFill>
                  <a:schemeClr val="dk1"/>
                </a:solidFill>
              </a:rPr>
              <a:t>Loss, </a:t>
            </a:r>
            <a:r>
              <a:rPr lang="ko-KR" altLang="en-US">
                <a:solidFill>
                  <a:schemeClr val="dk1"/>
                </a:solidFill>
              </a:rPr>
              <a:t>이를 줄이기 위한 방법 </a:t>
            </a:r>
            <a:r>
              <a:rPr lang="en-US" altLang="ko-KR">
                <a:solidFill>
                  <a:schemeClr val="dk1"/>
                </a:solidFill>
              </a:rPr>
              <a:t>=</a:t>
            </a:r>
            <a:r>
              <a:rPr lang="ko-KR" altLang="en-US">
                <a:solidFill>
                  <a:schemeClr val="dk1"/>
                </a:solidFill>
              </a:rPr>
              <a:t> </a:t>
            </a:r>
            <a:r>
              <a:rPr lang="en-US" altLang="ko-KR">
                <a:solidFill>
                  <a:schemeClr val="dk1"/>
                </a:solidFill>
              </a:rPr>
              <a:t>back propagation</a:t>
            </a:r>
            <a:endParaRPr lang="en-US" altLang="ko-KR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38" name="Google Shape;838;p7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39" name="Google Shape;839;p7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7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en-US" altLang="ko-KR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3. </a:t>
            </a:r>
            <a:r>
              <a:rPr lang="ko-KR" altLang="en-US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스터디 내용 </a:t>
            </a:r>
            <a:r>
              <a:rPr lang="en-US" altLang="ko-KR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-</a:t>
            </a:r>
            <a:r>
              <a:rPr lang="ko-KR" altLang="en-US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 </a:t>
            </a:r>
            <a:r>
              <a:rPr lang="en-US" altLang="ko-KR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Chapter 5</a:t>
            </a:r>
            <a:endParaRPr lang="en-US" altLang="ko-KR" sz="2000">
              <a:solidFill>
                <a:srgbClr val="19264b"/>
              </a:solidFill>
              <a:latin typeface="나눔고딕 ExtraBold"/>
              <a:ea typeface="나눔고딕 ExtraBold"/>
              <a:cs typeface="나눔고딕 ExtraBold"/>
              <a:sym typeface="나눔고딕 ExtraBold"/>
            </a:endParaRPr>
          </a:p>
        </p:txBody>
      </p:sp>
      <p:sp>
        <p:nvSpPr>
          <p:cNvPr id="841" name=""/>
          <p:cNvSpPr/>
          <p:nvPr/>
        </p:nvSpPr>
        <p:spPr>
          <a:xfrm>
            <a:off x="1576916" y="910166"/>
            <a:ext cx="5863167" cy="324555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 algn="ctr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backpropagation :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오차역전파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842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55232" y="1223609"/>
            <a:ext cx="6306254" cy="1997780"/>
          </a:xfrm>
          <a:prstGeom prst="rect">
            <a:avLst/>
          </a:prstGeom>
        </p:spPr>
      </p:pic>
      <p:sp>
        <p:nvSpPr>
          <p:cNvPr id="843" name=""/>
          <p:cNvSpPr/>
          <p:nvPr/>
        </p:nvSpPr>
        <p:spPr>
          <a:xfrm>
            <a:off x="1400527" y="3450167"/>
            <a:ext cx="7838720" cy="1312333"/>
          </a:xfrm>
          <a:prstGeom prst="rect">
            <a:avLst/>
          </a:prstGeom>
          <a:noFill/>
          <a:ln w="25400" cap="flat" cmpd="sng" algn="ctr">
            <a:noFill/>
            <a:prstDash val="solid"/>
          </a:ln>
        </p:spPr>
        <p:txBody>
          <a:bodyPr anchor="ctr"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* 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모델의 출력부터 입력까지 오류가 전달되어 가중치를 업데이트 하는 방식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*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 방향 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: output → hidden layer → input</a:t>
            </a:r>
            <a:endPara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*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 업데이트 방식 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chain-rule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 기법 사용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*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 깊은 네트워크의 경우 기울기 손실이 발생할 수 있음 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- Residual connection, Batch Normalization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 등의 방식을 활용해서 기울기 손실 완화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38" name="Google Shape;838;p7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39" name="Google Shape;839;p7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7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>
              <a:lnSpc>
                <a:spcPct val="115000"/>
              </a:lnSpc>
              <a:defRPr/>
            </a:pPr>
            <a:endParaRPr lang="en-US" altLang="ko-KR" sz="2000">
              <a:solidFill>
                <a:srgbClr val="19264b"/>
              </a:solidFill>
              <a:latin typeface="나눔고딕 ExtraBold"/>
              <a:ea typeface="나눔고딕 ExtraBold"/>
              <a:cs typeface="나눔고딕 ExtraBold"/>
              <a:sym typeface="나눔고딕 ExtraBold"/>
            </a:endParaRPr>
          </a:p>
        </p:txBody>
      </p:sp>
      <p:sp>
        <p:nvSpPr>
          <p:cNvPr id="842" name="Google Shape;840;p76"/>
          <p:cNvSpPr txBox="1"/>
          <p:nvPr/>
        </p:nvSpPr>
        <p:spPr>
          <a:xfrm>
            <a:off x="1434374" y="325219"/>
            <a:ext cx="4979401" cy="528205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0" i="0" u="none" strike="noStrike" kern="0" cap="none" spc="0" normalizeH="0" baseline="0" mc:Ignorable="hp" hp:hslEmbossed="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3. 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0" cap="none" spc="0" normalizeH="0" baseline="0" mc:Ignorable="hp" hp:hslEmbossed="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스터디 내용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0" cap="none" spc="0" normalizeH="0" baseline="0" mc:Ignorable="hp" hp:hslEmbossed="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0" cap="none" spc="0" normalizeH="0" baseline="0" mc:Ignorable="hp" hp:hslEmbossed="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0" cap="none" spc="0" normalizeH="0" baseline="0" mc:Ignorable="hp" hp:hslEmbossed="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Chapter 5</a:t>
            </a:r>
            <a:endParaRPr xmlns:mc="http://schemas.openxmlformats.org/markup-compatibility/2006" xmlns:hp="http://schemas.haansoft.com/office/presentation/8.0" kumimoji="0" lang="en-US" altLang="ko-KR" sz="2000" b="0" i="0" u="none" strike="noStrike" kern="0" cap="none" spc="0" normalizeH="0" baseline="0" mc:Ignorable="hp" hp:hslEmbossed="0">
              <a:solidFill>
                <a:srgbClr val="19264b"/>
              </a:solidFill>
              <a:latin typeface="나눔고딕 ExtraBold"/>
              <a:ea typeface="나눔고딕 ExtraBold"/>
              <a:cs typeface="나눔고딕 ExtraBold"/>
              <a:sym typeface="나눔고딕 ExtraBold"/>
            </a:endParaRPr>
          </a:p>
        </p:txBody>
      </p:sp>
      <p:sp>
        <p:nvSpPr>
          <p:cNvPr id="843" name=""/>
          <p:cNvSpPr/>
          <p:nvPr/>
        </p:nvSpPr>
        <p:spPr>
          <a:xfrm>
            <a:off x="1576916" y="910166"/>
            <a:ext cx="5863167" cy="324555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 algn="ctr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3.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Chain-Rule</a:t>
            </a:r>
            <a:endPara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844" name=""/>
          <p:cNvSpPr/>
          <p:nvPr/>
        </p:nvSpPr>
        <p:spPr>
          <a:xfrm>
            <a:off x="1554691" y="1267177"/>
            <a:ext cx="5863167" cy="324555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 algn="ctr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간단한 예시 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: y = f(g(x))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인 함수가 존재할때 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dy/dx?</a:t>
            </a:r>
            <a:endPara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84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677429" y="982309"/>
            <a:ext cx="1514475" cy="695325"/>
          </a:xfrm>
          <a:prstGeom prst="rect">
            <a:avLst/>
          </a:prstGeom>
        </p:spPr>
      </p:pic>
      <p:sp>
        <p:nvSpPr>
          <p:cNvPr id="846" name=""/>
          <p:cNvSpPr/>
          <p:nvPr/>
        </p:nvSpPr>
        <p:spPr>
          <a:xfrm>
            <a:off x="1542343" y="1814688"/>
            <a:ext cx="5863167" cy="324555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 algn="ctr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신경망에서 여러 개의 층을 거친 함수인 경우의 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y?</a:t>
            </a:r>
            <a:endPara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847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535260" y="1656291"/>
            <a:ext cx="2828925" cy="476250"/>
          </a:xfrm>
          <a:prstGeom prst="rect">
            <a:avLst/>
          </a:prstGeom>
        </p:spPr>
      </p:pic>
      <p:sp>
        <p:nvSpPr>
          <p:cNvPr id="849" name=""/>
          <p:cNvSpPr/>
          <p:nvPr/>
        </p:nvSpPr>
        <p:spPr>
          <a:xfrm>
            <a:off x="1535288" y="2247194"/>
            <a:ext cx="5863167" cy="324555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 algn="ctr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Loss ‘L’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에 대해 특정 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‘I’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번째 신경망의 가중치 업데이트 방식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850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554161" y="2784298"/>
            <a:ext cx="5400675" cy="1762125"/>
          </a:xfrm>
          <a:prstGeom prst="rect">
            <a:avLst/>
          </a:prstGeom>
        </p:spPr>
      </p:pic>
      <p:sp>
        <p:nvSpPr>
          <p:cNvPr id="851" name=""/>
          <p:cNvSpPr/>
          <p:nvPr/>
        </p:nvSpPr>
        <p:spPr>
          <a:xfrm>
            <a:off x="1567744" y="4579760"/>
            <a:ext cx="7154335" cy="324555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 algn="ctr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→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최종 출력층부터 특정 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‘I’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단계까지 속한 모든 층에 대해 차례대로 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Chain-Rule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을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적용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38" name="Google Shape;838;p7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39" name="Google Shape;839;p7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7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>
              <a:lnSpc>
                <a:spcPct val="115000"/>
              </a:lnSpc>
              <a:defRPr/>
            </a:pPr>
            <a:endParaRPr lang="en-US" altLang="ko-KR" sz="2000">
              <a:solidFill>
                <a:srgbClr val="19264b"/>
              </a:solidFill>
              <a:latin typeface="나눔고딕 ExtraBold"/>
              <a:ea typeface="나눔고딕 ExtraBold"/>
              <a:cs typeface="나눔고딕 ExtraBold"/>
              <a:sym typeface="나눔고딕 ExtraBold"/>
            </a:endParaRPr>
          </a:p>
        </p:txBody>
      </p:sp>
      <p:sp>
        <p:nvSpPr>
          <p:cNvPr id="841" name=""/>
          <p:cNvSpPr/>
          <p:nvPr/>
        </p:nvSpPr>
        <p:spPr>
          <a:xfrm>
            <a:off x="2120194" y="2409472"/>
            <a:ext cx="5863167" cy="324555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 algn="ctr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7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감사합니다</a:t>
            </a:r>
            <a:r>
              <a:rPr xmlns:mc="http://schemas.openxmlformats.org/markup-compatibility/2006" xmlns:hp="http://schemas.haansoft.com/office/presentation/8.0" kumimoji="0" lang="en-US" altLang="ko-KR" sz="17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!</a:t>
            </a:r>
            <a:endParaRPr xmlns:mc="http://schemas.openxmlformats.org/markup-compatibility/2006" xmlns:hp="http://schemas.haansoft.com/office/presentation/8.0" kumimoji="0" lang="ko-KR" altLang="en-US" sz="17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564</ep:Words>
  <ep:PresentationFormat>화면 슬라이드 쇼(16:9)</ep:PresentationFormat>
  <ep:Paragraphs>74</ep:Paragraphs>
  <ep:Slides>13</ep:Slides>
  <ep:Notes>13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Simple Light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Yeeun</dc:creator>
  <cp:lastModifiedBy>user</cp:lastModifiedBy>
  <dcterms:modified xsi:type="dcterms:W3CDTF">2025-11-11T08:36:14.190</dcterms:modified>
  <cp:revision>32</cp:revision>
  <cp:version/>
</cp:coreProperties>
</file>