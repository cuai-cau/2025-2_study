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57" r:id="rId4"/>
    <p:sldId id="269" r:id="rId5"/>
    <p:sldId id="271" r:id="rId6"/>
    <p:sldId id="272" r:id="rId7"/>
    <p:sldId id="273" r:id="rId8"/>
    <p:sldId id="270" r:id="rId9"/>
    <p:sldId id="27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4" autoAdjust="0"/>
    <p:restoredTop sz="94226" autoAdjust="0"/>
  </p:normalViewPr>
  <p:slideViewPr>
    <p:cSldViewPr snapToGrid="0">
      <p:cViewPr varScale="1">
        <p:scale>
          <a:sx n="69" d="100"/>
          <a:sy n="69" d="100"/>
        </p:scale>
        <p:origin x="62" y="9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C95B9D97-A900-E8CE-B638-C08C37572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EC97C06E-2D11-8614-9302-9E2361D3EE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45022901-5B3A-9E04-022E-B17847548A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0980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E694EF98-5FC3-DDC8-5368-76B14D743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AD3B941C-15ED-B4D0-13AF-02EE46232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4F64F21A-F085-F6B4-71BA-4C69D3D636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1127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5F92DE9C-7C6E-9A86-34AF-528D75044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A59D93E7-5B37-A6BC-18BA-EA0102A2F8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ABB16229-F44D-0F98-9954-4AC27F7D7F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66618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415246D6-118F-BAF1-F0D4-2134AA6BB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B667CA63-F99C-9D08-EF1F-3803A3A5A0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91FED1CA-1A2F-9311-2391-3DEB2ECF47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1791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C5020C51-8154-6FC0-7C9E-628342F83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28BB67DE-5CF6-DBD8-E977-F87533E8E6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B4062CDF-960A-58D4-84A1-EFAAE147FA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017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D8BE65F1-9519-1CC7-0DE8-1E2D480F8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426F1503-792B-4ED3-B9EA-332C2A082C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C5012519-64BE-4FF0-C6EA-40DF81BED4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9779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2007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</a:rPr>
              <a:t>밑바닥부터 시작하는 딥러닝 스터디 </a:t>
            </a:r>
            <a:r>
              <a:rPr lang="en-US" altLang="ko-KR" sz="2500" b="1" dirty="0">
                <a:solidFill>
                  <a:srgbClr val="19264B"/>
                </a:solidFill>
              </a:rPr>
              <a:t>2</a:t>
            </a:r>
            <a:r>
              <a:rPr lang="ko-KR" altLang="en-US" sz="2500" b="1" dirty="0">
                <a:solidFill>
                  <a:srgbClr val="19264B"/>
                </a:solidFill>
              </a:rPr>
              <a:t>팀</a:t>
            </a:r>
            <a:endParaRPr lang="en-US" altLang="ko-KR"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11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11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유재윤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802985" y="477860"/>
            <a:ext cx="49794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목차</a:t>
            </a:r>
            <a:endParaRPr lang="en-US" altLang="ko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09DA6518-B1C7-FA8C-EED4-FE8FB443B203}"/>
              </a:ext>
            </a:extLst>
          </p:cNvPr>
          <p:cNvSpPr txBox="1"/>
          <p:nvPr/>
        </p:nvSpPr>
        <p:spPr>
          <a:xfrm>
            <a:off x="1802985" y="1254497"/>
            <a:ext cx="6534411" cy="10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1. chapter4 </a:t>
            </a:r>
            <a:r>
              <a:rPr lang="ko-KR" altLang="en-US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신경망 학습</a:t>
            </a:r>
            <a:endParaRPr lang="en-US" altLang="ko-KR" sz="16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 chapter5 </a:t>
            </a:r>
            <a:r>
              <a:rPr lang="ko-KR" altLang="en-US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오차역전법</a:t>
            </a:r>
            <a:endParaRPr lang="en-US" altLang="ko-KR" sz="16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3. chapter6 </a:t>
            </a:r>
            <a:r>
              <a:rPr lang="ko-KR" altLang="en-US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학습 관련 기술들</a:t>
            </a:r>
            <a:endParaRPr lang="en-US" altLang="ko-KR" sz="16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12358" y="1289824"/>
            <a:ext cx="4287600" cy="2535044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스터디원 소개 및 만남 인증</a:t>
            </a:r>
            <a:endParaRPr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458445" y="3140136"/>
            <a:ext cx="22821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1 : </a:t>
            </a:r>
            <a:r>
              <a:rPr lang="ko-KR" altLang="en-US" dirty="0" err="1"/>
              <a:t>장희원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2 : </a:t>
            </a:r>
            <a:r>
              <a:rPr lang="ko-KR" altLang="en-US" dirty="0"/>
              <a:t>유재윤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ACA4D7A-E7C2-3540-C6B5-3D09E12FF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4822" y="1353026"/>
            <a:ext cx="2665091" cy="24374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D99D53AA-7462-067F-3D7E-89409B8B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A8F287C6-0F63-02FF-64A0-B898BCFD7A9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B19969AA-BD5C-5A77-1AF9-FA007607A2F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F733CCF4-44DC-EF5E-E2BD-D827F8C7A3E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3;p16">
            <a:extLst>
              <a:ext uri="{FF2B5EF4-FFF2-40B4-BE49-F238E27FC236}">
                <a16:creationId xmlns:a16="http://schemas.microsoft.com/office/drawing/2014/main" id="{A43A928D-6350-8EFC-6143-B47DFD813033}"/>
              </a:ext>
            </a:extLst>
          </p:cNvPr>
          <p:cNvSpPr txBox="1"/>
          <p:nvPr/>
        </p:nvSpPr>
        <p:spPr>
          <a:xfrm>
            <a:off x="1425307" y="467336"/>
            <a:ext cx="620669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ko-KR" altLang="en-US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손실함수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rgbClr val="19264B"/>
              </a:solidFill>
              <a:effectLst/>
              <a:uLnTx/>
              <a:uFillTx/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C6E69F05-1F9A-8E01-D1C2-BED853B6895A}"/>
              </a:ext>
            </a:extLst>
          </p:cNvPr>
          <p:cNvSpPr txBox="1"/>
          <p:nvPr/>
        </p:nvSpPr>
        <p:spPr>
          <a:xfrm>
            <a:off x="1425307" y="1055550"/>
            <a:ext cx="620669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신경망에서는 손실함수를 통해 최적의 매개변수 값을 탐색</a:t>
            </a:r>
            <a:endParaRPr lang="en-US" altLang="ko-KR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6BB9A8-8665-0631-25D2-EE8A27F35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93" y="2049966"/>
            <a:ext cx="3457575" cy="6667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3240E0B-44B9-766D-F43A-C24ED00B9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5861" y="3512468"/>
            <a:ext cx="3448050" cy="638175"/>
          </a:xfrm>
          <a:prstGeom prst="rect">
            <a:avLst/>
          </a:prstGeom>
        </p:spPr>
      </p:pic>
      <p:sp>
        <p:nvSpPr>
          <p:cNvPr id="8" name="Google Shape;83;p16">
            <a:extLst>
              <a:ext uri="{FF2B5EF4-FFF2-40B4-BE49-F238E27FC236}">
                <a16:creationId xmlns:a16="http://schemas.microsoft.com/office/drawing/2014/main" id="{1989DA15-0C89-304F-F94D-585C5D6FCAF0}"/>
              </a:ext>
            </a:extLst>
          </p:cNvPr>
          <p:cNvSpPr txBox="1"/>
          <p:nvPr/>
        </p:nvSpPr>
        <p:spPr>
          <a:xfrm>
            <a:off x="4572000" y="2149446"/>
            <a:ext cx="620669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-&gt; </a:t>
            </a:r>
            <a:r>
              <a:rPr lang="ko-KR" altLang="en-US" sz="1600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평균오차제곱</a:t>
            </a:r>
            <a:endParaRPr lang="en-US" altLang="ko-KR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9" name="Google Shape;83;p16">
            <a:extLst>
              <a:ext uri="{FF2B5EF4-FFF2-40B4-BE49-F238E27FC236}">
                <a16:creationId xmlns:a16="http://schemas.microsoft.com/office/drawing/2014/main" id="{92AA061E-DDE0-4538-5F63-1271AD08FB26}"/>
              </a:ext>
            </a:extLst>
          </p:cNvPr>
          <p:cNvSpPr txBox="1"/>
          <p:nvPr/>
        </p:nvSpPr>
        <p:spPr>
          <a:xfrm>
            <a:off x="4572000" y="3620160"/>
            <a:ext cx="620669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-&gt; 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교차 엔트로피 오차 </a:t>
            </a: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(Cross Entropy Error)</a:t>
            </a:r>
          </a:p>
        </p:txBody>
      </p:sp>
    </p:spTree>
    <p:extLst>
      <p:ext uri="{BB962C8B-B14F-4D97-AF65-F5344CB8AC3E}">
        <p14:creationId xmlns:p14="http://schemas.microsoft.com/office/powerpoint/2010/main" val="16026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E25E0F12-D7B9-2282-1E0E-93717A8E7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8E5B1732-C523-CE5F-D8A8-C6458B1D418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8CB5685C-AB7E-A55C-A7E0-EB3A93FC5EB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73E41ECF-E26C-945E-2065-DF3E7D85F0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3;p16">
            <a:extLst>
              <a:ext uri="{FF2B5EF4-FFF2-40B4-BE49-F238E27FC236}">
                <a16:creationId xmlns:a16="http://schemas.microsoft.com/office/drawing/2014/main" id="{9114A41F-7B52-F0F9-5646-A8D0A630B70E}"/>
              </a:ext>
            </a:extLst>
          </p:cNvPr>
          <p:cNvSpPr txBox="1"/>
          <p:nvPr/>
        </p:nvSpPr>
        <p:spPr>
          <a:xfrm>
            <a:off x="1425307" y="467336"/>
            <a:ext cx="620669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9264B"/>
                </a:solidFill>
                <a:effectLst/>
                <a:uLnTx/>
                <a:uFillTx/>
                <a:latin typeface="NanumGothic ExtraBold"/>
                <a:ea typeface="NanumGothic ExtraBold"/>
                <a:cs typeface="NanumGothic ExtraBold"/>
                <a:sym typeface="NanumGothic ExtraBold"/>
              </a:rPr>
              <a:t>오차역전파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rgbClr val="19264B"/>
              </a:solidFill>
              <a:effectLst/>
              <a:uLnTx/>
              <a:uFillTx/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55CE1CF1-00B3-3B38-BA0B-859FE64A81B5}"/>
              </a:ext>
            </a:extLst>
          </p:cNvPr>
          <p:cNvSpPr txBox="1"/>
          <p:nvPr/>
        </p:nvSpPr>
        <p:spPr>
          <a:xfrm>
            <a:off x="1425307" y="1055550"/>
            <a:ext cx="620669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가중치 매개변수의 기울기를 효율적으로 계산하는 방법</a:t>
            </a:r>
            <a:endParaRPr lang="en-US" altLang="ko-KR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10" name="Google Shape;83;p16">
            <a:extLst>
              <a:ext uri="{FF2B5EF4-FFF2-40B4-BE49-F238E27FC236}">
                <a16:creationId xmlns:a16="http://schemas.microsoft.com/office/drawing/2014/main" id="{8E8BAB42-80EE-B8C2-3C46-C0F0C518ED88}"/>
              </a:ext>
            </a:extLst>
          </p:cNvPr>
          <p:cNvSpPr txBox="1"/>
          <p:nvPr/>
        </p:nvSpPr>
        <p:spPr>
          <a:xfrm>
            <a:off x="1280341" y="3854055"/>
            <a:ext cx="7718693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600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역전파</a:t>
            </a: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: ‘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국소적인 미분</a:t>
            </a: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’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을 순방향의 반대 반향으로 연쇄법칙 원리에 따라 전달</a:t>
            </a:r>
            <a:endParaRPr lang="en-US" altLang="ko-KR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51321FA-EB0F-21FC-9D8F-50021F1A8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593" y="1691035"/>
            <a:ext cx="3552825" cy="19621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A228AC8-FBAF-E727-4DCC-667B84266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4531" y="2432751"/>
            <a:ext cx="283845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83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111EC16D-62CC-139B-D496-315CB6BE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5C60858-35B9-F1BE-847A-9F066A91F6F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BB722C91-AE6D-CEED-EE96-8ECB9E893CD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32FD172A-994D-72A6-5659-71B1C1B4214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3;p16">
            <a:extLst>
              <a:ext uri="{FF2B5EF4-FFF2-40B4-BE49-F238E27FC236}">
                <a16:creationId xmlns:a16="http://schemas.microsoft.com/office/drawing/2014/main" id="{CA36BA28-8C12-5D8C-C97E-4F48D9448709}"/>
              </a:ext>
            </a:extLst>
          </p:cNvPr>
          <p:cNvSpPr txBox="1"/>
          <p:nvPr/>
        </p:nvSpPr>
        <p:spPr>
          <a:xfrm>
            <a:off x="1425307" y="467336"/>
            <a:ext cx="620669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9264B"/>
                </a:solidFill>
                <a:effectLst/>
                <a:uLnTx/>
                <a:uFillTx/>
                <a:latin typeface="NanumGothic ExtraBold"/>
                <a:ea typeface="NanumGothic ExtraBold"/>
                <a:cs typeface="NanumGothic ExtraBold"/>
                <a:sym typeface="NanumGothic ExtraBold"/>
              </a:rPr>
              <a:t>매개변수 갱신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rgbClr val="19264B"/>
              </a:solidFill>
              <a:effectLst/>
              <a:uLnTx/>
              <a:uFillTx/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42952164-9BA3-587B-E540-699C4D9E92B7}"/>
              </a:ext>
            </a:extLst>
          </p:cNvPr>
          <p:cNvSpPr txBox="1"/>
          <p:nvPr/>
        </p:nvSpPr>
        <p:spPr>
          <a:xfrm>
            <a:off x="1425307" y="1055550"/>
            <a:ext cx="5376937" cy="75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신경망 학습의 목적은 손실 함수의 값을 가능한 낮추는 매개변수를 찾는 것 ⇒ 최적화</a:t>
            </a:r>
            <a:endParaRPr lang="en-US" altLang="ko-KR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10" name="Google Shape;83;p16">
            <a:extLst>
              <a:ext uri="{FF2B5EF4-FFF2-40B4-BE49-F238E27FC236}">
                <a16:creationId xmlns:a16="http://schemas.microsoft.com/office/drawing/2014/main" id="{3287B9D1-3C34-DAA2-10F2-88DAC2366827}"/>
              </a:ext>
            </a:extLst>
          </p:cNvPr>
          <p:cNvSpPr txBox="1"/>
          <p:nvPr/>
        </p:nvSpPr>
        <p:spPr>
          <a:xfrm>
            <a:off x="1425308" y="2103960"/>
            <a:ext cx="2421864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확률적 경사 </a:t>
            </a:r>
            <a:r>
              <a:rPr lang="ko-KR" altLang="en-US" sz="1600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하강법</a:t>
            </a: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(SGD)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B935C3-DAB9-FEC1-6A64-2754D5067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296" y="2571750"/>
            <a:ext cx="2800622" cy="216085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006F915-5704-DFA8-C1FA-FBDB6C0726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164" y="4087950"/>
            <a:ext cx="2247900" cy="762000"/>
          </a:xfrm>
          <a:prstGeom prst="rect">
            <a:avLst/>
          </a:prstGeom>
        </p:spPr>
      </p:pic>
      <p:sp>
        <p:nvSpPr>
          <p:cNvPr id="9" name="Google Shape;83;p16">
            <a:extLst>
              <a:ext uri="{FF2B5EF4-FFF2-40B4-BE49-F238E27FC236}">
                <a16:creationId xmlns:a16="http://schemas.microsoft.com/office/drawing/2014/main" id="{0A2D8C9D-9D72-471C-75E2-4431C0E87D27}"/>
              </a:ext>
            </a:extLst>
          </p:cNvPr>
          <p:cNvSpPr txBox="1"/>
          <p:nvPr/>
        </p:nvSpPr>
        <p:spPr>
          <a:xfrm>
            <a:off x="5239149" y="2628165"/>
            <a:ext cx="312619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비등방성</a:t>
            </a: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-&gt; 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탐색경로 비효율적</a:t>
            </a:r>
            <a:endParaRPr lang="en-US" altLang="ko-KR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11" name="Google Shape;83;p16">
            <a:extLst>
              <a:ext uri="{FF2B5EF4-FFF2-40B4-BE49-F238E27FC236}">
                <a16:creationId xmlns:a16="http://schemas.microsoft.com/office/drawing/2014/main" id="{135EEB5D-44BA-2A5B-1D66-5FC139A76DAB}"/>
              </a:ext>
            </a:extLst>
          </p:cNvPr>
          <p:cNvSpPr txBox="1"/>
          <p:nvPr/>
        </p:nvSpPr>
        <p:spPr>
          <a:xfrm>
            <a:off x="5774407" y="3683730"/>
            <a:ext cx="312619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모멘텀</a:t>
            </a: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en-US" altLang="ko-KR" sz="1600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AdaGrad</a:t>
            </a: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Adam</a:t>
            </a:r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18D5041B-9937-E31A-654B-832AA1954A0B}"/>
              </a:ext>
            </a:extLst>
          </p:cNvPr>
          <p:cNvSpPr/>
          <p:nvPr/>
        </p:nvSpPr>
        <p:spPr>
          <a:xfrm>
            <a:off x="6735651" y="3168203"/>
            <a:ext cx="296214" cy="4677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294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E8E5F2AB-C1C2-B60F-E7CF-BA8C2D8A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3C7B97B8-1A69-C2DD-8651-9B0D255F7019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4422C676-D3CB-B64E-3F3B-F9E159ABC6D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77AFD3D2-2FAE-8FB6-A036-FD1B3C29ABD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3;p16">
            <a:extLst>
              <a:ext uri="{FF2B5EF4-FFF2-40B4-BE49-F238E27FC236}">
                <a16:creationId xmlns:a16="http://schemas.microsoft.com/office/drawing/2014/main" id="{9B314ED2-8A65-CED0-E9C7-906ADEBDDA2B}"/>
              </a:ext>
            </a:extLst>
          </p:cNvPr>
          <p:cNvSpPr txBox="1"/>
          <p:nvPr/>
        </p:nvSpPr>
        <p:spPr>
          <a:xfrm>
            <a:off x="1425307" y="467336"/>
            <a:ext cx="620669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9264B"/>
                </a:solidFill>
                <a:effectLst/>
                <a:uLnTx/>
                <a:uFillTx/>
                <a:latin typeface="NanumGothic ExtraBold"/>
                <a:ea typeface="NanumGothic ExtraBold"/>
                <a:cs typeface="NanumGothic ExtraBold"/>
                <a:sym typeface="NanumGothic ExtraBold"/>
              </a:rPr>
              <a:t>매개변수 갱신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rgbClr val="19264B"/>
              </a:solidFill>
              <a:effectLst/>
              <a:uLnTx/>
              <a:uFillTx/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10" name="Google Shape;83;p16">
            <a:extLst>
              <a:ext uri="{FF2B5EF4-FFF2-40B4-BE49-F238E27FC236}">
                <a16:creationId xmlns:a16="http://schemas.microsoft.com/office/drawing/2014/main" id="{6EE64225-ABCB-A335-3815-5D31D18FC66B}"/>
              </a:ext>
            </a:extLst>
          </p:cNvPr>
          <p:cNvSpPr txBox="1"/>
          <p:nvPr/>
        </p:nvSpPr>
        <p:spPr>
          <a:xfrm>
            <a:off x="2272801" y="1408181"/>
            <a:ext cx="2421864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모멘텀</a:t>
            </a:r>
            <a:endParaRPr lang="en-US" altLang="ko-KR" sz="16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65678311-E30A-A6E5-FE13-E8D483C5C8CE}"/>
              </a:ext>
            </a:extLst>
          </p:cNvPr>
          <p:cNvSpPr txBox="1"/>
          <p:nvPr/>
        </p:nvSpPr>
        <p:spPr>
          <a:xfrm>
            <a:off x="4528652" y="1346885"/>
            <a:ext cx="2421864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AdaGrad</a:t>
            </a:r>
            <a:endParaRPr lang="en-US" altLang="ko-KR" sz="16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" name="Google Shape;83;p16">
            <a:extLst>
              <a:ext uri="{FF2B5EF4-FFF2-40B4-BE49-F238E27FC236}">
                <a16:creationId xmlns:a16="http://schemas.microsoft.com/office/drawing/2014/main" id="{AE8436A9-B368-5197-7BFC-98EE0FA91DBC}"/>
              </a:ext>
            </a:extLst>
          </p:cNvPr>
          <p:cNvSpPr txBox="1"/>
          <p:nvPr/>
        </p:nvSpPr>
        <p:spPr>
          <a:xfrm>
            <a:off x="6950516" y="1346885"/>
            <a:ext cx="2421864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Adam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B884DA2-59E8-D243-2FD7-CF72F8666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292" y="1937267"/>
            <a:ext cx="2665330" cy="208614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B8ACB6C-069C-4F23-E046-BC53FCCFCE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2474" y="4147767"/>
            <a:ext cx="1571625" cy="7810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DAE68DC-61DB-36D1-BF54-409412ED00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5830" y="1875971"/>
            <a:ext cx="2654523" cy="208950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267D46E-018A-4FBD-FBB4-346E03324C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9463" y="3976317"/>
            <a:ext cx="1990725" cy="112395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487D33F-2339-B26F-BEE3-998F249C60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0352" y="1875971"/>
            <a:ext cx="2634718" cy="2107774"/>
          </a:xfrm>
          <a:prstGeom prst="rect">
            <a:avLst/>
          </a:prstGeom>
        </p:spPr>
      </p:pic>
      <p:sp>
        <p:nvSpPr>
          <p:cNvPr id="22" name="Google Shape;83;p16">
            <a:extLst>
              <a:ext uri="{FF2B5EF4-FFF2-40B4-BE49-F238E27FC236}">
                <a16:creationId xmlns:a16="http://schemas.microsoft.com/office/drawing/2014/main" id="{90AB3AAE-5D1C-2F46-896C-267FA1A6E2B9}"/>
              </a:ext>
            </a:extLst>
          </p:cNvPr>
          <p:cNvSpPr txBox="1"/>
          <p:nvPr/>
        </p:nvSpPr>
        <p:spPr>
          <a:xfrm>
            <a:off x="6950516" y="4304397"/>
            <a:ext cx="2421864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AdaGrad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+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모멘텀</a:t>
            </a:r>
            <a:endParaRPr lang="en-US" altLang="ko-KR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550771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53E12CF1-5942-BE9D-5ABC-80853E291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E1BBF1C9-34FA-8709-C213-B592F618302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F4DC2DB4-F6DC-B30E-3189-77302602599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B0E24024-9D56-D83B-FA37-95557357C04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3763A5A9-DC3F-8760-7CC4-3EF261BD6304}"/>
              </a:ext>
            </a:extLst>
          </p:cNvPr>
          <p:cNvSpPr txBox="1"/>
          <p:nvPr/>
        </p:nvSpPr>
        <p:spPr>
          <a:xfrm>
            <a:off x="4806176" y="1767489"/>
            <a:ext cx="3358566" cy="75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표준편차 </a:t>
            </a: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1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인 정규분포로 초기화 </a:t>
            </a:r>
            <a:endParaRPr lang="en-US" altLang="ko-KR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-&gt; 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기울기 소실</a:t>
            </a:r>
            <a:endParaRPr lang="en-US" altLang="ko-KR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4" name="Google Shape;83;p16">
            <a:extLst>
              <a:ext uri="{FF2B5EF4-FFF2-40B4-BE49-F238E27FC236}">
                <a16:creationId xmlns:a16="http://schemas.microsoft.com/office/drawing/2014/main" id="{4A27A8D6-D68D-BE78-4E1A-8F3F6E84575C}"/>
              </a:ext>
            </a:extLst>
          </p:cNvPr>
          <p:cNvSpPr txBox="1"/>
          <p:nvPr/>
        </p:nvSpPr>
        <p:spPr>
          <a:xfrm>
            <a:off x="2575933" y="3568054"/>
            <a:ext cx="1329043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Xavier</a:t>
            </a:r>
          </a:p>
        </p:txBody>
      </p:sp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1C29EE2B-2FAB-27F5-C8B2-392BA1AD59DF}"/>
              </a:ext>
            </a:extLst>
          </p:cNvPr>
          <p:cNvSpPr txBox="1"/>
          <p:nvPr/>
        </p:nvSpPr>
        <p:spPr>
          <a:xfrm>
            <a:off x="1425307" y="467336"/>
            <a:ext cx="620669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9264B"/>
                </a:solidFill>
                <a:effectLst/>
                <a:uLnTx/>
                <a:uFillTx/>
                <a:latin typeface="NanumGothic ExtraBold"/>
                <a:ea typeface="NanumGothic ExtraBold"/>
                <a:cs typeface="NanumGothic ExtraBold"/>
                <a:sym typeface="NanumGothic ExtraBold"/>
              </a:rPr>
              <a:t>가중치 초기화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rgbClr val="19264B"/>
              </a:solidFill>
              <a:effectLst/>
              <a:uLnTx/>
              <a:uFillTx/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" name="Google Shape;83;p16">
            <a:extLst>
              <a:ext uri="{FF2B5EF4-FFF2-40B4-BE49-F238E27FC236}">
                <a16:creationId xmlns:a16="http://schemas.microsoft.com/office/drawing/2014/main" id="{98A51984-113E-138E-C3C9-22DBCA27C825}"/>
              </a:ext>
            </a:extLst>
          </p:cNvPr>
          <p:cNvSpPr txBox="1"/>
          <p:nvPr/>
        </p:nvSpPr>
        <p:spPr>
          <a:xfrm>
            <a:off x="1425307" y="944040"/>
            <a:ext cx="620669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기울기를 이용해 손실함수의 최솟값을 찾는 방법</a:t>
            </a:r>
            <a:endParaRPr lang="en-US" altLang="ko-KR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4886873-CFD1-960B-004B-55E8A033E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475" y="1576157"/>
            <a:ext cx="3057525" cy="9286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FDF4175-27F3-F3AB-902E-EB18886D00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475" y="2457304"/>
            <a:ext cx="3078074" cy="928688"/>
          </a:xfrm>
          <a:prstGeom prst="rect">
            <a:avLst/>
          </a:prstGeom>
        </p:spPr>
      </p:pic>
      <p:sp>
        <p:nvSpPr>
          <p:cNvPr id="11" name="Google Shape;83;p16">
            <a:extLst>
              <a:ext uri="{FF2B5EF4-FFF2-40B4-BE49-F238E27FC236}">
                <a16:creationId xmlns:a16="http://schemas.microsoft.com/office/drawing/2014/main" id="{984EE77E-07FC-D518-BD89-B4C12C73DEDC}"/>
              </a:ext>
            </a:extLst>
          </p:cNvPr>
          <p:cNvSpPr txBox="1"/>
          <p:nvPr/>
        </p:nvSpPr>
        <p:spPr>
          <a:xfrm>
            <a:off x="4806176" y="2702018"/>
            <a:ext cx="3769112" cy="75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표준편차 </a:t>
            </a: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0.01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인 정규분포로 초기화 </a:t>
            </a:r>
            <a:endParaRPr lang="en-US" altLang="ko-KR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-&gt; 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표현력 제한</a:t>
            </a:r>
            <a:endParaRPr lang="en-US" altLang="ko-KR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86A4C34-DD0B-0136-CEA8-B0CC96F0E1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1127" y="4035844"/>
            <a:ext cx="3057525" cy="928688"/>
          </a:xfrm>
          <a:prstGeom prst="rect">
            <a:avLst/>
          </a:prstGeom>
        </p:spPr>
      </p:pic>
      <p:sp>
        <p:nvSpPr>
          <p:cNvPr id="16" name="Google Shape;83;p16">
            <a:extLst>
              <a:ext uri="{FF2B5EF4-FFF2-40B4-BE49-F238E27FC236}">
                <a16:creationId xmlns:a16="http://schemas.microsoft.com/office/drawing/2014/main" id="{4D699982-74BD-6A2B-BEC4-7553491C962E}"/>
              </a:ext>
            </a:extLst>
          </p:cNvPr>
          <p:cNvSpPr txBox="1"/>
          <p:nvPr/>
        </p:nvSpPr>
        <p:spPr>
          <a:xfrm>
            <a:off x="6122019" y="3614898"/>
            <a:ext cx="1329043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He</a:t>
            </a:r>
          </a:p>
        </p:txBody>
      </p:sp>
      <p:sp>
        <p:nvSpPr>
          <p:cNvPr id="17" name="Google Shape;83;p16">
            <a:extLst>
              <a:ext uri="{FF2B5EF4-FFF2-40B4-BE49-F238E27FC236}">
                <a16:creationId xmlns:a16="http://schemas.microsoft.com/office/drawing/2014/main" id="{DB2BA8A5-3EEB-8DFE-12C3-59B32C0EF33E}"/>
              </a:ext>
            </a:extLst>
          </p:cNvPr>
          <p:cNvSpPr txBox="1"/>
          <p:nvPr/>
        </p:nvSpPr>
        <p:spPr>
          <a:xfrm>
            <a:off x="5427533" y="4115070"/>
            <a:ext cx="2539594" cy="75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ReLU</a:t>
            </a: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활성화함수에 특화된 초기화 방법</a:t>
            </a:r>
            <a:endParaRPr lang="en-US" altLang="ko-KR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66577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205E6B65-F07D-315B-00CB-A0139F4E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6B028D38-1FD0-781F-990F-190C8AC27A0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23CEF295-F94A-4A9A-A480-3D96D7EC115E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236D85DC-CAC5-8C5A-9F5C-9CD2EAB9FB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DDC5C72D-DC2D-CF59-CF89-ADC14639CB96}"/>
              </a:ext>
            </a:extLst>
          </p:cNvPr>
          <p:cNvSpPr txBox="1"/>
          <p:nvPr/>
        </p:nvSpPr>
        <p:spPr>
          <a:xfrm>
            <a:off x="1425307" y="467336"/>
            <a:ext cx="620669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ko-KR" altLang="en-US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배치정규화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rgbClr val="19264B"/>
              </a:solidFill>
              <a:effectLst/>
              <a:uLnTx/>
              <a:uFillTx/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FBBDF8D-E0A5-CFFF-1DBF-63E9DA1A8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174" y="918087"/>
            <a:ext cx="6162675" cy="1695450"/>
          </a:xfrm>
          <a:prstGeom prst="rect">
            <a:avLst/>
          </a:prstGeom>
        </p:spPr>
      </p:pic>
      <p:sp>
        <p:nvSpPr>
          <p:cNvPr id="9" name="Google Shape;83;p16">
            <a:extLst>
              <a:ext uri="{FF2B5EF4-FFF2-40B4-BE49-F238E27FC236}">
                <a16:creationId xmlns:a16="http://schemas.microsoft.com/office/drawing/2014/main" id="{6C1EDADE-E9B1-00EA-A78F-F8676EDD26F5}"/>
              </a:ext>
            </a:extLst>
          </p:cNvPr>
          <p:cNvSpPr txBox="1"/>
          <p:nvPr/>
        </p:nvSpPr>
        <p:spPr>
          <a:xfrm>
            <a:off x="1558159" y="2754946"/>
            <a:ext cx="620669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ko-KR" altLang="en-US" sz="16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오버피팅</a:t>
            </a:r>
            <a:r>
              <a:rPr lang="ko-KR" altLang="en-US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방지</a:t>
            </a:r>
            <a:endParaRPr lang="en-US" altLang="ko-KR" sz="16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3D5D16B-EBDE-1C52-508F-705C53553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5072" y="2988841"/>
            <a:ext cx="3756925" cy="1959827"/>
          </a:xfrm>
          <a:prstGeom prst="rect">
            <a:avLst/>
          </a:prstGeom>
        </p:spPr>
      </p:pic>
      <p:sp>
        <p:nvSpPr>
          <p:cNvPr id="15" name="Google Shape;83;p16">
            <a:extLst>
              <a:ext uri="{FF2B5EF4-FFF2-40B4-BE49-F238E27FC236}">
                <a16:creationId xmlns:a16="http://schemas.microsoft.com/office/drawing/2014/main" id="{92A4C27E-1EA5-A634-8F35-28C7BEC063DF}"/>
              </a:ext>
            </a:extLst>
          </p:cNvPr>
          <p:cNvSpPr txBox="1"/>
          <p:nvPr/>
        </p:nvSpPr>
        <p:spPr>
          <a:xfrm>
            <a:off x="1602174" y="3222736"/>
            <a:ext cx="2421864" cy="75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가중치 감소</a:t>
            </a:r>
            <a:endParaRPr lang="en-US" altLang="ko-KR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600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드롭아웃</a:t>
            </a:r>
            <a:endParaRPr lang="en-US" altLang="ko-KR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4678431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2733</TotalTime>
  <Words>161</Words>
  <Application>Microsoft Office PowerPoint</Application>
  <PresentationFormat>화면 슬라이드 쇼(16:9)</PresentationFormat>
  <Paragraphs>44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NanumGothic ExtraBold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장희원</cp:lastModifiedBy>
  <cp:revision>39</cp:revision>
  <dcterms:modified xsi:type="dcterms:W3CDTF">2025-11-10T07:08:12Z</dcterms:modified>
</cp:coreProperties>
</file>