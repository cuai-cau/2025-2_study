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8" r:id="rId6"/>
    <p:sldId id="267" r:id="rId7"/>
    <p:sldId id="269" r:id="rId8"/>
    <p:sldId id="271" r:id="rId9"/>
    <p:sldId id="270" r:id="rId10"/>
    <p:sldId id="272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31" autoAdjust="0"/>
    <p:restoredTop sz="86424" autoAdjust="0"/>
  </p:normalViewPr>
  <p:slideViewPr>
    <p:cSldViewPr snapToGrid="0">
      <p:cViewPr varScale="1">
        <p:scale>
          <a:sx n="85" d="100"/>
          <a:sy n="85" d="100"/>
        </p:scale>
        <p:origin x="594" y="48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/>
        <a:ea typeface="나눔고딕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9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92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8EB7766-B672-3D87-F910-347FAE68E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584C7357-B6F8-72FD-E441-7837FF364FD4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F23C7F7-1BB0-9920-AF11-E1E19F56D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25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0233277-A70F-D44A-B8EB-1F41C8EE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52CCC4C-76D1-92F1-4893-636B741201B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DF45F8F1-49B4-A27C-8513-9D3174484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612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DF4693F-DE09-0BB3-4890-2F31B704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3BCA1A1-1EC5-E3E4-EB4F-19AE35306C3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E4F33AE-A3E4-BC24-DBCB-9F294F3A1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07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1F712F-BF12-11B1-29E2-0BE030BF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F872519D-854F-1F72-F871-E227665CF6F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4A22E378-FA66-CAC5-695D-B395E891A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078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>
                <a:latin typeface="맑은 고딕"/>
                <a:ea typeface="맑은 고딕"/>
              </a:rPr>
              <a:t>T</a:t>
            </a:r>
            <a:endParaRPr>
              <a:latin typeface="맑은 고딕"/>
              <a:ea typeface="맑은 고딕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CUAI </a:t>
            </a:r>
            <a:r>
              <a:rPr lang="ko-KR" altLang="en-US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금융</a:t>
            </a:r>
            <a:r>
              <a:rPr lang="en-US" altLang="ko-KR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AI</a:t>
            </a:r>
            <a:r>
              <a:rPr lang="ko-KR" altLang="en-US" sz="2500" b="1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 스터디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202</a:t>
            </a:r>
            <a:r>
              <a:rPr lang="en-US" alt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5</a:t>
            </a: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-KR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11</a:t>
            </a:r>
            <a:r>
              <a:rPr 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.</a:t>
            </a:r>
            <a:r>
              <a:rPr lang="en-US" altLang="ko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18</a:t>
            </a:r>
            <a:endParaRPr lang="en-US" altLang="ko-KR"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dirty="0">
              <a:solidFill>
                <a:srgbClr val="19264B"/>
              </a:solidFill>
              <a:latin typeface="나눔스퀘어 ExtraBold"/>
              <a:ea typeface="나눔스퀘어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발표자</a:t>
            </a:r>
            <a:r>
              <a:rPr lang="en-US" altLang="ko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 : </a:t>
            </a:r>
            <a:r>
              <a:rPr lang="ko-KR" altLang="en-US" sz="1100" dirty="0">
                <a:solidFill>
                  <a:srgbClr val="19264B"/>
                </a:solidFill>
                <a:latin typeface="나눔스퀘어 ExtraBold"/>
                <a:ea typeface="나눔스퀘어 ExtraBold"/>
              </a:rPr>
              <a:t>윤혜린</a:t>
            </a: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57" name="Google Shape;57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64" name="Google Shape;64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1599250" y="1262100"/>
            <a:ext cx="4287600" cy="3109734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200">
              <a:latin typeface="맑은 고딕"/>
              <a:ea typeface="맑은 고딕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275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스터디원 소개 및 만남 인증</a:t>
            </a:r>
            <a:endParaRPr sz="2000" b="1">
              <a:solidFill>
                <a:srgbClr val="19264B"/>
              </a:solidFill>
              <a:latin typeface="나눔스퀘어 ExtraBold"/>
              <a:ea typeface="나눔스퀘어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995164" y="1350452"/>
            <a:ext cx="2886200" cy="1569898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>
                <a:latin typeface="나눔스퀘어"/>
                <a:ea typeface="나눔스퀘어"/>
              </a:rPr>
              <a:t>팀</a:t>
            </a:r>
            <a:r>
              <a:rPr lang="ko" sz="1300">
                <a:latin typeface="나눔스퀘어"/>
                <a:ea typeface="나눔스퀘어"/>
              </a:rPr>
              <a:t>원 1:</a:t>
            </a:r>
            <a:r>
              <a:rPr lang="en-US" altLang="ko" sz="1300">
                <a:latin typeface="나눔스퀘어"/>
                <a:ea typeface="나눔스퀘어"/>
              </a:rPr>
              <a:t> </a:t>
            </a:r>
            <a:r>
              <a:rPr lang="ko-KR" altLang="en-US" sz="1300">
                <a:latin typeface="나눔스퀘어"/>
                <a:ea typeface="나눔스퀘어"/>
              </a:rPr>
              <a:t>윤혜린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" sz="130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>
                <a:latin typeface="나눔스퀘어"/>
                <a:ea typeface="나눔스퀘어"/>
              </a:rPr>
              <a:t>팀</a:t>
            </a:r>
            <a:r>
              <a:rPr lang="ko" sz="1300">
                <a:latin typeface="나눔스퀘어"/>
                <a:ea typeface="나눔스퀘어"/>
              </a:rPr>
              <a:t>원 2:</a:t>
            </a:r>
            <a:r>
              <a:rPr lang="en-US" altLang="ko" sz="1300">
                <a:latin typeface="나눔스퀘어"/>
                <a:ea typeface="나눔스퀘어"/>
              </a:rPr>
              <a:t> </a:t>
            </a:r>
            <a:r>
              <a:rPr lang="ko-KR" altLang="en-US" sz="1300">
                <a:latin typeface="나눔스퀘어"/>
                <a:ea typeface="나눔스퀘어"/>
              </a:rPr>
              <a:t>김태영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>
                <a:latin typeface="나눔스퀘어"/>
                <a:ea typeface="나눔스퀘어"/>
              </a:rPr>
              <a:t>팀원 </a:t>
            </a:r>
            <a:r>
              <a:rPr lang="en-US" altLang="ko-KR" sz="1300">
                <a:latin typeface="나눔스퀘어"/>
                <a:ea typeface="나눔스퀘어"/>
              </a:rPr>
              <a:t>3: </a:t>
            </a:r>
            <a:r>
              <a:rPr lang="ko-KR" altLang="en-US" sz="1300">
                <a:latin typeface="나눔스퀘어"/>
                <a:ea typeface="나눔스퀘어"/>
              </a:rPr>
              <a:t>나준원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130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300">
                <a:latin typeface="나눔스퀘어"/>
                <a:ea typeface="나눔스퀘어"/>
              </a:rPr>
              <a:t>팀원 </a:t>
            </a:r>
            <a:r>
              <a:rPr lang="en-US" altLang="ko-KR" sz="1300">
                <a:latin typeface="나눔스퀘어"/>
                <a:ea typeface="나눔스퀘어"/>
              </a:rPr>
              <a:t>4: </a:t>
            </a:r>
            <a:r>
              <a:rPr lang="ko-KR" altLang="en-US" sz="1300">
                <a:latin typeface="나눔스퀘어"/>
                <a:ea typeface="나눔스퀘어"/>
              </a:rPr>
              <a:t>안솔</a:t>
            </a:r>
          </a:p>
        </p:txBody>
      </p:sp>
      <p:pic>
        <p:nvPicPr>
          <p:cNvPr id="69" name="그림 6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10658" y="1553433"/>
            <a:ext cx="4258708" cy="22591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주제</a:t>
            </a:r>
          </a:p>
        </p:txBody>
      </p:sp>
      <p:sp>
        <p:nvSpPr>
          <p:cNvPr id="11" name="Google Shape;67;p14"/>
          <p:cNvSpPr txBox="1"/>
          <p:nvPr/>
        </p:nvSpPr>
        <p:spPr>
          <a:xfrm>
            <a:off x="4864605" y="1985354"/>
            <a:ext cx="3256137" cy="115407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600">
                <a:latin typeface="나눔스퀘어"/>
                <a:ea typeface="나눔스퀘어"/>
              </a:rPr>
              <a:t>사용한 교재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latin typeface="나눔스퀘어"/>
              <a:ea typeface="나눔스퀘어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>
                <a:latin typeface="나눔스퀘어"/>
                <a:ea typeface="나눔스퀘어"/>
              </a:rPr>
              <a:t>&lt;</a:t>
            </a:r>
            <a:r>
              <a:rPr lang="ko-KR" altLang="en-US" sz="1600">
                <a:latin typeface="나눔스퀘어"/>
                <a:ea typeface="나눔스퀘어"/>
              </a:rPr>
              <a:t>파이썬 기반 금융 인공지능</a:t>
            </a:r>
            <a:r>
              <a:rPr lang="en-US" altLang="ko-KR" sz="1600">
                <a:latin typeface="나눔스퀘어"/>
                <a:ea typeface="나눔스퀘어"/>
              </a:rPr>
              <a:t>&gt;,</a:t>
            </a:r>
            <a:r>
              <a:rPr lang="ko-KR" altLang="en-US" sz="1600">
                <a:latin typeface="나눔스퀘어"/>
                <a:ea typeface="나눔스퀘어"/>
              </a:rPr>
              <a:t> 이브 힐핏</a:t>
            </a:r>
          </a:p>
        </p:txBody>
      </p:sp>
      <p:sp>
        <p:nvSpPr>
          <p:cNvPr id="15" name="Google Shape;67;p14"/>
          <p:cNvSpPr txBox="1"/>
          <p:nvPr/>
        </p:nvSpPr>
        <p:spPr>
          <a:xfrm>
            <a:off x="1956047" y="3114453"/>
            <a:ext cx="5923138" cy="48217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000" b="1">
              <a:latin typeface="나눔스퀘어"/>
              <a:ea typeface="나눔스퀘어"/>
            </a:endParaRPr>
          </a:p>
        </p:txBody>
      </p:sp>
      <p:pic>
        <p:nvPicPr>
          <p:cNvPr id="79" name="그림 7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16100" y="1136651"/>
            <a:ext cx="2561032" cy="32951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387203" y="328647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방식</a:t>
            </a:r>
          </a:p>
        </p:txBody>
      </p:sp>
      <p:sp>
        <p:nvSpPr>
          <p:cNvPr id="79" name="Google Shape;67;p14"/>
          <p:cNvSpPr txBox="1"/>
          <p:nvPr/>
        </p:nvSpPr>
        <p:spPr>
          <a:xfrm>
            <a:off x="1725242" y="1398530"/>
            <a:ext cx="5430737" cy="164881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600" dirty="0">
                <a:latin typeface="나눔스퀘어"/>
                <a:ea typeface="나눔스퀘어"/>
              </a:rPr>
              <a:t>월요일 </a:t>
            </a:r>
            <a:r>
              <a:rPr lang="en-US" altLang="ko-KR" sz="1600" dirty="0">
                <a:latin typeface="나눔스퀘어"/>
                <a:ea typeface="나눔스퀘어"/>
              </a:rPr>
              <a:t>20:30</a:t>
            </a:r>
            <a:r>
              <a:rPr lang="ko-KR" altLang="en-US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>
                <a:latin typeface="나눔스퀘어"/>
                <a:ea typeface="나눔스퀘어"/>
              </a:rPr>
              <a:t>-</a:t>
            </a:r>
            <a:r>
              <a:rPr lang="ko-KR" altLang="en-US" sz="1600" dirty="0">
                <a:latin typeface="나눔스퀘어"/>
                <a:ea typeface="나눔스퀘어"/>
              </a:rPr>
              <a:t> </a:t>
            </a:r>
            <a:r>
              <a:rPr lang="en-US" altLang="ko-KR" sz="1600" dirty="0">
                <a:latin typeface="나눔스퀘어"/>
                <a:ea typeface="나눔스퀘어"/>
              </a:rPr>
              <a:t>21:30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600" dirty="0" err="1">
                <a:latin typeface="나눔스퀘어"/>
                <a:ea typeface="나눔스퀘어"/>
              </a:rPr>
              <a:t>비대면</a:t>
            </a:r>
            <a:r>
              <a:rPr lang="ko-KR" altLang="en-US" sz="1600" dirty="0">
                <a:latin typeface="나눔스퀘어"/>
                <a:ea typeface="나눔스퀘어"/>
              </a:rPr>
              <a:t> 스터디 진행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6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1600" dirty="0">
              <a:latin typeface="나눔스퀘어"/>
              <a:ea typeface="나눔스퀘어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00" dirty="0">
                <a:latin typeface="나눔스퀘어"/>
                <a:ea typeface="나눔스퀘어"/>
              </a:rPr>
              <a:t>-</a:t>
            </a:r>
            <a:r>
              <a:rPr lang="ko-KR" altLang="en-US" sz="1600" dirty="0">
                <a:latin typeface="나눔스퀘어"/>
                <a:ea typeface="나눔스퀘어"/>
              </a:rPr>
              <a:t> 매주 정해진 학습 분량에 대해 모든 팀원이 공부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00" dirty="0">
                <a:latin typeface="나눔스퀘어"/>
                <a:ea typeface="나눔스퀘어"/>
              </a:rPr>
              <a:t>-</a:t>
            </a:r>
            <a:r>
              <a:rPr lang="ko-KR" altLang="en-US" sz="1600" dirty="0">
                <a:latin typeface="나눔스퀘어"/>
                <a:ea typeface="나눔스퀘어"/>
              </a:rPr>
              <a:t> 1~2명이 돌아가며 해당 부분 </a:t>
            </a:r>
            <a:r>
              <a:rPr lang="ko-KR" altLang="en-US" sz="1600" dirty="0" err="1">
                <a:latin typeface="나눔스퀘어"/>
                <a:ea typeface="나눔스퀘어"/>
              </a:rPr>
              <a:t>요약·발표</a:t>
            </a:r>
            <a:endParaRPr lang="ko-KR" altLang="en-US" sz="1600" dirty="0">
              <a:latin typeface="나눔스퀘어"/>
              <a:ea typeface="나눔스퀘어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일정</a:t>
            </a:r>
          </a:p>
        </p:txBody>
      </p:sp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5143500" y="992867"/>
          <a:ext cx="3714750" cy="363601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 b="0">
                          <a:solidFill>
                            <a:schemeClr val="dk1"/>
                          </a:solidFill>
                        </a:rPr>
                        <a:t>날짜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 b="0">
                          <a:solidFill>
                            <a:schemeClr val="dk1"/>
                          </a:solidFill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 b="0">
                          <a:solidFill>
                            <a:schemeClr val="dk1"/>
                          </a:solidFill>
                        </a:rPr>
                        <a:t>발표자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2025.09.15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스터디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방향 잡기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 altLang="en-US">
                        <a:solidFill>
                          <a:schemeClr val="dk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2025.09.22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3,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김태영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 윤혜린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2025.09.29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6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나준원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2025.10.27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8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안솔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2025.11.03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9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김태영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2025.11.10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10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윤혜린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2025.11.17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11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나준원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2025.10.24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</a:rPr>
                        <a:t>12 chapter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</a:rPr>
                        <a:t>안솔</a:t>
                      </a:r>
                    </a:p>
                  </a:txBody>
                  <a:tcPr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2" name="가로 글상자 81"/>
          <p:cNvSpPr txBox="1"/>
          <p:nvPr/>
        </p:nvSpPr>
        <p:spPr>
          <a:xfrm>
            <a:off x="1455964" y="1588909"/>
            <a:ext cx="2852058" cy="2219186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3 규범적 금융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4 데이터 기반 금융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5 머신러닝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6 인공지능 우선 금융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7 밀집 신경망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8 재귀 신경망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9 강화 학습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10 벡터화된 백테스팅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11 리스크 관리</a:t>
            </a:r>
          </a:p>
          <a:p>
            <a:pPr lvl="0">
              <a:defRPr/>
            </a:pPr>
            <a:r>
              <a:rPr lang="ko-KR" altLang="en-US">
                <a:latin typeface="맑은 고딕"/>
                <a:ea typeface="맑은 고딕"/>
              </a:rPr>
              <a:t>CHAPTER 12 집행 및 배포</a:t>
            </a:r>
          </a:p>
        </p:txBody>
      </p:sp>
      <p:cxnSp>
        <p:nvCxnSpPr>
          <p:cNvPr id="84" name="화살표 83"/>
          <p:cNvCxnSpPr/>
          <p:nvPr/>
        </p:nvCxnSpPr>
        <p:spPr>
          <a:xfrm>
            <a:off x="4506698" y="2715641"/>
            <a:ext cx="507927" cy="180"/>
          </a:xfrm>
          <a:prstGeom prst="straightConnector1">
            <a:avLst/>
          </a:prstGeom>
          <a:ln w="50800"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639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/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/>
          <p:cNvSpPr txBox="1"/>
          <p:nvPr/>
        </p:nvSpPr>
        <p:spPr>
          <a:xfrm>
            <a:off x="1723453" y="802603"/>
            <a:ext cx="3600450" cy="335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: </a:t>
            </a:r>
            <a:r>
              <a:rPr lang="ko-KR" altLang="en-US" sz="1600" dirty="0">
                <a:latin typeface="맑은 고딕"/>
                <a:ea typeface="맑은 고딕"/>
              </a:rPr>
              <a:t>CHAPTER </a:t>
            </a:r>
            <a:r>
              <a:rPr lang="en-US" altLang="ko-KR" sz="1600" dirty="0">
                <a:latin typeface="맑은 고딕"/>
                <a:ea typeface="맑은 고딕"/>
              </a:rPr>
              <a:t>10.</a:t>
            </a:r>
            <a:r>
              <a:rPr lang="ko-KR" alt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dirty="0" err="1"/>
              <a:t>벡터화된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백테스팅</a:t>
            </a:r>
            <a:endParaRPr lang="en-US" altLang="ko-KR" sz="1600" b="1" dirty="0">
              <a:latin typeface="나눔스퀘어"/>
              <a:ea typeface="나눔스퀘어"/>
            </a:endParaRPr>
          </a:p>
        </p:txBody>
      </p:sp>
      <p:sp>
        <p:nvSpPr>
          <p:cNvPr id="85" name="가로 글상자 84"/>
          <p:cNvSpPr txBox="1"/>
          <p:nvPr/>
        </p:nvSpPr>
        <p:spPr>
          <a:xfrm>
            <a:off x="1609153" y="1465531"/>
            <a:ext cx="6797892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latin typeface="+mn-ea"/>
                <a:ea typeface="+mn-ea"/>
              </a:rPr>
              <a:t>벡터화된</a:t>
            </a:r>
            <a:r>
              <a:rPr lang="ko-KR" altLang="en-US" sz="1600" b="1" dirty="0">
                <a:latin typeface="+mn-ea"/>
                <a:ea typeface="+mn-ea"/>
              </a:rPr>
              <a:t> </a:t>
            </a:r>
            <a:r>
              <a:rPr lang="ko-KR" altLang="en-US" sz="1600" b="1" dirty="0" err="1">
                <a:latin typeface="+mn-ea"/>
                <a:ea typeface="+mn-ea"/>
              </a:rPr>
              <a:t>백테스팅</a:t>
            </a:r>
            <a:r>
              <a:rPr lang="ko-KR" altLang="en-US" sz="1600" dirty="0" err="1">
                <a:latin typeface="+mn-ea"/>
                <a:ea typeface="+mn-ea"/>
              </a:rPr>
              <a:t>이란</a:t>
            </a:r>
            <a:r>
              <a:rPr lang="en-US" altLang="ko-KR" sz="1600" dirty="0">
                <a:latin typeface="+mn-ea"/>
                <a:ea typeface="+mn-ea"/>
              </a:rPr>
              <a:t>?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dirty="0">
                <a:latin typeface="+mn-ea"/>
                <a:ea typeface="+mn-ea"/>
              </a:rPr>
              <a:t> 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인공지능 기반 알고리즘 트레이딩 전략을 빠르게 검증하는 기술</a:t>
            </a:r>
          </a:p>
          <a:p>
            <a:r>
              <a:rPr lang="ko-KR" altLang="en-US" dirty="0">
                <a:latin typeface="+mn-ea"/>
                <a:ea typeface="+mn-ea"/>
              </a:rPr>
              <a:t>      </a:t>
            </a:r>
            <a:r>
              <a:rPr lang="ko-KR" altLang="en-US" dirty="0" err="1">
                <a:latin typeface="+mn-ea"/>
                <a:ea typeface="+mn-ea"/>
              </a:rPr>
              <a:t>반복문</a:t>
            </a:r>
            <a:r>
              <a:rPr lang="en-US" altLang="ko-KR" dirty="0">
                <a:latin typeface="+mn-ea"/>
                <a:ea typeface="+mn-ea"/>
              </a:rPr>
              <a:t>(loop)</a:t>
            </a:r>
            <a:r>
              <a:rPr lang="ko-KR" altLang="en-US" dirty="0">
                <a:latin typeface="+mn-ea"/>
                <a:ea typeface="+mn-ea"/>
              </a:rPr>
              <a:t> 대신 </a:t>
            </a:r>
            <a:r>
              <a:rPr lang="en-US" altLang="ko-KR" dirty="0">
                <a:latin typeface="+mn-ea"/>
                <a:ea typeface="+mn-ea"/>
              </a:rPr>
              <a:t>NumPy / Pandas</a:t>
            </a:r>
            <a:r>
              <a:rPr lang="ko-KR" altLang="en-US" dirty="0">
                <a:latin typeface="+mn-ea"/>
                <a:ea typeface="+mn-ea"/>
              </a:rPr>
              <a:t> 기반 벡터 연산으로 속도</a:t>
            </a:r>
            <a:r>
              <a:rPr lang="en-US" altLang="ko-KR" dirty="0">
                <a:latin typeface="+mn-ea"/>
                <a:ea typeface="+mn-ea"/>
              </a:rPr>
              <a:t>·</a:t>
            </a:r>
            <a:r>
              <a:rPr lang="ko-KR" altLang="en-US" dirty="0">
                <a:latin typeface="+mn-ea"/>
                <a:ea typeface="+mn-ea"/>
              </a:rPr>
              <a:t>간결성 확보</a:t>
            </a:r>
          </a:p>
          <a:p>
            <a:r>
              <a:rPr lang="ko-KR" altLang="en-US" dirty="0">
                <a:latin typeface="+mn-ea"/>
                <a:ea typeface="+mn-ea"/>
              </a:rPr>
              <a:t>      신호 생성 → 포지션 → 수익 → 비용 → 리스크를 한 번에 처리 가능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ko-KR" altLang="en-US" sz="1600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  <a:ea typeface="+mn-ea"/>
              </a:rPr>
              <a:t>예측력 </a:t>
            </a:r>
            <a:r>
              <a:rPr lang="en-US" altLang="ko-KR" sz="1600" b="1" dirty="0">
                <a:latin typeface="+mn-ea"/>
                <a:ea typeface="+mn-ea"/>
              </a:rPr>
              <a:t>vs </a:t>
            </a:r>
            <a:r>
              <a:rPr lang="ko-KR" altLang="en-US" sz="1600" b="1" dirty="0">
                <a:latin typeface="+mn-ea"/>
                <a:ea typeface="+mn-ea"/>
              </a:rPr>
              <a:t>수익성</a:t>
            </a:r>
            <a:endParaRPr lang="en-US" altLang="ko-KR" sz="1600" b="1" dirty="0">
              <a:latin typeface="+mn-ea"/>
              <a:ea typeface="+mn-ea"/>
            </a:endParaRPr>
          </a:p>
          <a:p>
            <a:endParaRPr lang="ko-KR" altLang="en-US" sz="1600" b="1" dirty="0">
              <a:latin typeface="+mn-ea"/>
              <a:ea typeface="+mn-ea"/>
            </a:endParaRPr>
          </a:p>
          <a:p>
            <a:r>
              <a:rPr lang="en-US" altLang="ko-KR" sz="1600" dirty="0">
                <a:latin typeface="+mn-ea"/>
                <a:ea typeface="+mn-ea"/>
              </a:rPr>
              <a:t> 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모델의 예측력이 높아도 수익이 보장되진 않음</a:t>
            </a:r>
          </a:p>
          <a:p>
            <a:r>
              <a:rPr lang="ko-KR" altLang="en-US" dirty="0">
                <a:latin typeface="+mn-ea"/>
                <a:ea typeface="+mn-ea"/>
              </a:rPr>
              <a:t>       핵심은 알파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초과수익</a:t>
            </a:r>
            <a:r>
              <a:rPr lang="en-US" altLang="ko-KR" dirty="0">
                <a:latin typeface="+mn-ea"/>
                <a:ea typeface="+mn-ea"/>
              </a:rPr>
              <a:t>) </a:t>
            </a:r>
            <a:r>
              <a:rPr lang="ko-KR" altLang="en-US" dirty="0">
                <a:latin typeface="+mn-ea"/>
                <a:ea typeface="+mn-ea"/>
              </a:rPr>
              <a:t>생성 능력</a:t>
            </a:r>
          </a:p>
          <a:p>
            <a:r>
              <a:rPr lang="ko-KR" altLang="en-US" dirty="0">
                <a:latin typeface="+mn-ea"/>
                <a:ea typeface="+mn-ea"/>
              </a:rPr>
              <a:t>       시장의 잡음보다 큰 흐름</a:t>
            </a:r>
            <a:r>
              <a:rPr lang="en-US" altLang="ko-KR" dirty="0">
                <a:latin typeface="+mn-ea"/>
                <a:ea typeface="+mn-ea"/>
              </a:rPr>
              <a:t>(factor trend)</a:t>
            </a:r>
            <a:r>
              <a:rPr lang="ko-KR" altLang="en-US" dirty="0">
                <a:latin typeface="+mn-ea"/>
                <a:ea typeface="+mn-ea"/>
              </a:rPr>
              <a:t> 을 잡는 전략이 실전에서 우위</a:t>
            </a:r>
          </a:p>
          <a:p>
            <a:r>
              <a:rPr lang="ko-KR" altLang="en-US" dirty="0">
                <a:latin typeface="+mn-ea"/>
                <a:ea typeface="+mn-ea"/>
              </a:rPr>
              <a:t>       극단적 시장 상황에서의 리스크 관리 능력이 중요</a:t>
            </a:r>
          </a:p>
          <a:p>
            <a:pPr lvl="0">
              <a:defRPr/>
            </a:pPr>
            <a:endParaRPr lang="ko-KR" altLang="en-US" sz="1600" dirty="0">
              <a:latin typeface="나눔스퀘어"/>
              <a:ea typeface="나눔스퀘어"/>
            </a:endParaRPr>
          </a:p>
        </p:txBody>
      </p:sp>
    </p:spTree>
    <p:extLst>
      <p:ext uri="{BB962C8B-B14F-4D97-AF65-F5344CB8AC3E}">
        <p14:creationId xmlns:p14="http://schemas.microsoft.com/office/powerpoint/2010/main" val="3317557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686E-A9D8-A1E1-7B60-5D68698D6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B96EE28-5FCD-D85B-6FC0-03E6E5365B4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0A211D1-8AD3-97B0-82DB-C6472B7BD04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4CD1F03B-1595-E29F-E3B5-AA373CB55BC7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FC44FA3E-60C2-C6E5-41F1-84FFD4A028BE}"/>
              </a:ext>
            </a:extLst>
          </p:cNvPr>
          <p:cNvSpPr txBox="1"/>
          <p:nvPr/>
        </p:nvSpPr>
        <p:spPr>
          <a:xfrm>
            <a:off x="1397755" y="187319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>
            <a:extLst>
              <a:ext uri="{FF2B5EF4-FFF2-40B4-BE49-F238E27FC236}">
                <a16:creationId xmlns:a16="http://schemas.microsoft.com/office/drawing/2014/main" id="{8BEAA485-7DCF-C775-2662-2467D8932991}"/>
              </a:ext>
            </a:extLst>
          </p:cNvPr>
          <p:cNvSpPr txBox="1"/>
          <p:nvPr/>
        </p:nvSpPr>
        <p:spPr>
          <a:xfrm>
            <a:off x="1617282" y="639919"/>
            <a:ext cx="3600450" cy="335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: </a:t>
            </a:r>
            <a:r>
              <a:rPr lang="ko-KR" altLang="en-US" sz="1600" dirty="0"/>
              <a:t>단순 이동평균</a:t>
            </a:r>
            <a:r>
              <a:rPr lang="en-US" altLang="ko-KR" sz="1600" dirty="0"/>
              <a:t>(SMA) </a:t>
            </a:r>
            <a:r>
              <a:rPr lang="ko-KR" altLang="en-US" sz="1600" dirty="0"/>
              <a:t>전략 </a:t>
            </a:r>
            <a:r>
              <a:rPr lang="ko-KR" altLang="en-US" sz="1600" dirty="0" err="1"/>
              <a:t>백테스팅</a:t>
            </a:r>
            <a:endParaRPr lang="en-US" altLang="ko-KR" sz="1600" b="1" dirty="0">
              <a:latin typeface="나눔스퀘어"/>
              <a:ea typeface="나눔스퀘어"/>
            </a:endParaRPr>
          </a:p>
        </p:txBody>
      </p:sp>
      <p:sp>
        <p:nvSpPr>
          <p:cNvPr id="85" name="가로 글상자 84">
            <a:extLst>
              <a:ext uri="{FF2B5EF4-FFF2-40B4-BE49-F238E27FC236}">
                <a16:creationId xmlns:a16="http://schemas.microsoft.com/office/drawing/2014/main" id="{A017EA16-2720-7FD5-B84E-082B10C281E2}"/>
              </a:ext>
            </a:extLst>
          </p:cNvPr>
          <p:cNvSpPr txBox="1"/>
          <p:nvPr/>
        </p:nvSpPr>
        <p:spPr>
          <a:xfrm>
            <a:off x="1516305" y="1219632"/>
            <a:ext cx="727427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n-ea"/>
                <a:ea typeface="+mn-ea"/>
              </a:rPr>
              <a:t>①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ko-KR" altLang="en-US" b="1" dirty="0">
                <a:latin typeface="+mn-ea"/>
                <a:ea typeface="+mn-ea"/>
              </a:rPr>
              <a:t>신호 생성</a:t>
            </a:r>
          </a:p>
          <a:p>
            <a:r>
              <a:rPr lang="en-US" altLang="ko-KR" dirty="0">
                <a:latin typeface="+mn-ea"/>
                <a:ea typeface="+mn-ea"/>
              </a:rPr>
              <a:t>  - SMA1(42</a:t>
            </a:r>
            <a:r>
              <a:rPr lang="ko-KR" altLang="en-US" dirty="0">
                <a:latin typeface="+mn-ea"/>
                <a:ea typeface="+mn-ea"/>
              </a:rPr>
              <a:t>일</a:t>
            </a:r>
            <a:r>
              <a:rPr lang="en-US" altLang="ko-KR" dirty="0">
                <a:latin typeface="+mn-ea"/>
                <a:ea typeface="+mn-ea"/>
              </a:rPr>
              <a:t>) vs SMA2(258</a:t>
            </a:r>
            <a:r>
              <a:rPr lang="ko-KR" altLang="en-US" dirty="0">
                <a:latin typeface="+mn-ea"/>
                <a:ea typeface="+mn-ea"/>
              </a:rPr>
              <a:t>일</a:t>
            </a:r>
            <a:r>
              <a:rPr lang="en-US" altLang="ko-KR" dirty="0">
                <a:latin typeface="+mn-ea"/>
                <a:ea typeface="+mn-ea"/>
              </a:rPr>
              <a:t>)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  - SMA1 &gt; SMA2 → </a:t>
            </a:r>
            <a:r>
              <a:rPr lang="ko-KR" altLang="en-US" dirty="0">
                <a:latin typeface="+mn-ea"/>
                <a:ea typeface="+mn-ea"/>
              </a:rPr>
              <a:t>매수</a:t>
            </a:r>
            <a:r>
              <a:rPr lang="en-US" altLang="ko-KR" dirty="0">
                <a:latin typeface="+mn-ea"/>
                <a:ea typeface="+mn-ea"/>
              </a:rPr>
              <a:t>(+1)</a:t>
            </a:r>
            <a:endParaRPr lang="ko-KR" altLang="en-US" dirty="0">
              <a:latin typeface="+mn-ea"/>
              <a:ea typeface="+mn-ea"/>
            </a:endParaRPr>
          </a:p>
          <a:p>
            <a:pPr lvl="1"/>
            <a:r>
              <a:rPr lang="en-US" altLang="ko-KR" dirty="0">
                <a:latin typeface="+mn-ea"/>
                <a:ea typeface="+mn-ea"/>
              </a:rPr>
              <a:t>  - SMA1 &lt; SMA2 → </a:t>
            </a:r>
            <a:r>
              <a:rPr lang="ko-KR" altLang="en-US" dirty="0">
                <a:latin typeface="+mn-ea"/>
                <a:ea typeface="+mn-ea"/>
              </a:rPr>
              <a:t>매도</a:t>
            </a:r>
            <a:r>
              <a:rPr lang="en-US" altLang="ko-KR" dirty="0">
                <a:latin typeface="+mn-ea"/>
                <a:ea typeface="+mn-ea"/>
              </a:rPr>
              <a:t>(–1)</a:t>
            </a:r>
            <a:endParaRPr lang="ko-KR" altLang="en-US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미래 데이터 사용 방지 → </a:t>
            </a:r>
            <a:r>
              <a:rPr lang="en-US" altLang="ko-KR" dirty="0">
                <a:latin typeface="+mn-ea"/>
                <a:ea typeface="+mn-ea"/>
              </a:rPr>
              <a:t>shift(1)</a:t>
            </a:r>
            <a:r>
              <a:rPr lang="ko-KR" altLang="en-US" dirty="0">
                <a:latin typeface="+mn-ea"/>
                <a:ea typeface="+mn-ea"/>
              </a:rPr>
              <a:t> 로 신호를 하루 뒤에 적용</a:t>
            </a:r>
            <a:endParaRPr lang="en-US" altLang="ko-KR" dirty="0">
              <a:latin typeface="+mn-ea"/>
              <a:ea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B5DA83-0F0B-31AC-2C7E-E7B32B7541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792"/>
          <a:stretch>
            <a:fillRect/>
          </a:stretch>
        </p:blipFill>
        <p:spPr>
          <a:xfrm>
            <a:off x="4170529" y="2430910"/>
            <a:ext cx="4413251" cy="242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62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FDE1-B610-17EB-0F83-9871A8BA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B1D78AF-A569-3F96-07FC-336E1C89CBA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5758A047-4A17-9290-2EA2-535720A4967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82402065-20A6-DC48-B1C2-C91D029F3B94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B668C79C-A9B8-801E-350E-71F0BB74A67F}"/>
              </a:ext>
            </a:extLst>
          </p:cNvPr>
          <p:cNvSpPr txBox="1"/>
          <p:nvPr/>
        </p:nvSpPr>
        <p:spPr>
          <a:xfrm>
            <a:off x="1402625" y="16146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>
            <a:extLst>
              <a:ext uri="{FF2B5EF4-FFF2-40B4-BE49-F238E27FC236}">
                <a16:creationId xmlns:a16="http://schemas.microsoft.com/office/drawing/2014/main" id="{A1E8E5AD-765D-5EA5-0180-1090B9AC87CE}"/>
              </a:ext>
            </a:extLst>
          </p:cNvPr>
          <p:cNvSpPr txBox="1"/>
          <p:nvPr/>
        </p:nvSpPr>
        <p:spPr>
          <a:xfrm>
            <a:off x="1641124" y="637503"/>
            <a:ext cx="3600450" cy="335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: </a:t>
            </a:r>
            <a:r>
              <a:rPr lang="ko-KR" altLang="en-US" sz="1600" dirty="0"/>
              <a:t>단순 이동평균</a:t>
            </a:r>
            <a:r>
              <a:rPr lang="en-US" altLang="ko-KR" sz="1600" dirty="0"/>
              <a:t>(SMA) </a:t>
            </a:r>
            <a:r>
              <a:rPr lang="ko-KR" altLang="en-US" sz="1600" dirty="0"/>
              <a:t>전략 </a:t>
            </a:r>
            <a:r>
              <a:rPr lang="ko-KR" altLang="en-US" sz="1600" dirty="0" err="1"/>
              <a:t>백테스팅</a:t>
            </a:r>
            <a:endParaRPr lang="en-US" altLang="ko-KR" sz="1600" b="1" dirty="0">
              <a:latin typeface="나눔스퀘어"/>
              <a:ea typeface="나눔스퀘어"/>
            </a:endParaRPr>
          </a:p>
        </p:txBody>
      </p:sp>
      <p:sp>
        <p:nvSpPr>
          <p:cNvPr id="85" name="가로 글상자 84">
            <a:extLst>
              <a:ext uri="{FF2B5EF4-FFF2-40B4-BE49-F238E27FC236}">
                <a16:creationId xmlns:a16="http://schemas.microsoft.com/office/drawing/2014/main" id="{70F988F3-C0D5-42D5-82CA-BA9571369996}"/>
              </a:ext>
            </a:extLst>
          </p:cNvPr>
          <p:cNvSpPr txBox="1"/>
          <p:nvPr/>
        </p:nvSpPr>
        <p:spPr>
          <a:xfrm>
            <a:off x="1456974" y="2865953"/>
            <a:ext cx="72742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dirty="0">
              <a:latin typeface="+mn-ea"/>
              <a:ea typeface="+mn-ea"/>
            </a:endParaRPr>
          </a:p>
          <a:p>
            <a:r>
              <a:rPr lang="ko-KR" altLang="en-US" b="1" dirty="0">
                <a:latin typeface="+mn-ea"/>
                <a:ea typeface="+mn-ea"/>
              </a:rPr>
              <a:t>② 수익 계산</a:t>
            </a: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로그수익률 사용 → 누적 합산이 간단</a:t>
            </a: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전략 수익 </a:t>
            </a:r>
            <a:r>
              <a:rPr lang="en-US" altLang="ko-KR" dirty="0">
                <a:latin typeface="+mn-ea"/>
                <a:ea typeface="+mn-ea"/>
              </a:rPr>
              <a:t>= </a:t>
            </a:r>
            <a:r>
              <a:rPr lang="ko-KR" altLang="en-US" dirty="0">
                <a:latin typeface="+mn-ea"/>
                <a:ea typeface="+mn-ea"/>
              </a:rPr>
              <a:t>포지션 </a:t>
            </a:r>
            <a:r>
              <a:rPr lang="en-US" altLang="ko-KR" dirty="0">
                <a:latin typeface="+mn-ea"/>
                <a:ea typeface="+mn-ea"/>
              </a:rPr>
              <a:t>p × </a:t>
            </a:r>
            <a:r>
              <a:rPr lang="ko-KR" altLang="en-US" dirty="0">
                <a:latin typeface="+mn-ea"/>
                <a:ea typeface="+mn-ea"/>
              </a:rPr>
              <a:t>로그수익률 </a:t>
            </a:r>
            <a:r>
              <a:rPr lang="en-US" altLang="ko-KR" dirty="0">
                <a:latin typeface="+mn-ea"/>
                <a:ea typeface="+mn-ea"/>
              </a:rPr>
              <a:t>r</a:t>
            </a:r>
          </a:p>
          <a:p>
            <a:endParaRPr lang="ko-KR" altLang="en-US" dirty="0">
              <a:latin typeface="+mn-ea"/>
              <a:ea typeface="+mn-ea"/>
            </a:endParaRPr>
          </a:p>
          <a:p>
            <a:r>
              <a:rPr lang="ko-KR" altLang="en-US" b="1" dirty="0">
                <a:latin typeface="+mn-ea"/>
                <a:ea typeface="+mn-ea"/>
              </a:rPr>
              <a:t>③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ko-KR" altLang="en-US" b="1" dirty="0">
                <a:solidFill>
                  <a:srgbClr val="C00000"/>
                </a:solidFill>
                <a:latin typeface="+mn-ea"/>
                <a:ea typeface="+mn-ea"/>
              </a:rPr>
              <a:t>거래 비용 반영</a:t>
            </a:r>
            <a:r>
              <a:rPr lang="en-US" altLang="ko-KR" b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b="1" dirty="0">
                <a:solidFill>
                  <a:srgbClr val="C00000"/>
                </a:solidFill>
                <a:latin typeface="+mn-ea"/>
                <a:ea typeface="+mn-ea"/>
              </a:rPr>
              <a:t>핵심</a:t>
            </a:r>
            <a:r>
              <a:rPr lang="en-US" altLang="ko-KR" b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  <a:p>
            <a:r>
              <a:rPr lang="en-US" altLang="ko-KR" dirty="0">
                <a:latin typeface="+mn-ea"/>
                <a:ea typeface="+mn-ea"/>
              </a:rPr>
              <a:t>  - </a:t>
            </a:r>
            <a:r>
              <a:rPr lang="en-US" altLang="ko-KR" dirty="0" err="1">
                <a:latin typeface="+mn-ea"/>
                <a:ea typeface="+mn-ea"/>
              </a:rPr>
              <a:t>p.diff</a:t>
            </a:r>
            <a:r>
              <a:rPr lang="en-US" altLang="ko-KR" dirty="0">
                <a:latin typeface="+mn-ea"/>
                <a:ea typeface="+mn-ea"/>
              </a:rPr>
              <a:t>()!=0</a:t>
            </a:r>
            <a:r>
              <a:rPr lang="ko-KR" altLang="en-US" dirty="0">
                <a:latin typeface="+mn-ea"/>
                <a:ea typeface="+mn-ea"/>
              </a:rPr>
              <a:t> → 포지션 바뀐 날만 비용 차감</a:t>
            </a: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비용 반영 후 곡선</a:t>
            </a:r>
            <a:r>
              <a:rPr lang="en-US" altLang="ko-KR" dirty="0">
                <a:latin typeface="+mn-ea"/>
                <a:ea typeface="+mn-ea"/>
              </a:rPr>
              <a:t>(s_)</a:t>
            </a:r>
            <a:r>
              <a:rPr lang="ko-KR" altLang="en-US" dirty="0">
                <a:latin typeface="+mn-ea"/>
                <a:ea typeface="+mn-ea"/>
              </a:rPr>
              <a:t>은 항상 비용 전</a:t>
            </a:r>
            <a:r>
              <a:rPr lang="en-US" altLang="ko-KR" dirty="0">
                <a:latin typeface="+mn-ea"/>
                <a:ea typeface="+mn-ea"/>
              </a:rPr>
              <a:t>(s)</a:t>
            </a:r>
            <a:r>
              <a:rPr lang="ko-KR" altLang="en-US" dirty="0">
                <a:latin typeface="+mn-ea"/>
                <a:ea typeface="+mn-ea"/>
              </a:rPr>
              <a:t>보다 아래</a:t>
            </a:r>
          </a:p>
          <a:p>
            <a:pPr lvl="1"/>
            <a:r>
              <a:rPr lang="en-US" altLang="ko-KR" dirty="0">
                <a:latin typeface="+mn-ea"/>
                <a:ea typeface="+mn-ea"/>
              </a:rPr>
              <a:t>  - SMA </a:t>
            </a:r>
            <a:r>
              <a:rPr lang="ko-KR" altLang="en-US" dirty="0">
                <a:latin typeface="+mn-ea"/>
                <a:ea typeface="+mn-ea"/>
              </a:rPr>
              <a:t>전략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수익 증가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리스크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변동성</a:t>
            </a:r>
            <a:r>
              <a:rPr lang="en-US" altLang="ko-KR" dirty="0">
                <a:latin typeface="+mn-ea"/>
                <a:ea typeface="+mn-ea"/>
              </a:rPr>
              <a:t>)</a:t>
            </a:r>
            <a:r>
              <a:rPr lang="ko-KR" altLang="en-US" dirty="0">
                <a:latin typeface="+mn-ea"/>
                <a:ea typeface="+mn-ea"/>
              </a:rPr>
              <a:t>는 동일 → 효율성 개선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E0DBC4-0BAF-D6A4-BB68-5DA9ED2286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252" y="986598"/>
            <a:ext cx="4447873" cy="231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79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6FAB-4910-C659-945D-FE1A6414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E1863D4-3835-B4C0-20DD-12F87AE3B9A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D81FECC-93AD-6E23-294A-AE5A2369B72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97C88C5-7C4C-6388-88F8-3751FF06B629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4B192C4C-AB35-9CC3-5C62-782C101D80ED}"/>
              </a:ext>
            </a:extLst>
          </p:cNvPr>
          <p:cNvSpPr txBox="1"/>
          <p:nvPr/>
        </p:nvSpPr>
        <p:spPr>
          <a:xfrm>
            <a:off x="1408975" y="323204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>
            <a:extLst>
              <a:ext uri="{FF2B5EF4-FFF2-40B4-BE49-F238E27FC236}">
                <a16:creationId xmlns:a16="http://schemas.microsoft.com/office/drawing/2014/main" id="{56F26DA3-CF73-B672-4FE1-DB33442E153E}"/>
              </a:ext>
            </a:extLst>
          </p:cNvPr>
          <p:cNvSpPr txBox="1"/>
          <p:nvPr/>
        </p:nvSpPr>
        <p:spPr>
          <a:xfrm>
            <a:off x="1723453" y="802603"/>
            <a:ext cx="3600450" cy="335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: </a:t>
            </a:r>
            <a:r>
              <a:rPr lang="ko-KR" altLang="en-US" sz="1600" dirty="0"/>
              <a:t>신경망</a:t>
            </a:r>
            <a:r>
              <a:rPr lang="en-US" altLang="ko-KR" sz="1600" dirty="0"/>
              <a:t>(NN) </a:t>
            </a:r>
            <a:r>
              <a:rPr lang="ko-KR" altLang="en-US" sz="1600" dirty="0"/>
              <a:t>기반 전략 </a:t>
            </a:r>
            <a:r>
              <a:rPr lang="ko-KR" altLang="en-US" sz="1600" dirty="0" err="1"/>
              <a:t>백테스팅</a:t>
            </a:r>
            <a:endParaRPr lang="en-US" altLang="ko-KR" sz="1600" b="1" dirty="0">
              <a:latin typeface="나눔스퀘어"/>
              <a:ea typeface="나눔스퀘어"/>
            </a:endParaRPr>
          </a:p>
        </p:txBody>
      </p:sp>
      <p:sp>
        <p:nvSpPr>
          <p:cNvPr id="85" name="가로 글상자 84">
            <a:extLst>
              <a:ext uri="{FF2B5EF4-FFF2-40B4-BE49-F238E27FC236}">
                <a16:creationId xmlns:a16="http://schemas.microsoft.com/office/drawing/2014/main" id="{2B519F96-CD23-6D48-5146-ABF5E8D5B0B2}"/>
              </a:ext>
            </a:extLst>
          </p:cNvPr>
          <p:cNvSpPr txBox="1"/>
          <p:nvPr/>
        </p:nvSpPr>
        <p:spPr>
          <a:xfrm>
            <a:off x="1542563" y="1341182"/>
            <a:ext cx="727427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n-ea"/>
                <a:ea typeface="+mn-ea"/>
              </a:rPr>
              <a:t>① 지연</a:t>
            </a:r>
            <a:r>
              <a:rPr lang="en-US" altLang="ko-KR" b="1" dirty="0">
                <a:latin typeface="+mn-ea"/>
                <a:ea typeface="+mn-ea"/>
              </a:rPr>
              <a:t>(Lag) </a:t>
            </a:r>
            <a:r>
              <a:rPr lang="ko-KR" altLang="en-US" b="1" dirty="0">
                <a:latin typeface="+mn-ea"/>
                <a:ea typeface="+mn-ea"/>
              </a:rPr>
              <a:t>데이터 생성</a:t>
            </a: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과거 </a:t>
            </a:r>
            <a:r>
              <a:rPr lang="en-US" altLang="ko-KR" dirty="0">
                <a:latin typeface="+mn-ea"/>
                <a:ea typeface="+mn-ea"/>
              </a:rPr>
              <a:t>n</a:t>
            </a:r>
            <a:r>
              <a:rPr lang="ko-KR" altLang="en-US" dirty="0">
                <a:latin typeface="+mn-ea"/>
                <a:ea typeface="+mn-ea"/>
              </a:rPr>
              <a:t>일간의 가격</a:t>
            </a:r>
            <a:r>
              <a:rPr lang="en-US" altLang="ko-KR" dirty="0">
                <a:latin typeface="+mn-ea"/>
                <a:ea typeface="+mn-ea"/>
              </a:rPr>
              <a:t>·</a:t>
            </a:r>
            <a:r>
              <a:rPr lang="ko-KR" altLang="en-US" dirty="0">
                <a:latin typeface="+mn-ea"/>
                <a:ea typeface="+mn-ea"/>
              </a:rPr>
              <a:t>지표 정보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sma</a:t>
            </a:r>
            <a:r>
              <a:rPr lang="en-US" altLang="ko-KR" dirty="0">
                <a:latin typeface="+mn-ea"/>
                <a:ea typeface="+mn-ea"/>
              </a:rPr>
              <a:t>, mom, vol </a:t>
            </a:r>
            <a:r>
              <a:rPr lang="ko-KR" altLang="en-US" dirty="0">
                <a:latin typeface="+mn-ea"/>
                <a:ea typeface="+mn-ea"/>
              </a:rPr>
              <a:t>등</a:t>
            </a:r>
            <a:r>
              <a:rPr lang="en-US" altLang="ko-KR" dirty="0">
                <a:latin typeface="+mn-ea"/>
                <a:ea typeface="+mn-ea"/>
              </a:rPr>
              <a:t>)</a:t>
            </a:r>
            <a:r>
              <a:rPr lang="ko-KR" altLang="en-US" dirty="0">
                <a:latin typeface="+mn-ea"/>
                <a:ea typeface="+mn-ea"/>
              </a:rPr>
              <a:t>를 입력 피처로 구성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endParaRPr lang="ko-KR" altLang="en-US" dirty="0">
              <a:latin typeface="+mn-ea"/>
              <a:ea typeface="+mn-ea"/>
            </a:endParaRPr>
          </a:p>
          <a:p>
            <a:r>
              <a:rPr lang="ko-KR" altLang="en-US" b="1" dirty="0">
                <a:latin typeface="+mn-ea"/>
                <a:ea typeface="+mn-ea"/>
              </a:rPr>
              <a:t>② 신경망 모델 구조</a:t>
            </a: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 err="1">
                <a:latin typeface="+mn-ea"/>
                <a:ea typeface="+mn-ea"/>
              </a:rPr>
              <a:t>입력층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다양한 기술지표</a:t>
            </a: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 err="1">
                <a:latin typeface="+mn-ea"/>
                <a:ea typeface="+mn-ea"/>
              </a:rPr>
              <a:t>은닉층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dirty="0" err="1">
                <a:latin typeface="+mn-ea"/>
                <a:ea typeface="+mn-ea"/>
              </a:rPr>
              <a:t>ReLU</a:t>
            </a:r>
            <a:endParaRPr lang="ko-KR" altLang="en-US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 err="1">
                <a:latin typeface="+mn-ea"/>
                <a:ea typeface="+mn-ea"/>
              </a:rPr>
              <a:t>출력층</a:t>
            </a:r>
            <a:r>
              <a:rPr lang="en-US" altLang="ko-KR" dirty="0">
                <a:latin typeface="+mn-ea"/>
                <a:ea typeface="+mn-ea"/>
              </a:rPr>
              <a:t>: Sigmoid (</a:t>
            </a:r>
            <a:r>
              <a:rPr lang="ko-KR" altLang="en-US" dirty="0">
                <a:latin typeface="+mn-ea"/>
                <a:ea typeface="+mn-ea"/>
              </a:rPr>
              <a:t>상승 확률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  <a:p>
            <a:r>
              <a:rPr lang="en-US" altLang="ko-KR" dirty="0">
                <a:latin typeface="+mn-ea"/>
                <a:ea typeface="+mn-ea"/>
              </a:rPr>
              <a:t>  - Adam / Binary </a:t>
            </a:r>
            <a:r>
              <a:rPr lang="en-US" altLang="ko-KR" dirty="0" err="1">
                <a:latin typeface="+mn-ea"/>
                <a:ea typeface="+mn-ea"/>
              </a:rPr>
              <a:t>Crossentropy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사용</a:t>
            </a:r>
            <a:br>
              <a:rPr lang="ko-KR" altLang="en-US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       → 내일 오를 확률을 예측하는 분류 모델</a:t>
            </a:r>
            <a:endParaRPr lang="en-US" altLang="ko-KR" dirty="0">
              <a:latin typeface="+mn-ea"/>
              <a:ea typeface="+mn-ea"/>
            </a:endParaRPr>
          </a:p>
          <a:p>
            <a:endParaRPr lang="ko-KR" altLang="en-US" dirty="0">
              <a:latin typeface="+mn-ea"/>
              <a:ea typeface="+mn-ea"/>
            </a:endParaRPr>
          </a:p>
          <a:p>
            <a:r>
              <a:rPr lang="ko-KR" altLang="en-US" b="1" dirty="0">
                <a:latin typeface="+mn-ea"/>
                <a:ea typeface="+mn-ea"/>
              </a:rPr>
              <a:t>③ 성과</a:t>
            </a:r>
          </a:p>
          <a:p>
            <a:r>
              <a:rPr lang="en-US" altLang="ko-KR" dirty="0">
                <a:latin typeface="+mn-ea"/>
                <a:ea typeface="+mn-ea"/>
              </a:rPr>
              <a:t>  - SMA</a:t>
            </a:r>
            <a:r>
              <a:rPr lang="ko-KR" altLang="en-US" dirty="0">
                <a:latin typeface="+mn-ea"/>
                <a:ea typeface="+mn-ea"/>
              </a:rPr>
              <a:t>처럼 단순 규칙이 아닌 데이터 패턴을 학습해 유연한 매매 신호 생성</a:t>
            </a: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거래비용 제외 시 상당히 높은 성과</a:t>
            </a:r>
          </a:p>
          <a:p>
            <a:r>
              <a:rPr lang="ko-KR" altLang="en-US" dirty="0">
                <a:latin typeface="+mn-ea"/>
                <a:ea typeface="+mn-ea"/>
              </a:rPr>
              <a:t>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거래비용 포함 시 성과 감소 → 실전성과 따로 검증 필요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09852A-9F93-0FA0-6895-E4A0BDB42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925" y="1974849"/>
            <a:ext cx="1598893" cy="192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61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C1D7D-EBEA-8FB3-30FC-0B015B0D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227C0E6-B916-9DCC-F60D-B89D8D30664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맑은 고딕"/>
              <a:ea typeface="맑은 고딕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AD6EB81E-CD54-1D27-1237-43941494C45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1CEE123-0B1B-F86D-30A4-724991E85810}"/>
              </a:ext>
            </a:extLst>
          </p:cNvPr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697EA747-8190-6089-6881-8BCB91DE4EE2}"/>
              </a:ext>
            </a:extLst>
          </p:cNvPr>
          <p:cNvSpPr txBox="1"/>
          <p:nvPr/>
        </p:nvSpPr>
        <p:spPr>
          <a:xfrm>
            <a:off x="1353975" y="194759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/>
                <a:ea typeface="나눔스퀘어 ExtraBold"/>
                <a:cs typeface="NanumGothic ExtraBold"/>
                <a:sym typeface="NanumGothic ExtraBold"/>
              </a:rPr>
              <a:t>스터디 내용</a:t>
            </a:r>
          </a:p>
        </p:txBody>
      </p:sp>
      <p:sp>
        <p:nvSpPr>
          <p:cNvPr id="84" name="가로 글상자 83">
            <a:extLst>
              <a:ext uri="{FF2B5EF4-FFF2-40B4-BE49-F238E27FC236}">
                <a16:creationId xmlns:a16="http://schemas.microsoft.com/office/drawing/2014/main" id="{2D30630A-07C4-BCD4-24C7-9EB550C320FC}"/>
              </a:ext>
            </a:extLst>
          </p:cNvPr>
          <p:cNvSpPr txBox="1"/>
          <p:nvPr/>
        </p:nvSpPr>
        <p:spPr>
          <a:xfrm>
            <a:off x="1723453" y="717550"/>
            <a:ext cx="35279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:</a:t>
            </a:r>
            <a:r>
              <a:rPr lang="ko-KR" altLang="en-US" sz="1600" dirty="0"/>
              <a:t> 일중</a:t>
            </a:r>
            <a:r>
              <a:rPr lang="en-US" altLang="ko-KR" sz="1600" dirty="0"/>
              <a:t>(5</a:t>
            </a:r>
            <a:r>
              <a:rPr lang="ko-KR" altLang="en-US" sz="1600" dirty="0"/>
              <a:t>분봉</a:t>
            </a:r>
            <a:r>
              <a:rPr lang="en-US" altLang="ko-KR" sz="1600" dirty="0"/>
              <a:t>) </a:t>
            </a:r>
            <a:r>
              <a:rPr lang="ko-KR" altLang="en-US" sz="1600" dirty="0"/>
              <a:t>신경망 전략</a:t>
            </a:r>
            <a:endParaRPr lang="en-US" altLang="ko-KR" sz="1600" b="1" dirty="0">
              <a:latin typeface="나눔스퀘어"/>
              <a:ea typeface="나눔스퀘어"/>
            </a:endParaRPr>
          </a:p>
        </p:txBody>
      </p:sp>
      <p:sp>
        <p:nvSpPr>
          <p:cNvPr id="85" name="가로 글상자 84">
            <a:extLst>
              <a:ext uri="{FF2B5EF4-FFF2-40B4-BE49-F238E27FC236}">
                <a16:creationId xmlns:a16="http://schemas.microsoft.com/office/drawing/2014/main" id="{FC0807AB-1F09-4D56-B83E-E132D7669A0A}"/>
              </a:ext>
            </a:extLst>
          </p:cNvPr>
          <p:cNvSpPr txBox="1"/>
          <p:nvPr/>
        </p:nvSpPr>
        <p:spPr>
          <a:xfrm>
            <a:off x="1307086" y="1239582"/>
            <a:ext cx="7713497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b="1" dirty="0">
                <a:latin typeface="+mn-ea"/>
                <a:ea typeface="+mn-ea"/>
              </a:rPr>
              <a:t>일중</a:t>
            </a:r>
            <a:r>
              <a:rPr lang="en-US" altLang="ko-KR" b="1" dirty="0">
                <a:latin typeface="+mn-ea"/>
                <a:ea typeface="+mn-ea"/>
              </a:rPr>
              <a:t>(5</a:t>
            </a:r>
            <a:r>
              <a:rPr lang="ko-KR" altLang="en-US" b="1" dirty="0">
                <a:latin typeface="+mn-ea"/>
                <a:ea typeface="+mn-ea"/>
              </a:rPr>
              <a:t>분</a:t>
            </a:r>
            <a:r>
              <a:rPr lang="en-US" altLang="ko-KR" b="1" dirty="0">
                <a:latin typeface="+mn-ea"/>
                <a:ea typeface="+mn-ea"/>
              </a:rPr>
              <a:t>) </a:t>
            </a:r>
            <a:r>
              <a:rPr lang="ko-KR" altLang="en-US" b="1" dirty="0">
                <a:latin typeface="+mn-ea"/>
                <a:ea typeface="+mn-ea"/>
              </a:rPr>
              <a:t>전략의 문제점</a:t>
            </a:r>
          </a:p>
          <a:p>
            <a:r>
              <a:rPr lang="ko-KR" altLang="en-US" dirty="0">
                <a:latin typeface="+mn-ea"/>
                <a:ea typeface="+mn-ea"/>
              </a:rPr>
              <a:t>   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포지션 변경 횟수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ko-KR" altLang="en-US" dirty="0">
                <a:latin typeface="+mn-ea"/>
                <a:ea typeface="+mn-ea"/>
              </a:rPr>
              <a:t>약 </a:t>
            </a:r>
            <a:r>
              <a:rPr lang="en-US" altLang="ko-KR" dirty="0">
                <a:latin typeface="+mn-ea"/>
                <a:ea typeface="+mn-ea"/>
              </a:rPr>
              <a:t>1300</a:t>
            </a:r>
            <a:r>
              <a:rPr lang="ko-KR" altLang="en-US" dirty="0">
                <a:latin typeface="+mn-ea"/>
                <a:ea typeface="+mn-ea"/>
              </a:rPr>
              <a:t>회</a:t>
            </a:r>
            <a:r>
              <a:rPr lang="en-US" altLang="ko-KR" dirty="0">
                <a:latin typeface="+mn-ea"/>
                <a:ea typeface="+mn-ea"/>
              </a:rPr>
              <a:t>(2~3</a:t>
            </a:r>
            <a:r>
              <a:rPr lang="ko-KR" altLang="en-US" dirty="0">
                <a:latin typeface="+mn-ea"/>
                <a:ea typeface="+mn-ea"/>
              </a:rPr>
              <a:t>개월 데이터</a:t>
            </a:r>
            <a:r>
              <a:rPr lang="en-US" altLang="ko-KR" dirty="0">
                <a:latin typeface="+mn-ea"/>
                <a:ea typeface="+mn-ea"/>
              </a:rPr>
              <a:t>)</a:t>
            </a:r>
          </a:p>
          <a:p>
            <a:endParaRPr lang="ko-KR" altLang="en-US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   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비용 모델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       </a:t>
            </a:r>
            <a:r>
              <a:rPr lang="en-US" altLang="ko-KR" dirty="0">
                <a:latin typeface="+mn-ea"/>
                <a:ea typeface="+mn-ea"/>
              </a:rPr>
              <a:t>-&gt; </a:t>
            </a:r>
            <a:r>
              <a:rPr lang="ko-KR" altLang="en-US" dirty="0">
                <a:latin typeface="+mn-ea"/>
                <a:ea typeface="+mn-ea"/>
              </a:rPr>
              <a:t>개인 수준 스프레드</a:t>
            </a:r>
            <a:r>
              <a:rPr lang="en-US" altLang="ko-KR" dirty="0">
                <a:latin typeface="+mn-ea"/>
                <a:ea typeface="+mn-ea"/>
              </a:rPr>
              <a:t>: 0.00012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       </a:t>
            </a:r>
            <a:r>
              <a:rPr lang="en-US" altLang="ko-KR" dirty="0">
                <a:latin typeface="+mn-ea"/>
                <a:ea typeface="+mn-ea"/>
              </a:rPr>
              <a:t>-&gt; </a:t>
            </a:r>
            <a:r>
              <a:rPr lang="ko-KR" altLang="en-US" dirty="0">
                <a:latin typeface="+mn-ea"/>
                <a:ea typeface="+mn-ea"/>
              </a:rPr>
              <a:t>기관 수준 스프레드</a:t>
            </a:r>
            <a:r>
              <a:rPr lang="en-US" altLang="ko-KR" dirty="0">
                <a:latin typeface="+mn-ea"/>
                <a:ea typeface="+mn-ea"/>
              </a:rPr>
              <a:t>: 0.00006</a:t>
            </a: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pPr lvl="1"/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>
                <a:latin typeface="+mn-ea"/>
                <a:ea typeface="+mn-ea"/>
              </a:rPr>
              <a:t>     </a:t>
            </a:r>
            <a:r>
              <a:rPr lang="en-US" altLang="ko-KR" dirty="0">
                <a:latin typeface="+mn-ea"/>
                <a:ea typeface="+mn-ea"/>
              </a:rPr>
              <a:t>- </a:t>
            </a:r>
            <a:r>
              <a:rPr lang="ko-KR" altLang="en-US" dirty="0">
                <a:latin typeface="+mn-ea"/>
                <a:ea typeface="+mn-ea"/>
              </a:rPr>
              <a:t>스프레드 비용 누적 →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       </a:t>
            </a:r>
            <a:r>
              <a:rPr lang="en-US" altLang="ko-KR" dirty="0">
                <a:latin typeface="+mn-ea"/>
                <a:ea typeface="+mn-ea"/>
              </a:rPr>
              <a:t>-&gt; </a:t>
            </a:r>
            <a:r>
              <a:rPr lang="ko-KR" altLang="en-US" dirty="0">
                <a:latin typeface="+mn-ea"/>
                <a:ea typeface="+mn-ea"/>
              </a:rPr>
              <a:t>개인 비용</a:t>
            </a:r>
            <a:r>
              <a:rPr lang="en-US" altLang="ko-KR" dirty="0">
                <a:latin typeface="+mn-ea"/>
                <a:ea typeface="+mn-ea"/>
              </a:rPr>
              <a:t>(s1): </a:t>
            </a:r>
            <a:r>
              <a:rPr lang="ko-KR" altLang="en-US" dirty="0">
                <a:latin typeface="+mn-ea"/>
                <a:ea typeface="+mn-ea"/>
              </a:rPr>
              <a:t>수익 전부 소거 → 음수 전환</a:t>
            </a:r>
          </a:p>
          <a:p>
            <a:pPr lvl="1"/>
            <a:r>
              <a:rPr lang="ko-KR" altLang="en-US" dirty="0">
                <a:latin typeface="+mn-ea"/>
                <a:ea typeface="+mn-ea"/>
              </a:rPr>
              <a:t>       </a:t>
            </a:r>
            <a:r>
              <a:rPr lang="en-US" altLang="ko-KR" dirty="0">
                <a:latin typeface="+mn-ea"/>
                <a:ea typeface="+mn-ea"/>
              </a:rPr>
              <a:t>-&gt; </a:t>
            </a:r>
            <a:r>
              <a:rPr lang="ko-KR" altLang="en-US" dirty="0">
                <a:latin typeface="+mn-ea"/>
                <a:ea typeface="+mn-ea"/>
              </a:rPr>
              <a:t>기관 비용</a:t>
            </a:r>
            <a:r>
              <a:rPr lang="en-US" altLang="ko-KR" dirty="0">
                <a:latin typeface="+mn-ea"/>
                <a:ea typeface="+mn-ea"/>
              </a:rPr>
              <a:t>(s2): </a:t>
            </a:r>
            <a:r>
              <a:rPr lang="ko-KR" altLang="en-US" dirty="0">
                <a:latin typeface="+mn-ea"/>
                <a:ea typeface="+mn-ea"/>
              </a:rPr>
              <a:t>그나마 유지하지만 매력 크게 감소</a:t>
            </a:r>
            <a:endParaRPr lang="en-US" altLang="ko-KR" dirty="0">
              <a:latin typeface="+mn-ea"/>
              <a:ea typeface="+mn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F411AD-5BA0-F8B9-520C-00DB99946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980" y="1885951"/>
            <a:ext cx="4139145" cy="227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96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감사합니다</a:t>
            </a:r>
            <a:endParaRPr sz="4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168936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591</Words>
  <Application>Microsoft Office PowerPoint</Application>
  <PresentationFormat>화면 슬라이드 쇼(16:9)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나눔고딕</vt:lpstr>
      <vt:lpstr>나눔스퀘어</vt:lpstr>
      <vt:lpstr>나눔스퀘어 ExtraBold</vt:lpstr>
      <vt:lpstr>맑은 고딕</vt:lpstr>
      <vt:lpstr>Arial</vt:lpstr>
      <vt:lpstr>Wingdings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혜린 윤</cp:lastModifiedBy>
  <cp:revision>93</cp:revision>
  <dcterms:modified xsi:type="dcterms:W3CDTF">2025-11-18T01:24:14Z</dcterms:modified>
  <cp:version>1000.0000.01</cp:version>
</cp:coreProperties>
</file>