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8" r:id="rId6"/>
    <p:sldId id="267" r:id="rId7"/>
    <p:sldId id="269" r:id="rId8"/>
    <p:sldId id="270" r:id="rId9"/>
    <p:sldId id="271" r:id="rId10"/>
    <p:sldId id="26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86424" autoAdjust="0"/>
  </p:normalViewPr>
  <p:slideViewPr>
    <p:cSldViewPr snapToGrid="0">
      <p:cViewPr varScale="1">
        <p:scale>
          <a:sx n="85" d="100"/>
          <a:sy n="85" d="100"/>
        </p:scale>
        <p:origin x="594" y="48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9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012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18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119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CUAI </a:t>
            </a:r>
            <a:r>
              <a:rPr lang="ko-KR" altLang="en-US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금융</a:t>
            </a:r>
            <a:r>
              <a:rPr lang="en-US" altLang="ko-KR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AI</a:t>
            </a:r>
            <a:r>
              <a:rPr lang="ko-KR" altLang="en-US" sz="2500" b="1">
                <a:solidFill>
                  <a:srgbClr val="19264B"/>
                </a:solidFill>
                <a:latin typeface="나눔스퀘어 ExtraBold"/>
                <a:ea typeface="나눔스퀘어 ExtraBold"/>
              </a:rPr>
              <a:t> 스터디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202</a:t>
            </a:r>
            <a:r>
              <a:rPr lang="en-US" alt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5</a:t>
            </a: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>
                <a:solidFill>
                  <a:srgbClr val="19264B"/>
                </a:solidFill>
                <a:latin typeface="나눔스퀘어 ExtraBold"/>
                <a:ea typeface="나눔스퀘어 ExtraBold"/>
              </a:rPr>
              <a:t>11</a:t>
            </a:r>
            <a:r>
              <a:rPr lang="ko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>
                <a:solidFill>
                  <a:srgbClr val="19264B"/>
                </a:solidFill>
                <a:latin typeface="나눔스퀘어 ExtraBold"/>
                <a:ea typeface="나눔스퀘어 ExtraBold"/>
              </a:rPr>
              <a:t>04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발표자</a:t>
            </a:r>
            <a:r>
              <a:rPr lang="en-US" altLang="ko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 : </a:t>
            </a:r>
            <a:r>
              <a:rPr lang="ko-KR" altLang="en-US" sz="1100">
                <a:solidFill>
                  <a:srgbClr val="19264B"/>
                </a:solidFill>
                <a:latin typeface="나눔스퀘어 ExtraBold"/>
                <a:ea typeface="나눔스퀘어 ExtraBold"/>
              </a:rPr>
              <a:t>윤혜린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995164" y="1350452"/>
            <a:ext cx="2886200" cy="156989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</a:t>
            </a:r>
            <a:r>
              <a:rPr lang="ko" sz="1300">
                <a:latin typeface="나눔스퀘어"/>
                <a:ea typeface="나눔스퀘어"/>
              </a:rPr>
              <a:t>원 1:</a:t>
            </a:r>
            <a:r>
              <a:rPr lang="en-US" altLang="ko" sz="1300">
                <a:latin typeface="나눔스퀘어"/>
                <a:ea typeface="나눔스퀘어"/>
              </a:rPr>
              <a:t> </a:t>
            </a:r>
            <a:r>
              <a:rPr lang="ko-KR" altLang="en-US" sz="1300">
                <a:latin typeface="나눔스퀘어"/>
                <a:ea typeface="나눔스퀘어"/>
              </a:rPr>
              <a:t>윤혜린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</a:t>
            </a:r>
            <a:r>
              <a:rPr lang="ko" sz="1300">
                <a:latin typeface="나눔스퀘어"/>
                <a:ea typeface="나눔스퀘어"/>
              </a:rPr>
              <a:t>원 2:</a:t>
            </a:r>
            <a:r>
              <a:rPr lang="en-US" altLang="ko" sz="1300">
                <a:latin typeface="나눔스퀘어"/>
                <a:ea typeface="나눔스퀘어"/>
              </a:rPr>
              <a:t> </a:t>
            </a:r>
            <a:r>
              <a:rPr lang="ko-KR" altLang="en-US" sz="1300">
                <a:latin typeface="나눔스퀘어"/>
                <a:ea typeface="나눔스퀘어"/>
              </a:rPr>
              <a:t>김태영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팀원 </a:t>
            </a:r>
            <a:r>
              <a:rPr lang="en-US" altLang="ko-KR" sz="1300">
                <a:latin typeface="나눔스퀘어"/>
                <a:ea typeface="나눔스퀘어"/>
              </a:rPr>
              <a:t>3: </a:t>
            </a:r>
            <a:r>
              <a:rPr lang="ko-KR" altLang="en-US" sz="1300">
                <a:latin typeface="나눔스퀘어"/>
                <a:ea typeface="나눔스퀘어"/>
              </a:rPr>
              <a:t>나준원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팀원 </a:t>
            </a:r>
            <a:r>
              <a:rPr lang="en-US" altLang="ko-KR" sz="1300">
                <a:latin typeface="나눔스퀘어"/>
                <a:ea typeface="나눔스퀘어"/>
              </a:rPr>
              <a:t>4: </a:t>
            </a:r>
            <a:r>
              <a:rPr lang="ko-KR" altLang="en-US" sz="1300">
                <a:latin typeface="나눔스퀘어"/>
                <a:ea typeface="나눔스퀘어"/>
              </a:rPr>
              <a:t>안솔</a:t>
            </a: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10658" y="1553433"/>
            <a:ext cx="4258708" cy="2259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주제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4864605" y="1985354"/>
            <a:ext cx="3256137" cy="115407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>
                <a:latin typeface="나눔스퀘어"/>
                <a:ea typeface="나눔스퀘어"/>
              </a:rPr>
              <a:t>사용한 교재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>
                <a:latin typeface="나눔스퀘어"/>
                <a:ea typeface="나눔스퀘어"/>
              </a:rPr>
              <a:t>&lt;</a:t>
            </a:r>
            <a:r>
              <a:rPr lang="ko-KR" altLang="en-US" sz="1600">
                <a:latin typeface="나눔스퀘어"/>
                <a:ea typeface="나눔스퀘어"/>
              </a:rPr>
              <a:t>파이썬 기반 금융 인공지능</a:t>
            </a:r>
            <a:r>
              <a:rPr lang="en-US" altLang="ko-KR" sz="1600">
                <a:latin typeface="나눔스퀘어"/>
                <a:ea typeface="나눔스퀘어"/>
              </a:rPr>
              <a:t>&gt;,</a:t>
            </a:r>
            <a:r>
              <a:rPr lang="ko-KR" altLang="en-US" sz="1600">
                <a:latin typeface="나눔스퀘어"/>
                <a:ea typeface="나눔스퀘어"/>
              </a:rPr>
              <a:t> 이브 힐핏</a:t>
            </a:r>
          </a:p>
        </p:txBody>
      </p:sp>
      <p:sp>
        <p:nvSpPr>
          <p:cNvPr id="15" name="Google Shape;67;p14"/>
          <p:cNvSpPr txBox="1"/>
          <p:nvPr/>
        </p:nvSpPr>
        <p:spPr>
          <a:xfrm>
            <a:off x="1956047" y="3114453"/>
            <a:ext cx="5923138" cy="4821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86325" y="1291317"/>
            <a:ext cx="2381602" cy="30643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87203" y="328647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방식</a:t>
            </a:r>
          </a:p>
        </p:txBody>
      </p:sp>
      <p:sp>
        <p:nvSpPr>
          <p:cNvPr id="79" name="Google Shape;67;p14"/>
          <p:cNvSpPr txBox="1"/>
          <p:nvPr/>
        </p:nvSpPr>
        <p:spPr>
          <a:xfrm>
            <a:off x="1572842" y="1404880"/>
            <a:ext cx="5430737" cy="164881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>
                <a:latin typeface="나눔스퀘어"/>
                <a:ea typeface="나눔스퀘어"/>
              </a:rPr>
              <a:t>월요일 </a:t>
            </a:r>
            <a:r>
              <a:rPr lang="en-US" altLang="ko-KR" sz="1600">
                <a:latin typeface="나눔스퀘어"/>
                <a:ea typeface="나눔스퀘어"/>
              </a:rPr>
              <a:t>20:30</a:t>
            </a:r>
            <a:r>
              <a:rPr lang="ko-KR" altLang="en-US" sz="1600">
                <a:latin typeface="나눔스퀘어"/>
                <a:ea typeface="나눔스퀘어"/>
              </a:rPr>
              <a:t> </a:t>
            </a:r>
            <a:r>
              <a:rPr lang="en-US" altLang="ko-KR" sz="1600">
                <a:latin typeface="나눔스퀘어"/>
                <a:ea typeface="나눔스퀘어"/>
              </a:rPr>
              <a:t>-</a:t>
            </a:r>
            <a:r>
              <a:rPr lang="ko-KR" altLang="en-US" sz="1600">
                <a:latin typeface="나눔스퀘어"/>
                <a:ea typeface="나눔스퀘어"/>
              </a:rPr>
              <a:t> </a:t>
            </a:r>
            <a:r>
              <a:rPr lang="en-US" altLang="ko-KR" sz="1600">
                <a:latin typeface="나눔스퀘어"/>
                <a:ea typeface="나눔스퀘어"/>
              </a:rPr>
              <a:t>21:30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>
                <a:latin typeface="나눔스퀘어"/>
                <a:ea typeface="나눔스퀘어"/>
              </a:rPr>
              <a:t>비대면 스터디 진행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00">
                <a:latin typeface="나눔스퀘어"/>
                <a:ea typeface="나눔스퀘어"/>
              </a:rPr>
              <a:t>-</a:t>
            </a:r>
            <a:r>
              <a:rPr lang="ko-KR" altLang="en-US" sz="1600">
                <a:latin typeface="나눔스퀘어"/>
                <a:ea typeface="나눔스퀘어"/>
              </a:rPr>
              <a:t> 매주 정해진 학습 분량에 대해 모든 팀원이 공부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00">
                <a:latin typeface="나눔스퀘어"/>
                <a:ea typeface="나눔스퀘어"/>
              </a:rPr>
              <a:t>-</a:t>
            </a:r>
            <a:r>
              <a:rPr lang="ko-KR" altLang="en-US" sz="1600">
                <a:latin typeface="나눔스퀘어"/>
                <a:ea typeface="나눔스퀘어"/>
              </a:rPr>
              <a:t> 1~2명이 돌아가며 해당 부분 요약·발표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일정</a:t>
            </a:r>
          </a:p>
        </p:txBody>
      </p: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5143500" y="992867"/>
          <a:ext cx="3714750" cy="363601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날짜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발표자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2025.09.15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스터디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방향 잡기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2025.09.22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3,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김태영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윤혜린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2025.09.29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6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나준원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2025.10.27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8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안솔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2025.11.03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9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김태영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2025.11.10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10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윤혜린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2025.11.17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11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나준원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2025.10.24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12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안솔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2" name="가로 글상자 81"/>
          <p:cNvSpPr txBox="1"/>
          <p:nvPr/>
        </p:nvSpPr>
        <p:spPr>
          <a:xfrm>
            <a:off x="1455964" y="1588909"/>
            <a:ext cx="2852058" cy="2219186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3 규범적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4 데이터 기반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5 머신러닝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6 인공지능 우선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7 밀집 신경망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8 재귀 신경망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9 강화 학습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10 벡터화된 백테스팅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11 리스크 관리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12 집행 및 배포</a:t>
            </a:r>
          </a:p>
        </p:txBody>
      </p:sp>
      <p:cxnSp>
        <p:nvCxnSpPr>
          <p:cNvPr id="84" name="화살표 83"/>
          <p:cNvCxnSpPr/>
          <p:nvPr/>
        </p:nvCxnSpPr>
        <p:spPr>
          <a:xfrm>
            <a:off x="4506698" y="2715641"/>
            <a:ext cx="507927" cy="180"/>
          </a:xfrm>
          <a:prstGeom prst="straightConnector1">
            <a:avLst/>
          </a:prstGeom>
          <a:ln w="508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63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/>
          <p:cNvSpPr txBox="1"/>
          <p:nvPr/>
        </p:nvSpPr>
        <p:spPr>
          <a:xfrm>
            <a:off x="1616868" y="1167241"/>
            <a:ext cx="3600450" cy="33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맑은 고딕"/>
                <a:ea typeface="맑은 고딕"/>
              </a:rPr>
              <a:t>CHAPTER 3 규범적 금융</a:t>
            </a:r>
            <a:endParaRPr lang="en-US" altLang="ko-KR" sz="1600" b="1">
              <a:latin typeface="나눔스퀘어"/>
              <a:ea typeface="나눔스퀘어"/>
            </a:endParaRPr>
          </a:p>
        </p:txBody>
      </p:sp>
      <p:sp>
        <p:nvSpPr>
          <p:cNvPr id="85" name="가로 글상자 84"/>
          <p:cNvSpPr txBox="1"/>
          <p:nvPr/>
        </p:nvSpPr>
        <p:spPr>
          <a:xfrm>
            <a:off x="1561184" y="1657038"/>
            <a:ext cx="7525439" cy="3256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핵심</a:t>
            </a:r>
            <a:r>
              <a:rPr lang="en-US" altLang="ko-KR" sz="1600" dirty="0">
                <a:latin typeface="나눔스퀘어"/>
                <a:ea typeface="나눔스퀘어"/>
              </a:rPr>
              <a:t>* </a:t>
            </a:r>
          </a:p>
          <a:p>
            <a:pPr lvl="0">
              <a:defRPr/>
            </a:pPr>
            <a:r>
              <a:rPr lang="en-US" altLang="ko-KR" sz="1600" dirty="0" err="1">
                <a:latin typeface="나눔스퀘어"/>
                <a:ea typeface="나눔스퀘어"/>
              </a:rPr>
              <a:t>투자자의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선택이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효용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극대화로부터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시작해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포트폴리오의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위험·수익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균형으로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발전</a:t>
            </a:r>
            <a:endParaRPr lang="en-US" altLang="ko-KR" sz="1600" dirty="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en-US" altLang="ko-KR" sz="1600" dirty="0" err="1">
                <a:latin typeface="나눔스퀘어"/>
                <a:ea typeface="나눔스퀘어"/>
              </a:rPr>
              <a:t>CAPM과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APT로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시장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전체와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요인별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리스크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보상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구조로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확장</a:t>
            </a:r>
            <a:endParaRPr lang="en-US" altLang="ko-KR" sz="1600" dirty="0">
              <a:latin typeface="나눔스퀘어"/>
              <a:ea typeface="나눔스퀘어"/>
            </a:endParaRPr>
          </a:p>
          <a:p>
            <a:pPr lvl="0">
              <a:defRPr/>
            </a:pPr>
            <a:endParaRPr lang="en-US" altLang="ko-KR" sz="1600" dirty="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en-US" altLang="ko-KR" sz="1600" dirty="0" err="1">
                <a:latin typeface="나눔스퀘어"/>
                <a:ea typeface="나눔스퀘어"/>
              </a:rPr>
              <a:t>기대효용이론</a:t>
            </a:r>
            <a:r>
              <a:rPr lang="en-US" altLang="ko-KR" sz="1600" dirty="0">
                <a:latin typeface="나눔스퀘어"/>
                <a:ea typeface="나눔스퀘어"/>
              </a:rPr>
              <a:t> (EUT)</a:t>
            </a:r>
          </a:p>
          <a:p>
            <a:pPr lvl="0"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:</a:t>
            </a:r>
            <a:r>
              <a:rPr lang="ko-KR" altLang="en-US" sz="1600" dirty="0">
                <a:latin typeface="나눔스퀘어"/>
                <a:ea typeface="나눔스퀘어"/>
              </a:rPr>
              <a:t> 5가지 공리(</a:t>
            </a:r>
            <a:r>
              <a:rPr lang="ko-KR" altLang="en-US" sz="1600" dirty="0" err="1">
                <a:latin typeface="나눔스퀘어"/>
                <a:ea typeface="나눔스퀘어"/>
              </a:rPr>
              <a:t>완전성·이행성·연속성·독립성·지배성</a:t>
            </a:r>
            <a:r>
              <a:rPr lang="ko-KR" altLang="en-US" sz="1600" dirty="0">
                <a:latin typeface="나눔스퀘어"/>
                <a:ea typeface="나눔스퀘어"/>
              </a:rPr>
              <a:t>)를 전제로 불확실성 하에서 투자자는 기대효용을 극대화하는 선택</a:t>
            </a:r>
          </a:p>
          <a:p>
            <a:pPr lvl="0">
              <a:defRPr/>
            </a:pPr>
            <a:endParaRPr lang="ko-KR" altLang="en-US" sz="1600" dirty="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CAPM</a:t>
            </a:r>
          </a:p>
          <a:p>
            <a:pPr lvl="0"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:</a:t>
            </a:r>
            <a:r>
              <a:rPr lang="ko-KR" altLang="en-US" sz="1600" dirty="0">
                <a:latin typeface="나눔스퀘어"/>
                <a:ea typeface="나눔스퀘어"/>
              </a:rPr>
              <a:t> 자산의 기대수익률은 시장 위험(β)에 비례 → 체계적 리스크만 보상받음</a:t>
            </a:r>
          </a:p>
          <a:p>
            <a:pPr lvl="0"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APT</a:t>
            </a:r>
          </a:p>
          <a:p>
            <a:pPr lvl="0"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: </a:t>
            </a:r>
            <a:r>
              <a:rPr lang="en-US" altLang="ko-KR" sz="1600" dirty="0" err="1">
                <a:latin typeface="나눔스퀘어"/>
                <a:ea typeface="나눔스퀘어"/>
              </a:rPr>
              <a:t>CAPM을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확장</a:t>
            </a:r>
            <a:r>
              <a:rPr lang="en-US" altLang="ko-KR" sz="1600" dirty="0">
                <a:latin typeface="나눔스퀘어"/>
                <a:ea typeface="나눔스퀘어"/>
              </a:rPr>
              <a:t>, </a:t>
            </a:r>
            <a:r>
              <a:rPr lang="en-US" altLang="ko-KR" sz="1600" dirty="0" err="1">
                <a:latin typeface="나눔스퀘어"/>
                <a:ea typeface="나눔스퀘어"/>
              </a:rPr>
              <a:t>수익률이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여러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요인</a:t>
            </a:r>
            <a:r>
              <a:rPr lang="en-US" altLang="ko-KR" sz="1600" dirty="0">
                <a:latin typeface="나눔스퀘어"/>
                <a:ea typeface="나눔스퀘어"/>
              </a:rPr>
              <a:t>(ft)에 </a:t>
            </a:r>
            <a:r>
              <a:rPr lang="en-US" altLang="ko-KR" sz="1600" dirty="0" err="1">
                <a:latin typeface="나눔스퀘어"/>
                <a:ea typeface="나눔스퀘어"/>
              </a:rPr>
              <a:t>의해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결정</a:t>
            </a:r>
            <a:r>
              <a:rPr lang="en-US" altLang="ko-KR" sz="1600" dirty="0">
                <a:latin typeface="나눔스퀘어"/>
                <a:ea typeface="나눔스퀘어"/>
              </a:rPr>
              <a:t> → </a:t>
            </a:r>
            <a:r>
              <a:rPr lang="en-US" altLang="ko-KR" sz="1600" dirty="0" err="1">
                <a:latin typeface="나눔스퀘어"/>
                <a:ea typeface="나눔스퀘어"/>
              </a:rPr>
              <a:t>다요인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리스크</a:t>
            </a:r>
            <a:r>
              <a:rPr lang="en-US" altLang="ko-KR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 err="1">
                <a:latin typeface="나눔스퀘어"/>
                <a:ea typeface="나눔스퀘어"/>
              </a:rPr>
              <a:t>모델</a:t>
            </a:r>
            <a:endParaRPr lang="en-US" altLang="ko-KR" sz="1600" dirty="0">
              <a:latin typeface="나눔스퀘어"/>
              <a:ea typeface="나눔스퀘어"/>
            </a:endParaRPr>
          </a:p>
          <a:p>
            <a:pPr lvl="0">
              <a:defRPr/>
            </a:pPr>
            <a:endParaRPr lang="ko-KR" altLang="en-US" sz="1600" dirty="0">
              <a:latin typeface="나눔스퀘어"/>
              <a:ea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331755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/>
          <p:cNvSpPr txBox="1"/>
          <p:nvPr/>
        </p:nvSpPr>
        <p:spPr>
          <a:xfrm>
            <a:off x="1616868" y="1167241"/>
            <a:ext cx="3600450" cy="332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맑은 고딕"/>
                <a:ea typeface="맑은 고딕"/>
              </a:rPr>
              <a:t>CHAPTER 4 데이터 기반 금융</a:t>
            </a:r>
            <a:endParaRPr lang="en-US" altLang="ko-KR" sz="1600" b="1">
              <a:latin typeface="나눔스퀘어"/>
              <a:ea typeface="나눔스퀘어"/>
            </a:endParaRPr>
          </a:p>
        </p:txBody>
      </p:sp>
      <p:sp>
        <p:nvSpPr>
          <p:cNvPr id="85" name="가로 글상자 84"/>
          <p:cNvSpPr txBox="1"/>
          <p:nvPr/>
        </p:nvSpPr>
        <p:spPr>
          <a:xfrm>
            <a:off x="1618565" y="1805599"/>
            <a:ext cx="6832783" cy="2040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전통적 금융 이론 한계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CAPM, APT, MVP 같은 고전 이론은 수학적으로 깔끔하지만, 실제 시장 데이터를 완벽히 설명하지 못함</a:t>
            </a:r>
          </a:p>
          <a:p>
            <a:pPr lvl="0">
              <a:defRPr/>
            </a:pPr>
            <a:endParaRPr lang="en-US" altLang="ko-KR" sz="160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en-US" altLang="ko-KR" sz="1600">
                <a:latin typeface="나눔스퀘어"/>
                <a:ea typeface="나눔스퀘어"/>
              </a:rPr>
              <a:t>=&gt;</a:t>
            </a:r>
            <a:r>
              <a:rPr lang="ko-KR" altLang="en-US" sz="1600">
                <a:latin typeface="나눔스퀘어"/>
                <a:ea typeface="나눔스퀘어"/>
              </a:rPr>
              <a:t> 데이터의 확장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과거엔 EOD 데이터 중심 → 현재는 API로 실시간·비구조적·대안 데이터 수집 가능</a:t>
            </a: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269213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/>
          <p:cNvSpPr txBox="1"/>
          <p:nvPr/>
        </p:nvSpPr>
        <p:spPr>
          <a:xfrm>
            <a:off x="1616868" y="1167241"/>
            <a:ext cx="3600450" cy="57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맑은 고딕"/>
                <a:ea typeface="맑은 고딕"/>
              </a:rPr>
              <a:t>CHAPTER 6 인공지능 우선 금융</a:t>
            </a:r>
          </a:p>
          <a:p>
            <a:pPr lvl="0">
              <a:defRPr/>
            </a:pPr>
            <a:endParaRPr lang="en-US" altLang="ko-KR" sz="1600" b="1">
              <a:latin typeface="나눔스퀘어"/>
              <a:ea typeface="나눔스퀘어"/>
            </a:endParaRPr>
          </a:p>
        </p:txBody>
      </p:sp>
      <p:sp>
        <p:nvSpPr>
          <p:cNvPr id="85" name="가로 글상자 84"/>
          <p:cNvSpPr txBox="1"/>
          <p:nvPr/>
        </p:nvSpPr>
        <p:spPr>
          <a:xfrm>
            <a:off x="1618559" y="1805599"/>
            <a:ext cx="7525440" cy="3012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핵심</a:t>
            </a:r>
            <a:r>
              <a:rPr lang="en-US" altLang="ko-KR" sz="1600">
                <a:latin typeface="나눔스퀘어"/>
                <a:ea typeface="나눔스퀘어"/>
              </a:rPr>
              <a:t>*</a:t>
            </a:r>
          </a:p>
          <a:p>
            <a:pPr lvl="0">
              <a:defRPr/>
            </a:pPr>
            <a:r>
              <a:rPr lang="en-US" altLang="ko-KR" sz="1600">
                <a:latin typeface="나눔스퀘어"/>
                <a:ea typeface="나눔스퀘어"/>
              </a:rPr>
              <a:t>효율적 시장 가설에서 출발해 인공지능을 활용한 데이터 중심 금융(AI-First Finance)으로 전환되는 과정</a:t>
            </a:r>
            <a:r>
              <a:rPr lang="ko-KR" altLang="en-US" sz="1600">
                <a:latin typeface="나눔스퀘어"/>
                <a:ea typeface="나눔스퀘어"/>
              </a:rPr>
              <a:t> </a:t>
            </a: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금융지표 추가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신경망(Neural Network) 모델에 적용 → 예측 정확도 향상</a:t>
            </a:r>
            <a:endParaRPr lang="en-US" altLang="ko-KR" sz="160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일중 데이터 분석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분 단위·초 단위 고빈도 데이터로 미세한 변동 포착 </a:t>
            </a:r>
            <a:r>
              <a:rPr lang="en-US" altLang="ko-KR" sz="1600">
                <a:latin typeface="나눔스퀘어"/>
                <a:ea typeface="나눔스퀘어"/>
              </a:rPr>
              <a:t>&gt; </a:t>
            </a:r>
            <a:r>
              <a:rPr lang="ko-KR" altLang="en-US" sz="1600">
                <a:latin typeface="나눔스퀘어"/>
                <a:ea typeface="나눔스퀘어"/>
              </a:rPr>
              <a:t>단기 시장 움직임 학습 가능</a:t>
            </a:r>
          </a:p>
          <a:p>
            <a:pPr lvl="0">
              <a:defRPr/>
            </a:pPr>
            <a:r>
              <a:rPr lang="en-US" altLang="ko-KR" sz="1600">
                <a:latin typeface="나눔스퀘어"/>
                <a:ea typeface="나눔스퀘어"/>
              </a:rPr>
              <a:t>AI-first </a:t>
            </a:r>
            <a:r>
              <a:rPr lang="ko-KR" altLang="en-US" sz="1600">
                <a:latin typeface="나눔스퀘어"/>
                <a:ea typeface="나눔스퀘어"/>
              </a:rPr>
              <a:t>금웅</a:t>
            </a:r>
          </a:p>
          <a:p>
            <a:pPr lvl="0">
              <a:defRPr/>
            </a:pPr>
            <a:r>
              <a:rPr lang="en-US" altLang="ko-KR" sz="1600">
                <a:latin typeface="나눔스퀘어"/>
                <a:ea typeface="나눔스퀘어"/>
              </a:rPr>
              <a:t>가정, 공리, 인간의 합리성 모델 대신 데이터와 알고리즘만으로 예</a:t>
            </a:r>
            <a:r>
              <a:rPr lang="ko-KR" altLang="en-US" sz="1600">
                <a:latin typeface="나눔스퀘어"/>
                <a:ea typeface="나눔스퀘어"/>
              </a:rPr>
              <a:t>측</a:t>
            </a: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348643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/>
          <p:cNvSpPr txBox="1"/>
          <p:nvPr/>
        </p:nvSpPr>
        <p:spPr>
          <a:xfrm>
            <a:off x="1616868" y="1167241"/>
            <a:ext cx="3600450" cy="573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맑은 고딕"/>
                <a:ea typeface="맑은 고딕"/>
              </a:rPr>
              <a:t>CHAPTER 8 재귀 신경망</a:t>
            </a:r>
          </a:p>
          <a:p>
            <a:pPr lvl="0">
              <a:defRPr/>
            </a:pPr>
            <a:endParaRPr lang="en-US" altLang="ko-KR" sz="1600" b="1">
              <a:latin typeface="나눔스퀘어"/>
              <a:ea typeface="나눔스퀘어"/>
            </a:endParaRPr>
          </a:p>
        </p:txBody>
      </p:sp>
      <p:sp>
        <p:nvSpPr>
          <p:cNvPr id="85" name="가로 글상자 84"/>
          <p:cNvSpPr txBox="1"/>
          <p:nvPr/>
        </p:nvSpPr>
        <p:spPr>
          <a:xfrm>
            <a:off x="1618556" y="1805598"/>
            <a:ext cx="6832783" cy="27740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재귀 신경망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시계열 데이터(시간 순서 있는 데이터)를 학습하는 신경망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→ 과거 정보를 기억하며 다음 값을 예측</a:t>
            </a: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심층 재귀 신경망 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RNN/LSTM 층을 여러 개 쌓은 구조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→ 더 복잡한 시간적 패턴과 장기 의존성 학습 가능</a:t>
            </a:r>
          </a:p>
          <a:p>
            <a:pPr lvl="0">
              <a:defRPr/>
            </a:pPr>
            <a:r>
              <a:rPr lang="en-US" altLang="ko-KR" sz="1600">
                <a:latin typeface="나눔스퀘어"/>
                <a:ea typeface="나눔스퀘어"/>
              </a:rPr>
              <a:t>(*</a:t>
            </a:r>
            <a:r>
              <a:rPr lang="ko-KR" altLang="en-US" sz="1600">
                <a:latin typeface="나눔스퀘어"/>
                <a:ea typeface="나눔스퀘어"/>
              </a:rPr>
              <a:t> return_sequences=True </a:t>
            </a:r>
            <a:r>
              <a:rPr lang="en-US" altLang="ko-KR" sz="1600">
                <a:latin typeface="나눔스퀘어"/>
                <a:ea typeface="나눔스퀘어"/>
              </a:rPr>
              <a:t>(</a:t>
            </a:r>
            <a:r>
              <a:rPr lang="ko-KR" altLang="en-US" sz="1600">
                <a:latin typeface="나눔스퀘어"/>
                <a:ea typeface="나눔스퀘어"/>
              </a:rPr>
              <a:t>핵심 파라미터</a:t>
            </a:r>
            <a:r>
              <a:rPr lang="en-US" altLang="ko-KR" sz="1600">
                <a:latin typeface="나눔스퀘어"/>
                <a:ea typeface="나눔스퀘어"/>
              </a:rPr>
              <a:t>)</a:t>
            </a: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다음 RNN층으로 모든 시점 출력을 전달해야 할 때 사용</a:t>
            </a:r>
            <a:r>
              <a:rPr lang="en-US" altLang="ko-KR" sz="1600">
                <a:latin typeface="나눔스퀘어"/>
                <a:ea typeface="나눔스퀘어"/>
              </a:rPr>
              <a:t>)</a:t>
            </a: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186934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436</Words>
  <Application>Microsoft Office PowerPoint</Application>
  <PresentationFormat>화면 슬라이드 쇼(16:9)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나눔고딕</vt:lpstr>
      <vt:lpstr>나눔스퀘어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혜린 윤</cp:lastModifiedBy>
  <cp:revision>88</cp:revision>
  <dcterms:modified xsi:type="dcterms:W3CDTF">2025-11-03T13:29:52Z</dcterms:modified>
  <cp:version>1000.0000.01</cp:version>
</cp:coreProperties>
</file>