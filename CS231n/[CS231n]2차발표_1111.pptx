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9" r:id="rId6"/>
    <p:sldId id="270" r:id="rId7"/>
    <p:sldId id="271" r:id="rId8"/>
    <p:sldId id="272" r:id="rId9"/>
    <p:sldId id="273" r:id="rId10"/>
    <p:sldId id="274" r:id="rId11"/>
  </p:sldIdLst>
  <p:sldSz cx="9144000" cy="5143500" type="screen16x9"/>
  <p:notesSz cx="6858000" cy="9144000"/>
  <p:embeddedFontLst>
    <p:embeddedFont>
      <p:font typeface="나눔바른고딕" panose="020B0603020101020101" pitchFamily="34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CE0"/>
    <a:srgbClr val="A1ADCB"/>
    <a:srgbClr val="43568B"/>
    <a:srgbClr val="6A738C"/>
    <a:srgbClr val="212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92" autoAdjust="0"/>
    <p:restoredTop sz="94729"/>
  </p:normalViewPr>
  <p:slideViewPr>
    <p:cSldViewPr snapToGrid="0">
      <p:cViewPr>
        <p:scale>
          <a:sx n="89" d="100"/>
          <a:sy n="89" d="100"/>
        </p:scale>
        <p:origin x="648" y="11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488F0017-E01F-C0F9-A598-99D1C6AB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9F0D4E94-4DA4-B6CD-12B3-67C4BFCE2D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E37278BF-9995-09BD-44B1-7A09EB499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1769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192DF126-4419-1829-2B70-B19FE7D9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F108FB3-9588-5DFE-AD5B-5E2B33900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0615C954-8593-1487-3BBD-30E7F4399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7375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67D43C8-0E8B-C931-E4FE-53DAF6DC1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33F5280B-6637-8B8F-1F4D-F78085F8C1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FD8DB868-1096-B81D-2AC9-28611517B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8025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A3D4D03-CEE6-AF26-4003-02A29827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748F769-10BF-7626-6DAD-18A5B9D0A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B028DFD-6E35-2334-38CD-237BEEA183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8464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E3D72BA9-AE51-9740-E0BA-D30F1634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A56DFDC4-9A43-D159-2BA0-A85C0D126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394883E2-62E8-06FB-41AB-C23FA567C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0869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5A13371-2A35-67DC-1C0A-F23931E70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F780186A-B4BA-1B4E-01D2-D97BE09198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ED8B2949-D0A5-6D4C-C862-40E597D815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12508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3DFFD06-A972-58C8-A0E5-42AE6054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F2D4FC1-DBDE-335C-566D-7D50AD292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B84C480-C4A0-D5D8-9E6F-64987B661D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7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568745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Standford Univ. CS231n</a:t>
            </a:r>
            <a:r>
              <a:rPr lang="ko" sz="2500" b="1" dirty="0">
                <a:solidFill>
                  <a:srgbClr val="19264B"/>
                </a:solidFill>
              </a:rPr>
              <a:t>스터디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11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11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오유리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 b="1" dirty="0">
                <a:solidFill>
                  <a:srgbClr val="19264B"/>
                </a:solidFill>
                <a:latin typeface="+mj-lt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스터디원 소개 및 만남 인증</a:t>
            </a:r>
            <a:endParaRPr sz="2000" b="1" dirty="0">
              <a:solidFill>
                <a:srgbClr val="19264B"/>
              </a:solidFill>
              <a:latin typeface="+mj-lt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705812" y="1820125"/>
            <a:ext cx="22821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1 : 김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세린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2 :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노기현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3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박준우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 :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오유리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최승훈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1C24758-EDF4-D07B-4F49-F1FCF21B3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537" y="1234621"/>
            <a:ext cx="4889838" cy="32946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스터디 일정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FAF25D8-85F5-E405-3AC7-7AD20730F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730697"/>
              </p:ext>
            </p:extLst>
          </p:nvPr>
        </p:nvGraphicFramePr>
        <p:xfrm>
          <a:off x="1524000" y="974857"/>
          <a:ext cx="6096000" cy="3856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0050893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096674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43088767"/>
                    </a:ext>
                  </a:extLst>
                </a:gridCol>
              </a:tblGrid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4356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날짜</a:t>
                      </a:r>
                    </a:p>
                  </a:txBody>
                  <a:tcPr anchor="ctr">
                    <a:solidFill>
                      <a:srgbClr val="43568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내용</a:t>
                      </a:r>
                    </a:p>
                  </a:txBody>
                  <a:tcPr anchor="ctr">
                    <a:solidFill>
                      <a:srgbClr val="4356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188506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2-3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9/19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1, 2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55922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4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9/26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3, 4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51250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10/3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5, 6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95629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6-8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306613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10/31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7, 8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899558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10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11/7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9, 10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946317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11/14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11, 12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962946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12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11/21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13, 14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502549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13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11/28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15, 16</a:t>
                      </a:r>
                      <a:r>
                        <a:rPr lang="ko-KR" altLang="en-US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강</a:t>
                      </a:r>
                    </a:p>
                  </a:txBody>
                  <a:tcPr anchor="ctr">
                    <a:solidFill>
                      <a:srgbClr val="C5C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149284"/>
                  </a:ext>
                </a:extLst>
              </a:tr>
              <a:tr h="3506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14-16</a:t>
                      </a:r>
                      <a:r>
                        <a:rPr lang="ko-KR" altLang="en-US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주차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</a:t>
                      </a:r>
                      <a:endParaRPr lang="ko-KR" altLang="en-US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anchor="ctr">
                    <a:solidFill>
                      <a:srgbClr val="A1AD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2246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A76C2D0-F3CC-447B-5D6A-6F99E6409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4CE8A5DB-EC22-8677-91BA-7FC4BF6510F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47E32AAD-1FAE-9E5E-8F28-B8A5C700B0B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A8DF7817-482B-19A2-52E2-783A6CA4575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1B5AAE0D-49E5-E71E-F972-054F6884D04E}"/>
              </a:ext>
            </a:extLst>
          </p:cNvPr>
          <p:cNvSpPr txBox="1"/>
          <p:nvPr/>
        </p:nvSpPr>
        <p:spPr>
          <a:xfrm>
            <a:off x="1353975" y="256563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5: Image Classification with CNNs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551F5C9-4C80-D345-E598-D7DB345103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9" t="5882"/>
          <a:stretch>
            <a:fillRect/>
          </a:stretch>
        </p:blipFill>
        <p:spPr>
          <a:xfrm>
            <a:off x="2848337" y="889848"/>
            <a:ext cx="4633327" cy="1999656"/>
          </a:xfrm>
          <a:prstGeom prst="rect">
            <a:avLst/>
          </a:prstGeom>
        </p:spPr>
      </p:pic>
      <p:sp>
        <p:nvSpPr>
          <p:cNvPr id="15" name="Google Shape;66;p14">
            <a:extLst>
              <a:ext uri="{FF2B5EF4-FFF2-40B4-BE49-F238E27FC236}">
                <a16:creationId xmlns:a16="http://schemas.microsoft.com/office/drawing/2014/main" id="{E47284B4-BF1A-0FE3-FDDC-95B87186DC0B}"/>
              </a:ext>
            </a:extLst>
          </p:cNvPr>
          <p:cNvSpPr txBox="1"/>
          <p:nvPr/>
        </p:nvSpPr>
        <p:spPr>
          <a:xfrm>
            <a:off x="1899232" y="3048598"/>
            <a:ext cx="6531535" cy="177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 CNN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을 이용한 이미지 분류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목표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합성곱과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풀링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레이어의 원리 이해 및 아키텍처 설계의 기본 습득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학습 내용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End-to-End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학습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Wingdings" pitchFamily="2" charset="2"/>
              </a:rPr>
              <a:t>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인간의 개입 없는 최적의 필터 가중치 학습 가능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Conv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와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Pooling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레이어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Wingdings" pitchFamily="2" charset="2"/>
              </a:rPr>
              <a:t>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깊이를 쌓을수록 지역적 특징부터 전역적 특징까지 계층적으로 학습 가능</a:t>
            </a:r>
          </a:p>
        </p:txBody>
      </p:sp>
    </p:spTree>
    <p:extLst>
      <p:ext uri="{BB962C8B-B14F-4D97-AF65-F5344CB8AC3E}">
        <p14:creationId xmlns:p14="http://schemas.microsoft.com/office/powerpoint/2010/main" val="2125742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529865B-2EA6-E164-1AA9-19A365AC5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A844DF98-B836-D81C-455F-F1059EE299DE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1A801724-44EF-C8FA-2DC9-82451D59B997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9258BCE0-324E-2B10-65E8-B5A3E13198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F63062A8-1921-8E00-BBEC-EC9EA3989EDB}"/>
              </a:ext>
            </a:extLst>
          </p:cNvPr>
          <p:cNvSpPr txBox="1"/>
          <p:nvPr/>
        </p:nvSpPr>
        <p:spPr>
          <a:xfrm>
            <a:off x="1353975" y="197706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6: CNN Architectures</a:t>
            </a: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A9EE0423-0CDC-FD40-8879-030D8BDE81AD}"/>
              </a:ext>
            </a:extLst>
          </p:cNvPr>
          <p:cNvSpPr txBox="1"/>
          <p:nvPr/>
        </p:nvSpPr>
        <p:spPr>
          <a:xfrm>
            <a:off x="1553119" y="2902957"/>
            <a:ext cx="7067981" cy="2042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1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 CNN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아키텍처 및 트레이닝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indent="-285750">
              <a:lnSpc>
                <a:spcPct val="11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목표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기본적인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CNN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구성 요소들을 조합해 아키텍처를 설계하는 방법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(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VGG, </a:t>
            </a:r>
            <a:r>
              <a:rPr lang="en" altLang="ko-KR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ResNet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)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이해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,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실제 환경에서 모델을 훈련시키는 실용적인 기술 습득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학습 내용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" altLang="ko-KR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ResNet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의 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잔차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연결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Wingdings" pitchFamily="2" charset="2"/>
              </a:rPr>
              <a:t>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Wingdings" pitchFamily="2" charset="2"/>
              </a:rPr>
              <a:t>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깊은 네트워크 최적화 문제를 해결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Kaiming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초기화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,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Dropout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등의 기법으로 학습 안정성을 높이며 사전 학습된 모델을 활용하는 전이 학습을 통해 데이터 효율성 및 성능 극대화</a:t>
            </a:r>
            <a:endParaRPr lang="ko-KR" altLang="en-US" dirty="0">
              <a:effectLst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6C749A4-46CB-549B-FE0D-86AE7AE6B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783" y="760303"/>
            <a:ext cx="4508655" cy="205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85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33397823-FF40-58C0-7194-41945691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D935F56A-2D06-372C-AF88-507C8D3F81D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D834375A-B144-1768-C21C-E413A8D2E16F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474D47AB-25D4-69C2-1A00-A44CB41FBAA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5A664B98-0C73-BAB0-8A96-BADEB1905D04}"/>
              </a:ext>
            </a:extLst>
          </p:cNvPr>
          <p:cNvSpPr txBox="1"/>
          <p:nvPr/>
        </p:nvSpPr>
        <p:spPr>
          <a:xfrm>
            <a:off x="1353975" y="197706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7: Recurrent Neural Networks</a:t>
            </a: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EF2DB46B-C84F-7453-541B-843955427D98}"/>
              </a:ext>
            </a:extLst>
          </p:cNvPr>
          <p:cNvSpPr txBox="1"/>
          <p:nvPr/>
        </p:nvSpPr>
        <p:spPr>
          <a:xfrm>
            <a:off x="1553118" y="2741375"/>
            <a:ext cx="7067981" cy="220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 Recurrent Neural Networks (RNNs)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및 시퀀스 모델링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목표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가변 길이 시퀀스 데이터를 처리하는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RNN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의 원리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(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은닉 상태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),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BPTT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의 이해 및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LSTM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구조의 이해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학습 내용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RNN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은 은닉 상태를 재귀적으로 업데이트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Wingdings" pitchFamily="2" charset="2"/>
              </a:rPr>
              <a:t>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가변 길이 시퀀스를 처리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그러나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그래디언트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소실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/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폭발 문제와 순차 계산의 비효율성을 안고 있으며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,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이를 개선한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LSTM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및 최신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State Space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모델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(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Mamba)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등이 연구되고 있음</a:t>
            </a:r>
            <a:endParaRPr lang="ko-KR" altLang="en-US" dirty="0">
              <a:effectLst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096A1C-9348-A44E-73CE-414C923E4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095" y="746652"/>
            <a:ext cx="4718026" cy="199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7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4004286B-1C43-9C5C-96F2-D7120B22E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52D3CA0-F178-882B-7A77-E10298235C1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534FD4E6-8E98-F306-0D52-55336A21719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D07419F5-907B-CB15-69B0-A70FF7ABD0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D5F68AAA-7B60-C3AF-4405-F37DF63FEE44}"/>
              </a:ext>
            </a:extLst>
          </p:cNvPr>
          <p:cNvSpPr txBox="1"/>
          <p:nvPr/>
        </p:nvSpPr>
        <p:spPr>
          <a:xfrm>
            <a:off x="1353975" y="197706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8: Attention and Transformers</a:t>
            </a: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F16C14F7-EAFE-A7AF-1964-A4E95C0C2BB3}"/>
              </a:ext>
            </a:extLst>
          </p:cNvPr>
          <p:cNvSpPr txBox="1"/>
          <p:nvPr/>
        </p:nvSpPr>
        <p:spPr>
          <a:xfrm>
            <a:off x="4232452" y="1015844"/>
            <a:ext cx="4288663" cy="3358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 Attention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메커니즘 및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Transformer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아키텍처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목표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Attention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의 원리를 이해하고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,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이를 핵심 빌딩 블록으로 사용하는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Transformer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가 왜 현대 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딥러닝의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표준 아키텍처가 되었는지 학습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.</a:t>
            </a:r>
          </a:p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학습 내용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Transformer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는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Attention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메커니즘을 통해 모든 입력 토큰이 병렬적으로 상호작용하게 하여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RNN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의 순차적 한계와 병목 현상을 극복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높은 병렬성과 확장성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Wingdings" pitchFamily="2" charset="2"/>
              </a:rPr>
              <a:t>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현재 대부분의 대규모 딥러닝 애플리케이션의 표준 아키텍처로 사용</a:t>
            </a:r>
            <a:endParaRPr lang="ko-KR" altLang="en-US" dirty="0">
              <a:effectLst/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F508E639-9411-6974-1DFD-5EBCC1B88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836" y="886886"/>
            <a:ext cx="2772616" cy="377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52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D3E45534-25EF-8507-EFBB-B6B53A2D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A5E1240-95BB-A7FC-966D-BD0F719A592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DE678ED5-5DA3-62EB-F899-34BACDBD124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36D24E5E-E494-B274-EAF2-42B721ADF4A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1756EF7F-24EC-56FA-5875-19E322C64268}"/>
              </a:ext>
            </a:extLst>
          </p:cNvPr>
          <p:cNvSpPr txBox="1"/>
          <p:nvPr/>
        </p:nvSpPr>
        <p:spPr>
          <a:xfrm>
            <a:off x="1353975" y="197706"/>
            <a:ext cx="761715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9: Object Detection, Image Segmentation, Visualizing</a:t>
            </a: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F850D354-52C9-28C0-A17B-518BDEDC018C}"/>
              </a:ext>
            </a:extLst>
          </p:cNvPr>
          <p:cNvSpPr txBox="1"/>
          <p:nvPr/>
        </p:nvSpPr>
        <p:spPr>
          <a:xfrm>
            <a:off x="1353975" y="2755392"/>
            <a:ext cx="7617149" cy="220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핵심 컴퓨터 비전 태스크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(Detection &amp; Segmentation)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및 모델 시각화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/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이해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목표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Object Detection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및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Segmentation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문제를 해결하는 주요 알고리즘을 이해하고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,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신경망이 학습한 내용을 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시각화하여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해석하는 방법 학습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학습 내용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CV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태스크는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FCN/U-Net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을 통한 픽셀 단위 분할과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R-CNN, YOLO, DETR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등의 알고리즘을 통한 객체 탐지로 발전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Saliency Map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및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Grad-CAM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을 통해 모델의 예측 근거를 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시각화하여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이해하는 것이 중요</a:t>
            </a:r>
            <a:endParaRPr lang="ko-KR" altLang="en-US" dirty="0">
              <a:effectLst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96BA155B-BF35-6505-7238-935515E23D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-5858" b="1"/>
          <a:stretch>
            <a:fillRect/>
          </a:stretch>
        </p:blipFill>
        <p:spPr bwMode="auto">
          <a:xfrm>
            <a:off x="3999217" y="736285"/>
            <a:ext cx="2326664" cy="201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65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8255E82-B4C2-3703-1223-C5144CF70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8157726B-582A-896F-AF60-14A9FDD1DF4F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29D05D39-AFBC-59AB-36C3-1B92C40F0E2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B7D9B7FF-A2E3-96F4-8A83-0C7BFD3EF5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F63B5C05-6733-0422-CC5D-42A47FA0016A}"/>
              </a:ext>
            </a:extLst>
          </p:cNvPr>
          <p:cNvSpPr txBox="1"/>
          <p:nvPr/>
        </p:nvSpPr>
        <p:spPr>
          <a:xfrm>
            <a:off x="1353975" y="197706"/>
            <a:ext cx="761715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Lecture 10: Video Understanding</a:t>
            </a: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756D0AD3-21A4-CB5E-436A-5B80AD66E290}"/>
              </a:ext>
            </a:extLst>
          </p:cNvPr>
          <p:cNvSpPr txBox="1"/>
          <p:nvPr/>
        </p:nvSpPr>
        <p:spPr>
          <a:xfrm>
            <a:off x="1353975" y="2755392"/>
            <a:ext cx="7617149" cy="220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비디오 이해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(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Video Understanding)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목표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: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시간 차원을 가진 비디오 데이터를 처리하는 다양한 딥러닝 아키텍처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(2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D CNN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기반 퓨전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, 3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D CNN,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투 스트림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,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RNN, Self-Attention)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를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이해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indent="-285750">
              <a:lnSpc>
                <a:spcPct val="125000"/>
              </a:lnSpc>
              <a:buFontTx/>
              <a:buChar char="-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학습 내용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비디오 이해는 시간적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/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공간적 특징을 모두 모델링하는 것이 핵심</a:t>
            </a:r>
            <a:endParaRPr lang="en-US" altLang="ko-KR" sz="1500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  <a:p>
            <a:pPr marL="285750" lvl="1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초기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2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D CNN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기반 퓨전에서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3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D CNN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및 </a:t>
            </a:r>
            <a:r>
              <a:rPr lang="en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Self-Attention(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트랜스포머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) 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기반 아키텍처로 발전 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Wingdings" pitchFamily="2" charset="2"/>
              </a:rPr>
              <a:t>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동작 인식을 고도화하고 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멀티모달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정보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(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시각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+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청각</a:t>
            </a:r>
            <a:r>
              <a:rPr lang="en-US" altLang="ko-KR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)</a:t>
            </a:r>
            <a:r>
              <a:rPr lang="ko-KR" altLang="en-US" sz="1500" dirty="0" err="1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를</a:t>
            </a:r>
            <a:r>
              <a:rPr lang="ko-KR" altLang="en-US" sz="1500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통합하여 활용</a:t>
            </a:r>
            <a:endParaRPr lang="ko-KR" altLang="en-US" dirty="0">
              <a:effectLst/>
            </a:endParaRPr>
          </a:p>
        </p:txBody>
      </p:sp>
      <p:pic>
        <p:nvPicPr>
          <p:cNvPr id="10242" name="Picture 2" descr="Illustration of video classification. The image on the left represents the video being classified, which is taken from a . On the right are the predicted classes and their probabilities.">
            <a:extLst>
              <a:ext uri="{FF2B5EF4-FFF2-40B4-BE49-F238E27FC236}">
                <a16:creationId xmlns:a16="http://schemas.microsoft.com/office/drawing/2014/main" id="{237689E4-B1C8-6A0C-BC3D-519176216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776" y="845679"/>
            <a:ext cx="4749545" cy="190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22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F31C13B-7E61-3F2C-0DDA-FBF513C5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657E9C7D-B6F4-9AB9-62ED-3FA0D8E934F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E4F4DE70-E5CB-3D30-01F4-DE66AC80B9A7}"/>
              </a:ext>
            </a:extLst>
          </p:cNvPr>
          <p:cNvSpPr txBox="1"/>
          <p:nvPr/>
        </p:nvSpPr>
        <p:spPr>
          <a:xfrm>
            <a:off x="4025800" y="2258218"/>
            <a:ext cx="1774925" cy="62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감사합니다</a:t>
            </a:r>
            <a:endParaRPr sz="25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>
            <a:extLst>
              <a:ext uri="{FF2B5EF4-FFF2-40B4-BE49-F238E27FC236}">
                <a16:creationId xmlns:a16="http://schemas.microsoft.com/office/drawing/2014/main" id="{0EA5CDBC-1671-A53E-4FDA-D3085ED4B2C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>
            <a:extLst>
              <a:ext uri="{FF2B5EF4-FFF2-40B4-BE49-F238E27FC236}">
                <a16:creationId xmlns:a16="http://schemas.microsoft.com/office/drawing/2014/main" id="{AC11BE98-144F-84E0-0929-05C19A45F5D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91844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546</Words>
  <Application>Microsoft Macintosh PowerPoint</Application>
  <PresentationFormat>화면 슬라이드 쇼(16:9)</PresentationFormat>
  <Paragraphs>88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나눔바른고딕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김세린</dc:creator>
  <cp:lastModifiedBy>오유리</cp:lastModifiedBy>
  <cp:revision>10</cp:revision>
  <dcterms:modified xsi:type="dcterms:W3CDTF">2025-11-08T06:46:31Z</dcterms:modified>
</cp:coreProperties>
</file>