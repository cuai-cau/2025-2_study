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61" r:id="rId4"/>
    <p:sldId id="262" r:id="rId5"/>
    <p:sldId id="264" r:id="rId6"/>
    <p:sldId id="265" r:id="rId7"/>
    <p:sldId id="266" r:id="rId8"/>
    <p:sldId id="267" r:id="rId9"/>
    <p:sldId id="268" r:id="rId10"/>
    <p:sldId id="269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4752"/>
  </p:normalViewPr>
  <p:slideViewPr>
    <p:cSldViewPr snapToGrid="0">
      <p:cViewPr varScale="1">
        <p:scale>
          <a:sx n="138" d="100"/>
          <a:sy n="138" d="100"/>
        </p:scale>
        <p:origin x="1398" y="120"/>
      </p:cViewPr>
      <p:guideLst>
        <p:guide orient="horz" pos="161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04C0958-3F8F-63BE-E9A8-835B3B7D6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40FAEB35-3634-112B-834B-724CE245727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C96AD870-8487-8720-0BFC-49846CFBEC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931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B54D930-3173-6AE7-16B1-190E2FD0C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2550452B-1837-8FDD-46E4-C753D39F199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6C0E0F62-89C4-26F9-BD31-4D8A186AF6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0215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D8835D8-8773-13DB-0DF5-5473E7C31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36B64859-2716-7B73-86D8-0E1674657A1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C8BD3A16-8218-9855-E85C-B68CC025DB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36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F46FB1D-065C-658B-8C85-568B81002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3ACB9882-D4C4-8B6F-4B23-30DBC02817B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EE55044F-F30C-A635-BBE4-96C454C6E2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241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760657A-3EC8-581E-F864-7457AA0AC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BEAFF1F3-3A1C-88C2-7035-6517D857817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8FFBE256-9176-405E-B1AB-1EF0A8600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595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B5E7B2E-3073-9197-8D58-53C6B588B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C4EF821E-4F93-CF48-FA2E-DE848F104CC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961CD642-5914-E05A-CBCD-987FCA606D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519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D346D9C-37D9-3C7A-8B2C-F26D89C6B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594AC3A2-2273-3AFE-A1D6-E5E9A3DE852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F0730E50-433E-D6BA-474F-E700631FD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22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512028" y="2400832"/>
            <a:ext cx="7194650" cy="167209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3200" b="1" dirty="0">
                <a:solidFill>
                  <a:srgbClr val="19264B"/>
                </a:solidFill>
              </a:rPr>
              <a:t>MM </a:t>
            </a:r>
            <a:r>
              <a:rPr lang="ko-KR" altLang="en-US" sz="3200" b="1" dirty="0">
                <a:solidFill>
                  <a:srgbClr val="19264B"/>
                </a:solidFill>
              </a:rPr>
              <a:t>논문 리뷰 스터디</a:t>
            </a:r>
            <a:endParaRPr lang="en-US" altLang="ko" sz="32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10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28.(</a:t>
            </a:r>
            <a:r>
              <a:rPr lang="ko-KR" altLang="en-US" dirty="0">
                <a:solidFill>
                  <a:srgbClr val="19264B"/>
                </a:solidFill>
              </a:rPr>
              <a:t>화</a:t>
            </a:r>
            <a:r>
              <a:rPr lang="en-US" altLang="ko-KR" dirty="0">
                <a:solidFill>
                  <a:srgbClr val="19264B"/>
                </a:solidFill>
              </a:rPr>
              <a:t>)</a:t>
            </a:r>
            <a:endParaRPr lang="en-US" altLang="ko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김현수</a:t>
            </a: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57" name="Google Shape;57;p1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64" name="Google Shape;64;p1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스터디원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소개 및 만남 인증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219836"/>
              </p:ext>
            </p:extLst>
          </p:nvPr>
        </p:nvGraphicFramePr>
        <p:xfrm>
          <a:off x="5998818" y="1845196"/>
          <a:ext cx="3096591" cy="236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8075">
                  <a:extLst>
                    <a:ext uri="{9D8B030D-6E8A-4147-A177-3AD203B41FA5}">
                      <a16:colId xmlns:a16="http://schemas.microsoft.com/office/drawing/2014/main" val="4145718803"/>
                    </a:ext>
                  </a:extLst>
                </a:gridCol>
                <a:gridCol w="1015562">
                  <a:extLst>
                    <a:ext uri="{9D8B030D-6E8A-4147-A177-3AD203B41FA5}">
                      <a16:colId xmlns:a16="http://schemas.microsoft.com/office/drawing/2014/main" val="2261835542"/>
                    </a:ext>
                  </a:extLst>
                </a:gridCol>
                <a:gridCol w="1732954">
                  <a:extLst>
                    <a:ext uri="{9D8B030D-6E8A-4147-A177-3AD203B41FA5}">
                      <a16:colId xmlns:a16="http://schemas.microsoft.com/office/drawing/2014/main" val="2208467368"/>
                    </a:ext>
                  </a:extLst>
                </a:gridCol>
              </a:tblGrid>
              <a:tr h="472032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스터디원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991142"/>
                  </a:ext>
                </a:extLst>
              </a:tr>
              <a:tr h="472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김현수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소프트웨어학부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99453"/>
                  </a:ext>
                </a:extLst>
              </a:tr>
              <a:tr h="472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신승현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컴퓨터공학부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331031"/>
                  </a:ext>
                </a:extLst>
              </a:tr>
              <a:tr h="472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이채린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응용통계학과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011128"/>
                  </a:ext>
                </a:extLst>
              </a:tr>
              <a:tr h="472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황민아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AI</a:t>
                      </a:r>
                      <a:r>
                        <a:rPr lang="ko-KR" altLang="en-US" dirty="0"/>
                        <a:t>학과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119167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F0F29084-C573-AF5E-B4B7-00CC4C71B4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578"/>
          <a:stretch>
            <a:fillRect/>
          </a:stretch>
        </p:blipFill>
        <p:spPr>
          <a:xfrm>
            <a:off x="1408975" y="1190283"/>
            <a:ext cx="4086225" cy="33861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D7476F35-196B-C073-5F29-350FB9F98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DC687EBB-10B9-00AC-966B-EB1CC9FB73D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9F0AE9E1-CDCD-015D-3D86-C09211CA62D9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40F2E2F7-2D09-C116-0F13-180E81E7261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7B7CA6-3339-F9CA-DB20-CA2F34C62672}"/>
              </a:ext>
            </a:extLst>
          </p:cNvPr>
          <p:cNvSpPr txBox="1"/>
          <p:nvPr/>
        </p:nvSpPr>
        <p:spPr>
          <a:xfrm>
            <a:off x="2180500" y="1977568"/>
            <a:ext cx="5609847" cy="1421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 err="1"/>
              <a:t>LLMDet:Learning</a:t>
            </a:r>
            <a:r>
              <a:rPr lang="en-US" altLang="ko-KR" sz="1600" b="1" dirty="0"/>
              <a:t> Strong Open-Vocabulary Object Detectors under the Supervision of Large Language Models</a:t>
            </a:r>
          </a:p>
          <a:p>
            <a:pPr algn="ctr">
              <a:lnSpc>
                <a:spcPct val="150000"/>
              </a:lnSpc>
            </a:pPr>
            <a:r>
              <a:rPr lang="en-US" altLang="ko-KR" sz="1100" dirty="0">
                <a:latin typeface="+mj-ea"/>
                <a:ea typeface="+mj-ea"/>
              </a:rPr>
              <a:t>CVPR 2025 Highlight</a:t>
            </a:r>
          </a:p>
        </p:txBody>
      </p:sp>
    </p:spTree>
    <p:extLst>
      <p:ext uri="{BB962C8B-B14F-4D97-AF65-F5344CB8AC3E}">
        <p14:creationId xmlns:p14="http://schemas.microsoft.com/office/powerpoint/2010/main" val="382193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AA56B684-D1E5-903C-E240-3A2F11E5A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DA79F8DA-CC55-F35E-4A59-16BBD3CB42D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824C17DE-7E13-FDCE-095A-B34D0B8EF3D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29A856C9-E871-1D9E-6AED-183B44BF4BC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C2595ADA-5912-AB35-6D1C-9C30A49E0E07}"/>
              </a:ext>
            </a:extLst>
          </p:cNvPr>
          <p:cNvSpPr txBox="1"/>
          <p:nvPr/>
        </p:nvSpPr>
        <p:spPr>
          <a:xfrm>
            <a:off x="1408975" y="306875"/>
            <a:ext cx="1665529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Background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8CCF78-64FD-89F2-CBE6-9852AF97037D}"/>
              </a:ext>
            </a:extLst>
          </p:cNvPr>
          <p:cNvSpPr txBox="1"/>
          <p:nvPr/>
        </p:nvSpPr>
        <p:spPr>
          <a:xfrm>
            <a:off x="1458981" y="1556087"/>
            <a:ext cx="7570719" cy="2312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j-ea"/>
                <a:ea typeface="+mj-ea"/>
              </a:rPr>
              <a:t>Open-Vocabulary Object Detection(OVD)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+mj-ea"/>
                <a:ea typeface="+mj-ea"/>
              </a:rPr>
              <a:t>훈련데이터에서 보지 못한 임의의 </a:t>
            </a:r>
            <a:r>
              <a:rPr lang="en-US" altLang="ko-KR" dirty="0">
                <a:latin typeface="+mj-ea"/>
                <a:ea typeface="+mj-ea"/>
              </a:rPr>
              <a:t>class</a:t>
            </a:r>
            <a:r>
              <a:rPr lang="ko-KR" altLang="en-US" dirty="0">
                <a:latin typeface="+mj-ea"/>
                <a:ea typeface="+mj-ea"/>
              </a:rPr>
              <a:t>을 </a:t>
            </a:r>
            <a:r>
              <a:rPr lang="en-US" altLang="ko-KR" dirty="0">
                <a:latin typeface="+mj-ea"/>
                <a:ea typeface="+mj-ea"/>
              </a:rPr>
              <a:t>prompt</a:t>
            </a:r>
            <a:r>
              <a:rPr lang="ko-KR" altLang="en-US" dirty="0">
                <a:latin typeface="+mj-ea"/>
                <a:ea typeface="+mj-ea"/>
              </a:rPr>
              <a:t>을 기반으로 </a:t>
            </a:r>
            <a:r>
              <a:rPr lang="en-US" altLang="ko-KR" dirty="0">
                <a:latin typeface="+mj-ea"/>
                <a:ea typeface="+mj-ea"/>
              </a:rPr>
              <a:t>detection</a:t>
            </a:r>
            <a:r>
              <a:rPr lang="ko-KR" altLang="en-US" dirty="0">
                <a:latin typeface="+mj-ea"/>
                <a:ea typeface="+mj-ea"/>
              </a:rPr>
              <a:t>을 수행하는 것</a:t>
            </a: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+mj-ea"/>
                <a:ea typeface="+mj-ea"/>
              </a:rPr>
              <a:t>기존 연구의 한계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j-ea"/>
                <a:ea typeface="+mj-ea"/>
              </a:rPr>
              <a:t>	- </a:t>
            </a:r>
            <a:r>
              <a:rPr lang="ko-KR" altLang="en-US" dirty="0">
                <a:latin typeface="+mj-ea"/>
                <a:ea typeface="+mj-ea"/>
              </a:rPr>
              <a:t>이전 연구들은 </a:t>
            </a:r>
            <a:r>
              <a:rPr lang="en-US" altLang="ko-KR" dirty="0">
                <a:latin typeface="+mj-ea"/>
                <a:ea typeface="+mj-ea"/>
              </a:rPr>
              <a:t>object</a:t>
            </a:r>
            <a:r>
              <a:rPr lang="ko-KR" altLang="en-US" dirty="0">
                <a:latin typeface="+mj-ea"/>
                <a:ea typeface="+mj-ea"/>
              </a:rPr>
              <a:t>별로 짧은 </a:t>
            </a:r>
            <a:r>
              <a:rPr lang="en-US" altLang="ko-KR" dirty="0">
                <a:latin typeface="+mj-ea"/>
                <a:ea typeface="+mj-ea"/>
              </a:rPr>
              <a:t>caption</a:t>
            </a:r>
            <a:r>
              <a:rPr lang="ko-KR" altLang="en-US" dirty="0">
                <a:latin typeface="+mj-ea"/>
                <a:ea typeface="+mj-ea"/>
              </a:rPr>
              <a:t>을 생성하는데 중점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j-ea"/>
                <a:ea typeface="+mj-ea"/>
              </a:rPr>
              <a:t>	- object</a:t>
            </a:r>
            <a:r>
              <a:rPr lang="ko-KR" altLang="en-US" dirty="0">
                <a:latin typeface="+mj-ea"/>
                <a:ea typeface="+mj-ea"/>
              </a:rPr>
              <a:t>별 짧은 </a:t>
            </a:r>
            <a:r>
              <a:rPr lang="en-US" altLang="ko-KR" dirty="0">
                <a:latin typeface="+mj-ea"/>
                <a:ea typeface="+mj-ea"/>
              </a:rPr>
              <a:t>caption</a:t>
            </a:r>
            <a:r>
              <a:rPr lang="ko-KR" altLang="en-US" dirty="0">
                <a:latin typeface="+mj-ea"/>
                <a:ea typeface="+mj-ea"/>
              </a:rPr>
              <a:t>은 정보가 없고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개별 </a:t>
            </a:r>
            <a:r>
              <a:rPr lang="en-US" altLang="ko-KR" dirty="0">
                <a:latin typeface="+mj-ea"/>
                <a:ea typeface="+mj-ea"/>
              </a:rPr>
              <a:t>object</a:t>
            </a:r>
            <a:r>
              <a:rPr lang="ko-KR" altLang="en-US" dirty="0">
                <a:latin typeface="+mj-ea"/>
                <a:ea typeface="+mj-ea"/>
              </a:rPr>
              <a:t>에 대해서만 초점을 맞춰 </a:t>
            </a:r>
            <a:r>
              <a:rPr lang="en-US" altLang="ko-KR" dirty="0">
                <a:latin typeface="+mj-ea"/>
                <a:ea typeface="+mj-ea"/>
              </a:rPr>
              <a:t>	object</a:t>
            </a:r>
            <a:r>
              <a:rPr lang="ko-KR" altLang="en-US" dirty="0">
                <a:latin typeface="+mj-ea"/>
                <a:ea typeface="+mj-ea"/>
              </a:rPr>
              <a:t>간 연관성이 부족</a:t>
            </a:r>
            <a:endParaRPr lang="en-US" altLang="ko-KR" dirty="0">
              <a:latin typeface="+mj-ea"/>
              <a:ea typeface="+mj-ea"/>
            </a:endParaRPr>
          </a:p>
          <a:p>
            <a:pPr marL="285750" lvl="1" indent="-285750">
              <a:lnSpc>
                <a:spcPct val="150000"/>
              </a:lnSpc>
              <a:buFontTx/>
              <a:buChar char="-"/>
            </a:pPr>
            <a:endParaRPr lang="en-US" altLang="ko-KR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55943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C4B866C6-878A-9030-5994-CF7E8A182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74B512F2-BEFE-CA0D-D975-4A7BB220327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8FCF04E8-1A32-E574-5951-40709AD95D7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1C6724D5-25B3-14DF-AC01-4E89741B9B2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7CB48FD6-A7C2-088C-33EF-8A45968D1A49}"/>
              </a:ext>
            </a:extLst>
          </p:cNvPr>
          <p:cNvSpPr txBox="1"/>
          <p:nvPr/>
        </p:nvSpPr>
        <p:spPr>
          <a:xfrm>
            <a:off x="1408975" y="306875"/>
            <a:ext cx="1665529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Background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520C12-4396-1D21-96B8-1C58FA779243}"/>
              </a:ext>
            </a:extLst>
          </p:cNvPr>
          <p:cNvSpPr txBox="1"/>
          <p:nvPr/>
        </p:nvSpPr>
        <p:spPr>
          <a:xfrm>
            <a:off x="1458981" y="1556087"/>
            <a:ext cx="7570719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+mj-ea"/>
                <a:ea typeface="+mj-ea"/>
              </a:rPr>
              <a:t>해당 연구에서는 </a:t>
            </a:r>
            <a:r>
              <a:rPr lang="en-US" altLang="ko-KR" b="1" dirty="0">
                <a:latin typeface="+mj-ea"/>
                <a:ea typeface="+mj-ea"/>
              </a:rPr>
              <a:t>object</a:t>
            </a:r>
            <a:r>
              <a:rPr lang="ko-KR" altLang="en-US" b="1" dirty="0">
                <a:latin typeface="+mj-ea"/>
                <a:ea typeface="+mj-ea"/>
              </a:rPr>
              <a:t>별 짧은 </a:t>
            </a:r>
            <a:r>
              <a:rPr lang="en-US" altLang="ko-KR" b="1" dirty="0">
                <a:latin typeface="+mj-ea"/>
                <a:ea typeface="+mj-ea"/>
              </a:rPr>
              <a:t>caption </a:t>
            </a:r>
            <a:r>
              <a:rPr lang="ko-KR" altLang="en-US" b="1" dirty="0">
                <a:latin typeface="+mj-ea"/>
                <a:ea typeface="+mj-ea"/>
              </a:rPr>
              <a:t>대신 이미지 전체에 대한 길고 상세한 </a:t>
            </a:r>
            <a:r>
              <a:rPr lang="en-US" altLang="ko-KR" b="1" dirty="0">
                <a:latin typeface="+mj-ea"/>
                <a:ea typeface="+mj-ea"/>
              </a:rPr>
              <a:t>caption</a:t>
            </a:r>
            <a:r>
              <a:rPr lang="ko-KR" altLang="en-US" b="1" dirty="0">
                <a:latin typeface="+mj-ea"/>
                <a:ea typeface="+mj-ea"/>
              </a:rPr>
              <a:t>을 사용하면 </a:t>
            </a:r>
            <a:r>
              <a:rPr lang="en-US" altLang="ko-KR" b="1" dirty="0">
                <a:latin typeface="+mj-ea"/>
                <a:ea typeface="+mj-ea"/>
              </a:rPr>
              <a:t>OVD </a:t>
            </a:r>
            <a:r>
              <a:rPr lang="ko-KR" altLang="en-US" b="1" dirty="0">
                <a:latin typeface="+mj-ea"/>
                <a:ea typeface="+mj-ea"/>
              </a:rPr>
              <a:t>성능을 향상시킬 수 있지 않을까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r>
              <a:rPr lang="ko-KR" altLang="en-US" b="1" dirty="0">
                <a:latin typeface="+mj-ea"/>
                <a:ea typeface="+mj-ea"/>
              </a:rPr>
              <a:t>라는 생각으로 확장</a:t>
            </a:r>
            <a:endParaRPr lang="en-US" altLang="ko-KR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7453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D45A9475-C176-CDE4-FEA8-157CC0EA0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4BD337C6-DBB3-946E-DBF6-EDE4BD740B88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1FD7D664-CAC8-5D63-50E9-6EAA4959FCA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73D764B2-5D9F-24BD-E205-71FEC14A95F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A8D593E9-0654-E6E8-7650-082C4CA61F4A}"/>
              </a:ext>
            </a:extLst>
          </p:cNvPr>
          <p:cNvSpPr txBox="1"/>
          <p:nvPr/>
        </p:nvSpPr>
        <p:spPr>
          <a:xfrm>
            <a:off x="1408975" y="306875"/>
            <a:ext cx="1665529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LLMDet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D00422-3BDC-5CA6-69DB-F0FEF7D2DB00}"/>
              </a:ext>
            </a:extLst>
          </p:cNvPr>
          <p:cNvSpPr txBox="1"/>
          <p:nvPr/>
        </p:nvSpPr>
        <p:spPr>
          <a:xfrm>
            <a:off x="1458981" y="941721"/>
            <a:ext cx="7570719" cy="295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j-ea"/>
                <a:ea typeface="+mj-ea"/>
              </a:rPr>
              <a:t>Image-level</a:t>
            </a:r>
            <a:r>
              <a:rPr lang="ko-KR" altLang="en-US" b="1" dirty="0">
                <a:latin typeface="+mj-ea"/>
                <a:ea typeface="+mj-ea"/>
              </a:rPr>
              <a:t>의 길고 상세한 </a:t>
            </a:r>
            <a:r>
              <a:rPr lang="en-US" altLang="ko-KR" b="1" dirty="0">
                <a:latin typeface="+mj-ea"/>
                <a:ea typeface="+mj-ea"/>
              </a:rPr>
              <a:t>caption </a:t>
            </a:r>
            <a:r>
              <a:rPr lang="ko-KR" altLang="en-US" b="1" dirty="0">
                <a:latin typeface="+mj-ea"/>
                <a:ea typeface="+mj-ea"/>
              </a:rPr>
              <a:t>생성은 </a:t>
            </a:r>
            <a:r>
              <a:rPr lang="en-US" altLang="ko-KR" b="1" dirty="0">
                <a:latin typeface="+mj-ea"/>
                <a:ea typeface="+mj-ea"/>
              </a:rPr>
              <a:t>OVD</a:t>
            </a:r>
            <a:r>
              <a:rPr lang="ko-KR" altLang="en-US" b="1" dirty="0">
                <a:latin typeface="+mj-ea"/>
                <a:ea typeface="+mj-ea"/>
              </a:rPr>
              <a:t>에 더 풍부한 성능을 제공</a:t>
            </a:r>
            <a:endParaRPr lang="en-US" altLang="ko-KR" b="1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+mj-ea"/>
                <a:ea typeface="+mj-ea"/>
              </a:rPr>
              <a:t>1. </a:t>
            </a:r>
            <a:r>
              <a:rPr lang="ko-KR" altLang="en-US" b="1" dirty="0">
                <a:latin typeface="+mj-ea"/>
                <a:ea typeface="+mj-ea"/>
              </a:rPr>
              <a:t>풍부한 세부 정보</a:t>
            </a:r>
            <a:endParaRPr lang="en-US" altLang="ko-KR" b="1" dirty="0">
              <a:latin typeface="+mj-ea"/>
              <a:ea typeface="+mj-ea"/>
            </a:endParaRPr>
          </a:p>
          <a:p>
            <a:pPr lvl="2">
              <a:lnSpc>
                <a:spcPct val="150000"/>
              </a:lnSpc>
            </a:pPr>
            <a:r>
              <a:rPr lang="en-US" altLang="ko-KR" dirty="0">
                <a:latin typeface="+mj-ea"/>
                <a:ea typeface="+mj-ea"/>
              </a:rPr>
              <a:t>	</a:t>
            </a:r>
            <a:r>
              <a:rPr lang="ko-KR" altLang="en-US" dirty="0">
                <a:latin typeface="+mj-ea"/>
                <a:ea typeface="+mj-ea"/>
              </a:rPr>
              <a:t>긴 </a:t>
            </a:r>
            <a:r>
              <a:rPr lang="en-US" altLang="ko-KR" dirty="0">
                <a:latin typeface="+mj-ea"/>
                <a:ea typeface="+mj-ea"/>
              </a:rPr>
              <a:t>caption</a:t>
            </a:r>
            <a:r>
              <a:rPr lang="ko-KR" altLang="en-US" dirty="0">
                <a:latin typeface="+mj-ea"/>
                <a:ea typeface="+mj-ea"/>
              </a:rPr>
              <a:t>은 </a:t>
            </a:r>
            <a:r>
              <a:rPr lang="en-US" altLang="ko-KR" dirty="0">
                <a:latin typeface="+mj-ea"/>
                <a:ea typeface="+mj-ea"/>
              </a:rPr>
              <a:t>object</a:t>
            </a:r>
            <a:r>
              <a:rPr lang="ko-KR" altLang="en-US" dirty="0">
                <a:latin typeface="+mj-ea"/>
                <a:ea typeface="+mj-ea"/>
              </a:rPr>
              <a:t>의 유형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질감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색상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행동 등 풍부한 시각적 세부 정보를 포함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+mj-ea"/>
                <a:ea typeface="+mj-ea"/>
              </a:rPr>
              <a:t>2. </a:t>
            </a:r>
            <a:r>
              <a:rPr lang="ko-KR" altLang="en-US" b="1" dirty="0">
                <a:latin typeface="+mj-ea"/>
                <a:ea typeface="+mj-ea"/>
              </a:rPr>
              <a:t>종합적인 이해</a:t>
            </a:r>
            <a:endParaRPr lang="en-US" altLang="ko-KR" b="1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j-ea"/>
                <a:ea typeface="+mj-ea"/>
              </a:rPr>
              <a:t>	Image-level</a:t>
            </a:r>
            <a:r>
              <a:rPr lang="ko-KR" altLang="en-US" dirty="0">
                <a:latin typeface="+mj-ea"/>
                <a:ea typeface="+mj-ea"/>
              </a:rPr>
              <a:t>의 </a:t>
            </a:r>
            <a:r>
              <a:rPr lang="en-US" altLang="ko-KR" dirty="0">
                <a:latin typeface="+mj-ea"/>
                <a:ea typeface="+mj-ea"/>
              </a:rPr>
              <a:t>caption </a:t>
            </a:r>
            <a:r>
              <a:rPr lang="ko-KR" altLang="en-US" dirty="0">
                <a:latin typeface="+mj-ea"/>
                <a:ea typeface="+mj-ea"/>
              </a:rPr>
              <a:t>생성은 </a:t>
            </a:r>
            <a:r>
              <a:rPr lang="en-US" altLang="ko-KR" dirty="0">
                <a:latin typeface="+mj-ea"/>
                <a:ea typeface="+mj-ea"/>
              </a:rPr>
              <a:t>foreground object, background, object</a:t>
            </a:r>
            <a:r>
              <a:rPr lang="ko-KR" altLang="en-US" dirty="0">
                <a:latin typeface="+mj-ea"/>
                <a:ea typeface="+mj-ea"/>
              </a:rPr>
              <a:t>간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j-ea"/>
                <a:ea typeface="+mj-ea"/>
              </a:rPr>
              <a:t>	</a:t>
            </a:r>
            <a:r>
              <a:rPr lang="ko-KR" altLang="en-US" dirty="0">
                <a:latin typeface="+mj-ea"/>
                <a:ea typeface="+mj-ea"/>
              </a:rPr>
              <a:t>관계를 모델링하여 단인 </a:t>
            </a:r>
            <a:r>
              <a:rPr lang="en-US" altLang="ko-KR" dirty="0">
                <a:latin typeface="+mj-ea"/>
                <a:ea typeface="+mj-ea"/>
              </a:rPr>
              <a:t>object caption</a:t>
            </a:r>
            <a:r>
              <a:rPr lang="ko-KR" altLang="en-US" dirty="0">
                <a:latin typeface="+mj-ea"/>
                <a:ea typeface="+mj-ea"/>
              </a:rPr>
              <a:t>보다 포괄적인 이해를 제공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+mj-ea"/>
                <a:ea typeface="+mj-ea"/>
              </a:rPr>
              <a:t>3. LLM</a:t>
            </a:r>
            <a:r>
              <a:rPr lang="ko-KR" altLang="en-US" b="1" dirty="0">
                <a:latin typeface="+mj-ea"/>
                <a:ea typeface="+mj-ea"/>
              </a:rPr>
              <a:t>의 활용</a:t>
            </a:r>
            <a:endParaRPr lang="en-US" altLang="ko-KR" b="1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+mj-ea"/>
                <a:ea typeface="+mj-ea"/>
              </a:rPr>
              <a:t>	</a:t>
            </a:r>
            <a:r>
              <a:rPr lang="en-US" altLang="ko-KR" dirty="0">
                <a:latin typeface="+mj-ea"/>
                <a:ea typeface="+mj-ea"/>
              </a:rPr>
              <a:t>LLM</a:t>
            </a:r>
            <a:r>
              <a:rPr lang="ko-KR" altLang="en-US" dirty="0">
                <a:latin typeface="+mj-ea"/>
                <a:ea typeface="+mj-ea"/>
              </a:rPr>
              <a:t>은 자연스럽게 </a:t>
            </a:r>
            <a:r>
              <a:rPr lang="en-US" altLang="ko-KR" dirty="0">
                <a:latin typeface="+mj-ea"/>
                <a:ea typeface="+mj-ea"/>
              </a:rPr>
              <a:t>Open-Vocabulary </a:t>
            </a:r>
            <a:r>
              <a:rPr lang="ko-KR" altLang="en-US" dirty="0">
                <a:latin typeface="+mj-ea"/>
                <a:ea typeface="+mj-ea"/>
              </a:rPr>
              <a:t>능력을 가지고 있어 </a:t>
            </a:r>
            <a:r>
              <a:rPr lang="en-US" altLang="ko-KR" dirty="0">
                <a:latin typeface="+mj-ea"/>
                <a:ea typeface="+mj-ea"/>
              </a:rPr>
              <a:t>LLM</a:t>
            </a:r>
            <a:r>
              <a:rPr lang="ko-KR" altLang="en-US" dirty="0">
                <a:latin typeface="+mj-ea"/>
                <a:ea typeface="+mj-ea"/>
              </a:rPr>
              <a:t>과 </a:t>
            </a:r>
            <a:r>
              <a:rPr lang="en-US" altLang="ko-KR" dirty="0">
                <a:latin typeface="+mj-ea"/>
                <a:ea typeface="+mj-ea"/>
              </a:rPr>
              <a:t>detector</a:t>
            </a:r>
            <a:r>
              <a:rPr lang="ko-KR" altLang="en-US" dirty="0">
                <a:latin typeface="+mj-ea"/>
                <a:ea typeface="+mj-ea"/>
              </a:rPr>
              <a:t>을 </a:t>
            </a:r>
            <a:r>
              <a:rPr lang="en-US" altLang="ko-KR" dirty="0">
                <a:latin typeface="+mj-ea"/>
                <a:ea typeface="+mj-ea"/>
              </a:rPr>
              <a:t>	align </a:t>
            </a:r>
            <a:r>
              <a:rPr lang="ko-KR" altLang="en-US" dirty="0">
                <a:latin typeface="+mj-ea"/>
                <a:ea typeface="+mj-ea"/>
              </a:rPr>
              <a:t>시킴으로써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강력한 일반화 능력을 받을 수 있음</a:t>
            </a:r>
            <a:endParaRPr lang="en-US" altLang="ko-KR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1031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2DA673CA-6356-63D5-B0F1-22FFAB70B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66212459-49D4-4B74-B9DE-31F5D5D90358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58606232-4AB0-6DD5-7529-FB3F282C357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DA3102DA-00AF-7BDF-5E1A-2FB24812B05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0395D3C1-F748-44FE-C082-C46EA08A3FAB}"/>
              </a:ext>
            </a:extLst>
          </p:cNvPr>
          <p:cNvSpPr txBox="1"/>
          <p:nvPr/>
        </p:nvSpPr>
        <p:spPr>
          <a:xfrm>
            <a:off x="1408975" y="306875"/>
            <a:ext cx="1665529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Architecture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FF33AF4-8B34-B847-D79F-41C89D72D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0289" y="1383156"/>
            <a:ext cx="5907836" cy="273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761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E4DE34F2-B415-19A5-5266-913B0C3B8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219F1B8A-C3DA-221E-AB92-C2BD1A0C8DD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3A639F98-89D1-F21C-752C-056D014A7A9E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0D50CD8D-D6C2-3F36-FA31-EE298B1D3A8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9BBF35B8-F161-DECA-71E4-509002BB7723}"/>
              </a:ext>
            </a:extLst>
          </p:cNvPr>
          <p:cNvSpPr txBox="1"/>
          <p:nvPr/>
        </p:nvSpPr>
        <p:spPr>
          <a:xfrm>
            <a:off x="1408975" y="306875"/>
            <a:ext cx="1665529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Pipeline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F30E8A-FA96-12F0-8C35-FA4A07785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6363" y="867066"/>
            <a:ext cx="3171271" cy="22861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440A87-77C6-79C9-D28A-2DFE8955EE86}"/>
              </a:ext>
            </a:extLst>
          </p:cNvPr>
          <p:cNvSpPr txBox="1"/>
          <p:nvPr/>
        </p:nvSpPr>
        <p:spPr>
          <a:xfrm>
            <a:off x="1408975" y="3279508"/>
            <a:ext cx="7570719" cy="1343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j-ea"/>
                <a:ea typeface="+mj-ea"/>
              </a:rPr>
              <a:t>Step 1: Alignment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+mj-ea"/>
                <a:ea typeface="+mj-ea"/>
              </a:rPr>
              <a:t>Detector</a:t>
            </a:r>
            <a:r>
              <a:rPr lang="ko-KR" altLang="en-US" dirty="0">
                <a:latin typeface="+mj-ea"/>
                <a:ea typeface="+mj-ea"/>
              </a:rPr>
              <a:t>의 </a:t>
            </a:r>
            <a:r>
              <a:rPr lang="en-US" altLang="ko-KR" dirty="0">
                <a:latin typeface="+mj-ea"/>
                <a:ea typeface="+mj-ea"/>
              </a:rPr>
              <a:t>feature</a:t>
            </a:r>
            <a:r>
              <a:rPr lang="ko-KR" altLang="en-US" dirty="0">
                <a:latin typeface="+mj-ea"/>
                <a:ea typeface="+mj-ea"/>
              </a:rPr>
              <a:t>을 </a:t>
            </a:r>
            <a:r>
              <a:rPr lang="en-US" altLang="ko-KR" dirty="0">
                <a:latin typeface="+mj-ea"/>
                <a:ea typeface="+mj-ea"/>
              </a:rPr>
              <a:t>LLM</a:t>
            </a:r>
            <a:r>
              <a:rPr lang="ko-KR" altLang="en-US" dirty="0">
                <a:latin typeface="+mj-ea"/>
                <a:ea typeface="+mj-ea"/>
              </a:rPr>
              <a:t>의 </a:t>
            </a:r>
            <a:r>
              <a:rPr lang="en-US" altLang="ko-KR" dirty="0">
                <a:latin typeface="+mj-ea"/>
                <a:ea typeface="+mj-ea"/>
              </a:rPr>
              <a:t>input space</a:t>
            </a:r>
            <a:r>
              <a:rPr lang="ko-KR" altLang="en-US" dirty="0">
                <a:latin typeface="+mj-ea"/>
                <a:ea typeface="+mj-ea"/>
              </a:rPr>
              <a:t>와 </a:t>
            </a:r>
            <a:r>
              <a:rPr lang="en-US" altLang="ko-KR" dirty="0">
                <a:latin typeface="+mj-ea"/>
                <a:ea typeface="+mj-ea"/>
              </a:rPr>
              <a:t>align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+mj-ea"/>
                <a:ea typeface="+mj-ea"/>
              </a:rPr>
              <a:t>Step 2: Training </a:t>
            </a:r>
            <a:r>
              <a:rPr lang="en-US" altLang="ko-KR" b="1" dirty="0" err="1">
                <a:latin typeface="+mj-ea"/>
                <a:ea typeface="+mj-ea"/>
              </a:rPr>
              <a:t>LLMDet</a:t>
            </a:r>
            <a:endParaRPr lang="en-US" altLang="ko-KR" b="1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+mj-ea"/>
                <a:ea typeface="+mj-ea"/>
              </a:rPr>
              <a:t>Detector</a:t>
            </a:r>
            <a:r>
              <a:rPr lang="ko-KR" altLang="en-US" dirty="0">
                <a:latin typeface="+mj-ea"/>
                <a:ea typeface="+mj-ea"/>
              </a:rPr>
              <a:t>을 </a:t>
            </a:r>
            <a:r>
              <a:rPr lang="en-US" altLang="ko-KR" dirty="0">
                <a:latin typeface="+mj-ea"/>
                <a:ea typeface="+mj-ea"/>
              </a:rPr>
              <a:t>LLM</a:t>
            </a:r>
            <a:r>
              <a:rPr lang="ko-KR" altLang="en-US" dirty="0">
                <a:latin typeface="+mj-ea"/>
                <a:ea typeface="+mj-ea"/>
              </a:rPr>
              <a:t>의 </a:t>
            </a:r>
            <a:r>
              <a:rPr lang="en-US" altLang="ko-KR" dirty="0">
                <a:latin typeface="+mj-ea"/>
                <a:ea typeface="+mj-ea"/>
              </a:rPr>
              <a:t>supervised</a:t>
            </a:r>
            <a:r>
              <a:rPr lang="ko-KR" altLang="en-US" dirty="0">
                <a:latin typeface="+mj-ea"/>
                <a:ea typeface="+mj-ea"/>
              </a:rPr>
              <a:t>하에 </a:t>
            </a:r>
            <a:r>
              <a:rPr lang="en-US" altLang="ko-KR" dirty="0">
                <a:latin typeface="+mj-ea"/>
                <a:ea typeface="+mj-ea"/>
              </a:rPr>
              <a:t>fine-tuning</a:t>
            </a:r>
          </a:p>
        </p:txBody>
      </p:sp>
    </p:spTree>
    <p:extLst>
      <p:ext uri="{BB962C8B-B14F-4D97-AF65-F5344CB8AC3E}">
        <p14:creationId xmlns:p14="http://schemas.microsoft.com/office/powerpoint/2010/main" val="1496815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E3404863-7D55-55FE-B5BA-CDF75039D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3504E301-374D-83CC-3D44-F2EAC41474D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B6CE134F-8D85-4410-D8C4-73CE2A30C02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5656A53E-CA37-F582-5188-2718575835B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6019E84B-436F-58A0-827F-14412DDEF992}"/>
              </a:ext>
            </a:extLst>
          </p:cNvPr>
          <p:cNvSpPr txBox="1"/>
          <p:nvPr/>
        </p:nvSpPr>
        <p:spPr>
          <a:xfrm>
            <a:off x="1408975" y="306875"/>
            <a:ext cx="1665529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Loss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36017B-2503-2901-C281-8363827FBDF1}"/>
              </a:ext>
            </a:extLst>
          </p:cNvPr>
          <p:cNvSpPr txBox="1"/>
          <p:nvPr/>
        </p:nvSpPr>
        <p:spPr>
          <a:xfrm>
            <a:off x="1638009" y="1900059"/>
            <a:ext cx="7570719" cy="1989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j-ea"/>
                <a:ea typeface="+mj-ea"/>
              </a:rPr>
              <a:t>1. Grounding Loss</a:t>
            </a:r>
          </a:p>
          <a:p>
            <a:pPr marL="285750" lvl="1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+mj-ea"/>
                <a:ea typeface="+mj-ea"/>
              </a:rPr>
              <a:t>표준 </a:t>
            </a:r>
            <a:r>
              <a:rPr lang="en-US" altLang="ko-KR" dirty="0">
                <a:latin typeface="+mj-ea"/>
                <a:ea typeface="+mj-ea"/>
              </a:rPr>
              <a:t>OVD</a:t>
            </a:r>
            <a:r>
              <a:rPr lang="ko-KR" altLang="en-US" dirty="0">
                <a:latin typeface="+mj-ea"/>
                <a:ea typeface="+mj-ea"/>
              </a:rPr>
              <a:t>의 </a:t>
            </a:r>
            <a:r>
              <a:rPr lang="en-US" altLang="ko-KR" dirty="0">
                <a:latin typeface="+mj-ea"/>
                <a:ea typeface="+mj-ea"/>
              </a:rPr>
              <a:t>word-region align </a:t>
            </a:r>
            <a:r>
              <a:rPr lang="ko-KR" altLang="en-US" dirty="0">
                <a:latin typeface="+mj-ea"/>
                <a:ea typeface="+mj-ea"/>
              </a:rPr>
              <a:t>및 </a:t>
            </a:r>
            <a:r>
              <a:rPr lang="en-US" altLang="ko-KR" dirty="0">
                <a:latin typeface="+mj-ea"/>
                <a:ea typeface="+mj-ea"/>
              </a:rPr>
              <a:t>bounding box regression loss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+mj-ea"/>
                <a:ea typeface="+mj-ea"/>
              </a:rPr>
              <a:t>2. Image-Level caption Loss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+mj-ea"/>
                <a:ea typeface="+mj-ea"/>
              </a:rPr>
              <a:t>Detector </a:t>
            </a:r>
            <a:r>
              <a:rPr lang="ko-KR" altLang="en-US" dirty="0">
                <a:latin typeface="+mj-ea"/>
                <a:ea typeface="+mj-ea"/>
              </a:rPr>
              <a:t>전체 </a:t>
            </a:r>
            <a:r>
              <a:rPr lang="en-US" altLang="ko-KR" dirty="0">
                <a:latin typeface="+mj-ea"/>
                <a:ea typeface="+mj-ea"/>
              </a:rPr>
              <a:t>feature map</a:t>
            </a:r>
            <a:r>
              <a:rPr lang="ko-KR" altLang="en-US" dirty="0">
                <a:latin typeface="+mj-ea"/>
                <a:ea typeface="+mj-ea"/>
              </a:rPr>
              <a:t>을 입력으로 받고 상세한 </a:t>
            </a:r>
            <a:r>
              <a:rPr lang="en-US" altLang="ko-KR" dirty="0">
                <a:latin typeface="+mj-ea"/>
                <a:ea typeface="+mj-ea"/>
              </a:rPr>
              <a:t>image caption </a:t>
            </a:r>
            <a:r>
              <a:rPr lang="ko-KR" altLang="en-US" dirty="0">
                <a:latin typeface="+mj-ea"/>
                <a:ea typeface="+mj-ea"/>
              </a:rPr>
              <a:t>생성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+mj-ea"/>
                <a:ea typeface="+mj-ea"/>
              </a:rPr>
              <a:t>3. Region-Level caption Loss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+mj-ea"/>
                <a:ea typeface="+mj-ea"/>
              </a:rPr>
              <a:t>Detector</a:t>
            </a:r>
            <a:r>
              <a:rPr lang="ko-KR" altLang="en-US" dirty="0">
                <a:latin typeface="+mj-ea"/>
                <a:ea typeface="+mj-ea"/>
              </a:rPr>
              <a:t>의 개별 </a:t>
            </a:r>
            <a:r>
              <a:rPr lang="en-US" altLang="ko-KR" dirty="0">
                <a:latin typeface="+mj-ea"/>
                <a:ea typeface="+mj-ea"/>
              </a:rPr>
              <a:t>object query</a:t>
            </a:r>
            <a:r>
              <a:rPr lang="ko-KR" altLang="en-US" dirty="0">
                <a:latin typeface="+mj-ea"/>
                <a:ea typeface="+mj-ea"/>
              </a:rPr>
              <a:t>을 입력으로 받고 각 </a:t>
            </a:r>
            <a:r>
              <a:rPr lang="en-US" altLang="ko-KR" dirty="0">
                <a:latin typeface="+mj-ea"/>
                <a:ea typeface="+mj-ea"/>
              </a:rPr>
              <a:t>query</a:t>
            </a:r>
            <a:r>
              <a:rPr lang="ko-KR" altLang="en-US" dirty="0">
                <a:latin typeface="+mj-ea"/>
                <a:ea typeface="+mj-ea"/>
              </a:rPr>
              <a:t>에 대해 </a:t>
            </a:r>
            <a:r>
              <a:rPr lang="en-US" altLang="ko-KR" dirty="0">
                <a:latin typeface="+mj-ea"/>
                <a:ea typeface="+mj-ea"/>
              </a:rPr>
              <a:t>grounding </a:t>
            </a:r>
            <a:r>
              <a:rPr lang="ko-KR" altLang="en-US" dirty="0">
                <a:latin typeface="+mj-ea"/>
                <a:ea typeface="+mj-ea"/>
              </a:rPr>
              <a:t>구 생성</a:t>
            </a:r>
            <a:endParaRPr lang="en-US" altLang="ko-KR" dirty="0">
              <a:latin typeface="+mj-ea"/>
              <a:ea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E39A5DA-5797-F126-597C-005B822CF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009" y="1055550"/>
            <a:ext cx="2872989" cy="3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14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8DA29F9C-2CC3-0EAE-11E2-4C218C662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FF6BAEC8-68D1-0105-08C0-45AB84074E7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2E2F0BFC-9802-7C0D-93E3-34506EAEB07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4EF00421-A4C7-6619-E35A-E1A9DFE51A5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01E488B7-2AAD-5D22-569B-A5BED46561F7}"/>
              </a:ext>
            </a:extLst>
          </p:cNvPr>
          <p:cNvSpPr txBox="1"/>
          <p:nvPr/>
        </p:nvSpPr>
        <p:spPr>
          <a:xfrm>
            <a:off x="1408975" y="306875"/>
            <a:ext cx="1665529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Benchmark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993312-6DFC-1290-D166-7AF4DDAA9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596" y="1002616"/>
            <a:ext cx="6018261" cy="356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2624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305</Words>
  <Application>Microsoft Office PowerPoint</Application>
  <PresentationFormat>화면 슬라이드 쇼(16:9)</PresentationFormat>
  <Paragraphs>54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NanumGothic ExtraBold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배동혁</dc:creator>
  <cp:lastModifiedBy>현수 김</cp:lastModifiedBy>
  <cp:revision>35</cp:revision>
  <dcterms:modified xsi:type="dcterms:W3CDTF">2025-10-27T07:07:48Z</dcterms:modified>
  <cp:version/>
</cp:coreProperties>
</file>