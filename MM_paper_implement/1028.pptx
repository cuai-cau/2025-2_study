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7"/>
  </p:notesMasterIdLst>
  <p:sldIdLst>
    <p:sldId id="256" r:id="rId2"/>
    <p:sldId id="260" r:id="rId3"/>
    <p:sldId id="262" r:id="rId4"/>
    <p:sldId id="263" r:id="rId5"/>
    <p:sldId id="264" r:id="rId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60B8AC-4C5C-4DF0-8B1A-9E0F34C2E0C1}" v="736" dt="2025-10-27T13:26:03.5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A7D7F90C-7890-E104-12E5-1BD3D4AA5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>
            <a:extLst>
              <a:ext uri="{FF2B5EF4-FFF2-40B4-BE49-F238E27FC236}">
                <a16:creationId xmlns:a16="http://schemas.microsoft.com/office/drawing/2014/main" id="{DEEC070C-AC40-775D-2C6F-AD1ACD3AF1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>
            <a:extLst>
              <a:ext uri="{FF2B5EF4-FFF2-40B4-BE49-F238E27FC236}">
                <a16:creationId xmlns:a16="http://schemas.microsoft.com/office/drawing/2014/main" id="{8AE2236A-7897-433A-69A1-06480B24A1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33580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50FD2D37-D21E-4A76-15EB-E169D49A9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>
            <a:extLst>
              <a:ext uri="{FF2B5EF4-FFF2-40B4-BE49-F238E27FC236}">
                <a16:creationId xmlns:a16="http://schemas.microsoft.com/office/drawing/2014/main" id="{EF4F37A9-BB8F-8B14-3567-DA2CFBBCE7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>
            <a:extLst>
              <a:ext uri="{FF2B5EF4-FFF2-40B4-BE49-F238E27FC236}">
                <a16:creationId xmlns:a16="http://schemas.microsoft.com/office/drawing/2014/main" id="{0859FB35-A578-B6EC-DF44-37146F97D7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90000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1C0B5120-D0F3-8344-F96C-6B00DC07A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>
            <a:extLst>
              <a:ext uri="{FF2B5EF4-FFF2-40B4-BE49-F238E27FC236}">
                <a16:creationId xmlns:a16="http://schemas.microsoft.com/office/drawing/2014/main" id="{A9CACC14-8366-9726-FD76-153B75C362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>
            <a:extLst>
              <a:ext uri="{FF2B5EF4-FFF2-40B4-BE49-F238E27FC236}">
                <a16:creationId xmlns:a16="http://schemas.microsoft.com/office/drawing/2014/main" id="{503E615C-9022-D489-D277-51E35A38BF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37420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4748AE06-110C-64E0-BA1E-00688F82E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18d7eca593_0_21:notes">
            <a:extLst>
              <a:ext uri="{FF2B5EF4-FFF2-40B4-BE49-F238E27FC236}">
                <a16:creationId xmlns:a16="http://schemas.microsoft.com/office/drawing/2014/main" id="{3A6764F8-54BC-BB61-FEB7-981C9CFD18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18d7eca593_0_21:notes">
            <a:extLst>
              <a:ext uri="{FF2B5EF4-FFF2-40B4-BE49-F238E27FC236}">
                <a16:creationId xmlns:a16="http://schemas.microsoft.com/office/drawing/2014/main" id="{EA4583E8-F48C-F270-2D84-DCBDB07769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368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T</a:t>
            </a:r>
            <a:endParaRPr/>
          </a:p>
        </p:txBody>
      </p:sp>
      <p:sp>
        <p:nvSpPr>
          <p:cNvPr id="55" name="Google Shape;55;p13"/>
          <p:cNvSpPr txBox="1"/>
          <p:nvPr/>
        </p:nvSpPr>
        <p:spPr>
          <a:xfrm>
            <a:off x="1339750" y="2710050"/>
            <a:ext cx="4979400" cy="1565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ko" sz="2500" b="1">
                <a:solidFill>
                  <a:srgbClr val="19264B"/>
                </a:solidFill>
              </a:rPr>
              <a:t>CUAI </a:t>
            </a:r>
            <a:r>
              <a:rPr lang="ko-KR" altLang="en-US" sz="2500" b="1">
                <a:solidFill>
                  <a:srgbClr val="19264B"/>
                </a:solidFill>
              </a:rPr>
              <a:t> 논문 구현 스터디 </a:t>
            </a:r>
            <a:r>
              <a:rPr lang="en-US" altLang="ko-KR" sz="2500" b="1">
                <a:solidFill>
                  <a:srgbClr val="19264B"/>
                </a:solidFill>
              </a:rPr>
              <a:t>MM</a:t>
            </a:r>
            <a:endParaRPr lang="ko" altLang="en-US" sz="2500" b="1">
              <a:solidFill>
                <a:srgbClr val="19264B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">
                <a:solidFill>
                  <a:srgbClr val="19264B"/>
                </a:solidFill>
              </a:rPr>
              <a:t>2025.10.28</a:t>
            </a:r>
            <a:endParaRPr>
              <a:solidFill>
                <a:srgbClr val="19264B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19264B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19264B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19264B"/>
                </a:solidFill>
              </a:rPr>
              <a:t>발표자 : </a:t>
            </a:r>
            <a:r>
              <a:rPr lang="ko-KR" altLang="en-US" sz="1100">
                <a:solidFill>
                  <a:srgbClr val="19264B"/>
                </a:solidFill>
              </a:rPr>
              <a:t>오석준 </a:t>
            </a:r>
            <a:endParaRPr sz="1100">
              <a:solidFill>
                <a:srgbClr val="19264B"/>
              </a:solidFill>
            </a:endParaRPr>
          </a:p>
        </p:txBody>
      </p:sp>
      <p:cxnSp>
        <p:nvCxnSpPr>
          <p:cNvPr id="56" name="Google Shape;56;p13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7" name="Google Shape;5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15008C51-50DF-BA46-9830-1707A25AB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0CD606A9-1E64-AD4F-0960-03B78B92B652}"/>
              </a:ext>
            </a:extLst>
          </p:cNvPr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3" name="Google Shape;73;p15">
            <a:extLst>
              <a:ext uri="{FF2B5EF4-FFF2-40B4-BE49-F238E27FC236}">
                <a16:creationId xmlns:a16="http://schemas.microsoft.com/office/drawing/2014/main" id="{1FB9F173-19C6-1048-23A0-B4AD29B15822}"/>
              </a:ext>
            </a:extLst>
          </p:cNvPr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7B55C02F-3449-8EC8-0175-7BC28F420D0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66DAF7EE-7419-8DA1-DFCE-A801466393CC}"/>
              </a:ext>
            </a:extLst>
          </p:cNvPr>
          <p:cNvSpPr txBox="1"/>
          <p:nvPr/>
        </p:nvSpPr>
        <p:spPr>
          <a:xfrm>
            <a:off x="1353975" y="225100"/>
            <a:ext cx="4979400" cy="8925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200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</a:rPr>
              <a:t>활동 방법 </a:t>
            </a:r>
            <a:endParaRPr lang="en-US" altLang="ko-KR" sz="2000">
              <a:solidFill>
                <a:srgbClr val="19264B"/>
              </a:solidFill>
              <a:latin typeface="NanumGothic ExtraBold"/>
              <a:ea typeface="NanumGothic ExtraBold"/>
              <a:cs typeface="NanumGothic ExtraBold"/>
            </a:endParaRPr>
          </a:p>
          <a:p>
            <a:pPr>
              <a:lnSpc>
                <a:spcPct val="115000"/>
              </a:lnSpc>
            </a:pPr>
            <a:endParaRPr lang="ko" altLang="en-US" sz="2000">
              <a:solidFill>
                <a:srgbClr val="19264B"/>
              </a:solidFill>
              <a:latin typeface="NanumGothic ExtraBold"/>
              <a:ea typeface="NanumGothic ExtraBold"/>
              <a:cs typeface="NanumGothic ExtraBo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DA2FE6-5863-BEC5-E872-960322C91E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542" y="763679"/>
            <a:ext cx="6967202" cy="3924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524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6FC79AAC-B45F-66D0-32FD-AC3C21C50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DA0BD332-7D30-40AF-2BAD-03D6B213EF82}"/>
              </a:ext>
            </a:extLst>
          </p:cNvPr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3" name="Google Shape;73;p15">
            <a:extLst>
              <a:ext uri="{FF2B5EF4-FFF2-40B4-BE49-F238E27FC236}">
                <a16:creationId xmlns:a16="http://schemas.microsoft.com/office/drawing/2014/main" id="{29349FED-015C-C88B-F8CF-03BF453559BD}"/>
              </a:ext>
            </a:extLst>
          </p:cNvPr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8E1625ED-EEA1-2BD7-F671-E9546250BCE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00B4E11F-D593-4623-2EAB-29DFB66956B4}"/>
              </a:ext>
            </a:extLst>
          </p:cNvPr>
          <p:cNvSpPr txBox="1"/>
          <p:nvPr/>
        </p:nvSpPr>
        <p:spPr>
          <a:xfrm>
            <a:off x="1353975" y="225100"/>
            <a:ext cx="4979400" cy="8925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200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</a:rPr>
              <a:t> </a:t>
            </a:r>
            <a:endParaRPr lang="en-US" altLang="ko-KR" sz="2000">
              <a:solidFill>
                <a:srgbClr val="19264B"/>
              </a:solidFill>
              <a:latin typeface="NanumGothic ExtraBold"/>
              <a:ea typeface="NanumGothic ExtraBold"/>
              <a:cs typeface="NanumGothic ExtraBold"/>
            </a:endParaRPr>
          </a:p>
          <a:p>
            <a:pPr>
              <a:lnSpc>
                <a:spcPct val="115000"/>
              </a:lnSpc>
            </a:pPr>
            <a:endParaRPr lang="ko" altLang="en-US" sz="2000">
              <a:solidFill>
                <a:srgbClr val="19264B"/>
              </a:solidFill>
              <a:latin typeface="NanumGothic ExtraBold"/>
              <a:ea typeface="NanumGothic ExtraBold"/>
              <a:cs typeface="NanumGothic ExtraBold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CBBBA6-F8EB-46FF-6FF1-C8632F7730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" y="406375"/>
            <a:ext cx="7060316" cy="32558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0CFA99-E4E7-6515-F2A0-173E6541AFD7}"/>
              </a:ext>
            </a:extLst>
          </p:cNvPr>
          <p:cNvSpPr txBox="1"/>
          <p:nvPr/>
        </p:nvSpPr>
        <p:spPr>
          <a:xfrm>
            <a:off x="1803710" y="3843475"/>
            <a:ext cx="61874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CLIP  = Text Encoder + Image Encoder </a:t>
            </a:r>
            <a:r>
              <a:rPr lang="ko-KR" altLang="en-US"/>
              <a:t>대조학습을 통해 이미지와 텍스트의 연결  </a:t>
            </a:r>
          </a:p>
        </p:txBody>
      </p:sp>
    </p:spTree>
    <p:extLst>
      <p:ext uri="{BB962C8B-B14F-4D97-AF65-F5344CB8AC3E}">
        <p14:creationId xmlns:p14="http://schemas.microsoft.com/office/powerpoint/2010/main" val="42720989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99CC0CB3-0FB8-4F11-FA60-FE9BDE78F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35427224-DDA1-3E5F-4C0F-5C9C28E93CD4}"/>
              </a:ext>
            </a:extLst>
          </p:cNvPr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3" name="Google Shape;73;p15">
            <a:extLst>
              <a:ext uri="{FF2B5EF4-FFF2-40B4-BE49-F238E27FC236}">
                <a16:creationId xmlns:a16="http://schemas.microsoft.com/office/drawing/2014/main" id="{2B07CD60-DF25-D6E3-11CB-F392728FE8C8}"/>
              </a:ext>
            </a:extLst>
          </p:cNvPr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7882EB19-FEAB-498E-A0A5-3A01BC98FCC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16369861-E2EC-4F2B-FE13-713D96183E7C}"/>
              </a:ext>
            </a:extLst>
          </p:cNvPr>
          <p:cNvSpPr txBox="1"/>
          <p:nvPr/>
        </p:nvSpPr>
        <p:spPr>
          <a:xfrm>
            <a:off x="1353975" y="225100"/>
            <a:ext cx="4979400" cy="8925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200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</a:rPr>
              <a:t> </a:t>
            </a:r>
            <a:endParaRPr lang="en-US" altLang="ko-KR" sz="2000">
              <a:solidFill>
                <a:srgbClr val="19264B"/>
              </a:solidFill>
              <a:latin typeface="NanumGothic ExtraBold"/>
              <a:ea typeface="NanumGothic ExtraBold"/>
              <a:cs typeface="NanumGothic ExtraBold"/>
            </a:endParaRPr>
          </a:p>
          <a:p>
            <a:pPr>
              <a:lnSpc>
                <a:spcPct val="115000"/>
              </a:lnSpc>
            </a:pPr>
            <a:endParaRPr lang="ko" altLang="en-US" sz="2000">
              <a:solidFill>
                <a:srgbClr val="19264B"/>
              </a:solidFill>
              <a:latin typeface="NanumGothic ExtraBold"/>
              <a:ea typeface="NanumGothic ExtraBold"/>
              <a:cs typeface="NanumGothic Extra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F80850-C012-A9CA-56E2-60B63077A4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3963" y="940877"/>
            <a:ext cx="3012746" cy="31358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B135F0-4A77-0CCD-D9ED-D93083B83CFA}"/>
              </a:ext>
            </a:extLst>
          </p:cNvPr>
          <p:cNvSpPr txBox="1"/>
          <p:nvPr/>
        </p:nvSpPr>
        <p:spPr>
          <a:xfrm>
            <a:off x="4469354" y="747772"/>
            <a:ext cx="17613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Image Encoder </a:t>
            </a:r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B25065-571D-C6C4-DFB1-53A5D196D2E8}"/>
              </a:ext>
            </a:extLst>
          </p:cNvPr>
          <p:cNvSpPr txBox="1"/>
          <p:nvPr/>
        </p:nvSpPr>
        <p:spPr>
          <a:xfrm>
            <a:off x="7009548" y="747772"/>
            <a:ext cx="17613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Text Encoder </a:t>
            </a:r>
            <a:endParaRPr lang="ko-KR" altLang="en-US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AA979A95-B3F4-4B14-C00C-4007DE938626}"/>
              </a:ext>
            </a:extLst>
          </p:cNvPr>
          <p:cNvSpPr/>
          <p:nvPr/>
        </p:nvSpPr>
        <p:spPr>
          <a:xfrm>
            <a:off x="4891668" y="1196898"/>
            <a:ext cx="401444" cy="38132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A38D4472-733B-54DB-FCC9-119821425768}"/>
              </a:ext>
            </a:extLst>
          </p:cNvPr>
          <p:cNvSpPr/>
          <p:nvPr/>
        </p:nvSpPr>
        <p:spPr>
          <a:xfrm>
            <a:off x="7488791" y="1196898"/>
            <a:ext cx="401444" cy="38132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CC406E-D8C3-E641-B9A3-4AD25B9061CA}"/>
              </a:ext>
            </a:extLst>
          </p:cNvPr>
          <p:cNvSpPr txBox="1"/>
          <p:nvPr/>
        </p:nvSpPr>
        <p:spPr>
          <a:xfrm>
            <a:off x="4539572" y="1716239"/>
            <a:ext cx="1282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Image Embedding 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329240-8428-31B9-6524-E5578FC50C28}"/>
              </a:ext>
            </a:extLst>
          </p:cNvPr>
          <p:cNvSpPr txBox="1"/>
          <p:nvPr/>
        </p:nvSpPr>
        <p:spPr>
          <a:xfrm>
            <a:off x="7308792" y="1716239"/>
            <a:ext cx="1282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Text Embedding </a:t>
            </a:r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F87230-D0B7-4ACB-2CB1-4D29F94D689E}"/>
              </a:ext>
            </a:extLst>
          </p:cNvPr>
          <p:cNvSpPr txBox="1"/>
          <p:nvPr/>
        </p:nvSpPr>
        <p:spPr>
          <a:xfrm>
            <a:off x="5665845" y="2508324"/>
            <a:ext cx="17613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Cosine Similarity </a:t>
            </a:r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5C8A4E-2D82-A6AF-DCE2-BEF1FFF57296}"/>
              </a:ext>
            </a:extLst>
          </p:cNvPr>
          <p:cNvSpPr txBox="1"/>
          <p:nvPr/>
        </p:nvSpPr>
        <p:spPr>
          <a:xfrm>
            <a:off x="6097562" y="2816101"/>
            <a:ext cx="1823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유사도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FAD40F-A71A-8B5A-D702-02A08717DD5E}"/>
              </a:ext>
            </a:extLst>
          </p:cNvPr>
          <p:cNvSpPr txBox="1"/>
          <p:nvPr/>
        </p:nvSpPr>
        <p:spPr>
          <a:xfrm>
            <a:off x="5536499" y="3106941"/>
            <a:ext cx="21530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Logits: </a:t>
            </a:r>
            <a:r>
              <a:rPr lang="ko-KR" altLang="en-US"/>
              <a:t>둘이 얼마나 유사한지 나타내는 정도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B8D6D64-E9ED-F5EF-CF3C-C964C33EC640}"/>
              </a:ext>
            </a:extLst>
          </p:cNvPr>
          <p:cNvCxnSpPr>
            <a:stCxn id="14" idx="2"/>
          </p:cNvCxnSpPr>
          <p:nvPr/>
        </p:nvCxnSpPr>
        <p:spPr>
          <a:xfrm flipH="1">
            <a:off x="5536499" y="3630161"/>
            <a:ext cx="1076507" cy="4465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EB78BDC-0FEA-5100-CF7F-E5E573891ED6}"/>
              </a:ext>
            </a:extLst>
          </p:cNvPr>
          <p:cNvCxnSpPr>
            <a:cxnSpLocks/>
          </p:cNvCxnSpPr>
          <p:nvPr/>
        </p:nvCxnSpPr>
        <p:spPr>
          <a:xfrm>
            <a:off x="6613006" y="3630161"/>
            <a:ext cx="1076507" cy="4465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AFFB78B-7F5E-C1EE-88C5-F6877D1AAF27}"/>
              </a:ext>
            </a:extLst>
          </p:cNvPr>
          <p:cNvSpPr txBox="1"/>
          <p:nvPr/>
        </p:nvSpPr>
        <p:spPr>
          <a:xfrm>
            <a:off x="4302306" y="4136444"/>
            <a:ext cx="23107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err="1"/>
              <a:t>Loss_i</a:t>
            </a:r>
            <a:r>
              <a:rPr lang="ko-KR" altLang="en-US"/>
              <a:t> </a:t>
            </a:r>
            <a:r>
              <a:rPr lang="en-US" altLang="ko-KR"/>
              <a:t>:</a:t>
            </a:r>
            <a:r>
              <a:rPr lang="ko-KR" altLang="en-US"/>
              <a:t> </a:t>
            </a:r>
            <a:r>
              <a:rPr lang="en-US" altLang="ko-KR"/>
              <a:t>cross entropy loss of image </a:t>
            </a:r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3A972E-3899-E546-45F8-749AC66D4C98}"/>
              </a:ext>
            </a:extLst>
          </p:cNvPr>
          <p:cNvSpPr txBox="1"/>
          <p:nvPr/>
        </p:nvSpPr>
        <p:spPr>
          <a:xfrm>
            <a:off x="6833300" y="4136444"/>
            <a:ext cx="23107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err="1"/>
              <a:t>Loss_t</a:t>
            </a:r>
            <a:r>
              <a:rPr lang="ko-KR" altLang="en-US"/>
              <a:t> </a:t>
            </a:r>
            <a:r>
              <a:rPr lang="en-US" altLang="ko-KR"/>
              <a:t>:</a:t>
            </a:r>
            <a:r>
              <a:rPr lang="ko-KR" altLang="en-US"/>
              <a:t> </a:t>
            </a:r>
            <a:r>
              <a:rPr lang="en-US" altLang="ko-KR"/>
              <a:t>cross entropy loss of text </a:t>
            </a:r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2D54CE-67E5-4C24-C1C9-ACEC61DEE7DC}"/>
              </a:ext>
            </a:extLst>
          </p:cNvPr>
          <p:cNvSpPr txBox="1"/>
          <p:nvPr/>
        </p:nvSpPr>
        <p:spPr>
          <a:xfrm>
            <a:off x="2511575" y="4244165"/>
            <a:ext cx="9236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Loss</a:t>
            </a:r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60767B-3BC0-8B6D-6709-86EB0EBFFD5A}"/>
              </a:ext>
            </a:extLst>
          </p:cNvPr>
          <p:cNvSpPr txBox="1"/>
          <p:nvPr/>
        </p:nvSpPr>
        <p:spPr>
          <a:xfrm>
            <a:off x="3545366" y="4237304"/>
            <a:ext cx="9236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=</a:t>
            </a:r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DD58D81-77C9-90F8-E5B2-4D0F3C4611F9}"/>
              </a:ext>
            </a:extLst>
          </p:cNvPr>
          <p:cNvSpPr txBox="1"/>
          <p:nvPr/>
        </p:nvSpPr>
        <p:spPr>
          <a:xfrm>
            <a:off x="6556449" y="4244165"/>
            <a:ext cx="9236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+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9865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B21B7809-EC62-0396-50AA-F568645AA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2E1573D9-375B-4119-9C04-CDB7723CA37E}"/>
              </a:ext>
            </a:extLst>
          </p:cNvPr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3" name="Google Shape;73;p15">
            <a:extLst>
              <a:ext uri="{FF2B5EF4-FFF2-40B4-BE49-F238E27FC236}">
                <a16:creationId xmlns:a16="http://schemas.microsoft.com/office/drawing/2014/main" id="{8FA2660A-FF7B-4472-5576-CA773D9E64ED}"/>
              </a:ext>
            </a:extLst>
          </p:cNvPr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0A3354A2-7CF6-551E-DF38-1D6671266BE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D1248AA0-39E4-43F0-2E5C-D15384AE0796}"/>
              </a:ext>
            </a:extLst>
          </p:cNvPr>
          <p:cNvSpPr txBox="1"/>
          <p:nvPr/>
        </p:nvSpPr>
        <p:spPr>
          <a:xfrm>
            <a:off x="1353975" y="225100"/>
            <a:ext cx="4979400" cy="8925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2000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</a:rPr>
              <a:t> </a:t>
            </a:r>
            <a:endParaRPr lang="en-US" altLang="ko-KR" sz="2000">
              <a:solidFill>
                <a:srgbClr val="19264B"/>
              </a:solidFill>
              <a:latin typeface="NanumGothic ExtraBold"/>
              <a:ea typeface="NanumGothic ExtraBold"/>
              <a:cs typeface="NanumGothic ExtraBold"/>
            </a:endParaRPr>
          </a:p>
          <a:p>
            <a:pPr>
              <a:lnSpc>
                <a:spcPct val="115000"/>
              </a:lnSpc>
            </a:pPr>
            <a:endParaRPr lang="ko" altLang="en-US" sz="2000">
              <a:solidFill>
                <a:srgbClr val="19264B"/>
              </a:solidFill>
              <a:latin typeface="NanumGothic ExtraBold"/>
              <a:ea typeface="NanumGothic ExtraBold"/>
              <a:cs typeface="NanumGothic ExtraBold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269E1FF-9BF7-6FED-467A-82D1733B89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1"/>
          <a:stretch>
            <a:fillRect/>
          </a:stretch>
        </p:blipFill>
        <p:spPr>
          <a:xfrm>
            <a:off x="1597153" y="308638"/>
            <a:ext cx="4426312" cy="137385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190E76B-7A46-9BE9-5F78-248BE2B02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5528" y="1502446"/>
            <a:ext cx="4747979" cy="3641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09C5115-F0A1-D672-A6ED-3684C5E0BB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168" y="2188715"/>
            <a:ext cx="2476180" cy="2467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841265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</Words>
  <Application>Microsoft Office PowerPoint</Application>
  <PresentationFormat>On-screen Show (16:9)</PresentationFormat>
  <Paragraphs>23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NanumGothic ExtraBold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오석준</dc:creator>
  <cp:lastModifiedBy>오석준</cp:lastModifiedBy>
  <cp:revision>2</cp:revision>
  <dcterms:modified xsi:type="dcterms:W3CDTF">2025-10-27T13:41:56Z</dcterms:modified>
</cp:coreProperties>
</file>