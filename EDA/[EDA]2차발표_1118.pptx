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89" r:id="rId1"/>
  </p:sldMasterIdLst>
  <p:notesMasterIdLst>
    <p:notesMasterId r:id="rId15"/>
  </p:notesMasterIdLst>
  <p:sldIdLst>
    <p:sldId id="256" r:id="rId2"/>
    <p:sldId id="257" r:id="rId3"/>
    <p:sldId id="259" r:id="rId4"/>
    <p:sldId id="258" r:id="rId5"/>
    <p:sldId id="269" r:id="rId6"/>
    <p:sldId id="272" r:id="rId7"/>
    <p:sldId id="270" r:id="rId8"/>
    <p:sldId id="273" r:id="rId9"/>
    <p:sldId id="274" r:id="rId10"/>
    <p:sldId id="275" r:id="rId11"/>
    <p:sldId id="276" r:id="rId12"/>
    <p:sldId id="277" r:id="rId13"/>
    <p:sldId id="266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1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31" autoAdjust="0"/>
    <p:restoredTop sz="86851" autoAdjust="0"/>
  </p:normalViewPr>
  <p:slideViewPr>
    <p:cSldViewPr snapToGrid="0">
      <p:cViewPr>
        <p:scale>
          <a:sx n="66" d="100"/>
          <a:sy n="66" d="100"/>
        </p:scale>
        <p:origin x="-210" y="492"/>
      </p:cViewPr>
      <p:guideLst>
        <p:guide orient="horz" pos="1619"/>
        <p:guide pos="287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 lvl="0">
              <a:defRPr/>
            </a:pPr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나눔고딕"/>
        <a:ea typeface="나눔고딕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 dirty="0"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 dirty="0"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 dirty="0"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 dirty="0"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 dirty="0"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rPr dirty="0"/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나눔고딕" panose="020D0604000000000000" pitchFamily="50" charset="-127"/>
          <a:ea typeface="나눔고딕" panose="020D0604000000000000" pitchFamily="50" charset="-127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나눔고딕" panose="020D0604000000000000" pitchFamily="50" charset="-127"/>
          <a:ea typeface="나눔고딕" panose="020D0604000000000000" pitchFamily="50" charset="-127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>
                <a:latin typeface="맑은 고딕"/>
                <a:ea typeface="맑은 고딕"/>
              </a:rPr>
              <a:t>T</a:t>
            </a:r>
            <a:endParaRPr>
              <a:latin typeface="맑은 고딕"/>
              <a:ea typeface="맑은 고딕"/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57" name="Google Shape;57;p13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5;p13"/>
          <p:cNvSpPr txBox="1"/>
          <p:nvPr/>
        </p:nvSpPr>
        <p:spPr>
          <a:xfrm>
            <a:off x="1339750" y="2710050"/>
            <a:ext cx="5687450" cy="15533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ko" sz="2500" b="1" i="0" u="none" strike="noStrike" kern="0" cap="none" spc="0" normalizeH="0" baseline="0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CUAI </a:t>
            </a:r>
            <a:r>
              <a:rPr kumimoji="0" lang="ko-KR" altLang="en-US" sz="2500" b="1" i="0" u="none" strike="noStrike" kern="0" cap="none" spc="0" normalizeH="0" baseline="0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데이터분석 </a:t>
            </a:r>
            <a:r>
              <a:rPr kumimoji="0" lang="en-US" altLang="ko-KR" sz="2500" b="1" i="0" u="none" strike="noStrike" kern="0" cap="none" spc="0" normalizeH="0" baseline="0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EDA </a:t>
            </a:r>
            <a:r>
              <a:rPr kumimoji="0" lang="ko" sz="2500" b="1" i="0" u="none" strike="noStrike" kern="0" cap="none" spc="0" normalizeH="0" baseline="0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스터디</a:t>
            </a: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ko" sz="1400" b="0" i="0" u="none" strike="noStrike" kern="0" cap="none" spc="0" normalizeH="0" baseline="0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202</a:t>
            </a:r>
            <a:r>
              <a:rPr kumimoji="0" lang="en-US" altLang="ko" sz="1400" b="0" i="0" u="none" strike="noStrike" kern="0" cap="none" spc="0" normalizeH="0" baseline="0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kumimoji="0" lang="ko" sz="1400" b="0" i="0" u="none" strike="noStrike" kern="0" cap="none" spc="0" normalizeH="0" baseline="0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kumimoji="0" lang="en-US" altLang="ko" sz="1400" b="0" i="0" u="none" strike="noStrike" kern="0" cap="none" spc="0" normalizeH="0" baseline="0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kumimoji="0" lang="en-US" altLang="ko-KR" sz="1400" b="0" i="0" u="none" strike="noStrike" kern="0" cap="none" spc="0" normalizeH="0" baseline="0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kumimoji="0" lang="ko" sz="1400" b="0" i="0" u="none" strike="noStrike" kern="0" cap="none" spc="0" normalizeH="0" baseline="0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kumimoji="0" lang="en-US" altLang="ko-KR" sz="1400" b="0" i="0" u="none" strike="noStrike" kern="0" cap="none" spc="0" normalizeH="0" baseline="0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kumimoji="0" lang="en-US" altLang="ko" sz="1400" b="0" i="0" u="none" strike="noStrike" kern="0" cap="none" spc="0" normalizeH="0" baseline="0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sz="1400" b="0" i="0" u="none" strike="noStrike" kern="0" cap="none" spc="0" normalizeH="0" baseline="0">
              <a:solidFill>
                <a:srgbClr val="19264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sz="1400" b="0" i="0" u="none" strike="noStrike" kern="0" cap="none" spc="0" normalizeH="0" baseline="0">
              <a:solidFill>
                <a:srgbClr val="19264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ko" sz="1100" b="0" i="0" u="none" strike="noStrike" kern="0" cap="none" spc="0" normalizeH="0" baseline="0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발표자 : </a:t>
            </a:r>
            <a:r>
              <a:rPr kumimoji="0" lang="ko-KR" altLang="en-US" sz="1100" b="0" i="0" u="none" strike="noStrike" kern="0" cap="none" spc="0" normalizeH="0" baseline="0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이지유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63" name="Google Shape;63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64" name="Google Shape;64;p14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/>
          <p:nvPr/>
        </p:nvSpPr>
        <p:spPr>
          <a:xfrm>
            <a:off x="1599250" y="1262100"/>
            <a:ext cx="4287600" cy="3109734"/>
          </a:xfrm>
          <a:prstGeom prst="rect">
            <a:avLst/>
          </a:prstGeom>
          <a:solidFill>
            <a:srgbClr val="EFEFEF"/>
          </a:solidFill>
          <a:ln w="38100" cap="flat" cmpd="sng">
            <a:solidFill>
              <a:srgbClr val="19264B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200">
              <a:latin typeface="맑은 고딕"/>
              <a:ea typeface="맑은 고딕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2000" b="1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스터디원 소개 및 만남 인증</a:t>
            </a:r>
            <a:endParaRPr sz="2000" b="1">
              <a:solidFill>
                <a:srgbClr val="19264B"/>
              </a:solidFill>
              <a:latin typeface="나눔스퀘어 ExtraBold"/>
              <a:ea typeface="나눔스퀘어 ExtraBold"/>
              <a:cs typeface="NanumGothic ExtraBold"/>
              <a:sym typeface="NanumGothic ExtraBold"/>
            </a:endParaRPr>
          </a:p>
        </p:txBody>
      </p:sp>
      <p:sp>
        <p:nvSpPr>
          <p:cNvPr id="70" name="Google Shape;67;p14"/>
          <p:cNvSpPr txBox="1"/>
          <p:nvPr/>
        </p:nvSpPr>
        <p:spPr>
          <a:xfrm>
            <a:off x="6554382" y="1820125"/>
            <a:ext cx="2282100" cy="1261854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ko" sz="1400" b="0" i="0" u="none" strike="noStrike" kern="0" cap="none" spc="0" normalizeH="0" baseline="0">
                <a:solidFill>
                  <a:srgbClr val="000000"/>
                </a:solidFill>
                <a:latin typeface="나눔바른고딕"/>
                <a:ea typeface="나눔바른고딕"/>
              </a:rPr>
              <a:t>스터디원 1 : 김</a:t>
            </a:r>
            <a:r>
              <a:rPr kumimoji="0" lang="ko-KR" altLang="en-US" sz="1400" b="0" i="0" u="none" strike="noStrike" kern="0" cap="none" spc="0" normalizeH="0" baseline="0">
                <a:solidFill>
                  <a:srgbClr val="000000"/>
                </a:solidFill>
                <a:latin typeface="나눔바른고딕"/>
                <a:ea typeface="나눔바른고딕"/>
              </a:rPr>
              <a:t>세린</a:t>
            </a: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sz="1400" b="0" i="0" u="none" strike="noStrike" kern="0" cap="none" spc="0" normalizeH="0" baseline="0">
              <a:solidFill>
                <a:srgbClr val="000000"/>
              </a:solidFill>
              <a:latin typeface="나눔바른고딕"/>
              <a:ea typeface="나눔바른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ko" sz="1400" b="0" i="0" u="none" strike="noStrike" kern="0" cap="none" spc="0" normalizeH="0" baseline="0">
                <a:solidFill>
                  <a:srgbClr val="000000"/>
                </a:solidFill>
                <a:latin typeface="나눔바른고딕"/>
                <a:ea typeface="나눔바른고딕"/>
              </a:rPr>
              <a:t>스터디원 2 : </a:t>
            </a:r>
            <a:r>
              <a:rPr kumimoji="0" lang="ko-KR" altLang="en-US" sz="1400" b="0" i="0" u="none" strike="noStrike" kern="0" cap="none" spc="0" normalizeH="0" baseline="0">
                <a:solidFill>
                  <a:srgbClr val="000000"/>
                </a:solidFill>
                <a:latin typeface="나눔바른고딕"/>
                <a:ea typeface="나눔바른고딕"/>
              </a:rPr>
              <a:t>이지유</a:t>
            </a: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sz="1400" b="0" i="0" u="none" strike="noStrike" kern="0" cap="none" spc="0" normalizeH="0" baseline="0">
              <a:solidFill>
                <a:srgbClr val="000000"/>
              </a:solidFill>
              <a:latin typeface="나눔바른고딕"/>
              <a:ea typeface="나눔바른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ko" sz="1400" b="0" i="0" u="none" strike="noStrike" kern="0" cap="none" spc="0" normalizeH="0" baseline="0">
                <a:solidFill>
                  <a:srgbClr val="000000"/>
                </a:solidFill>
                <a:latin typeface="나눔바른고딕"/>
                <a:ea typeface="나눔바른고딕"/>
              </a:rPr>
              <a:t>스터디원 3 : </a:t>
            </a:r>
            <a:r>
              <a:rPr kumimoji="0" lang="ko-KR" altLang="en-US" sz="1400" b="0" i="0" u="none" strike="noStrike" kern="0" cap="none" spc="0" normalizeH="0" baseline="0">
                <a:solidFill>
                  <a:srgbClr val="000000"/>
                </a:solidFill>
                <a:latin typeface="나눔바른고딕"/>
                <a:ea typeface="나눔바른고딕"/>
              </a:rPr>
              <a:t>한종성</a:t>
            </a:r>
            <a:endParaRPr kumimoji="0" sz="1400" b="0" i="0" u="none" strike="noStrike" kern="0" cap="none" spc="0" normalizeH="0" baseline="0">
              <a:solidFill>
                <a:srgbClr val="000000"/>
              </a:solidFill>
              <a:latin typeface="나눔바른고딕"/>
              <a:ea typeface="나눔바른고딕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1BFE9D3-4041-0CC1-651C-96BEA0A510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3994" y="1649895"/>
            <a:ext cx="4378111" cy="20759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/>
          <p:cNvSpPr txBox="1"/>
          <p:nvPr/>
        </p:nvSpPr>
        <p:spPr>
          <a:xfrm>
            <a:off x="1408975" y="323204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 b="1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스터디 주제</a:t>
            </a:r>
          </a:p>
        </p:txBody>
      </p:sp>
      <p:sp>
        <p:nvSpPr>
          <p:cNvPr id="11" name="Google Shape;67;p14"/>
          <p:cNvSpPr txBox="1"/>
          <p:nvPr/>
        </p:nvSpPr>
        <p:spPr>
          <a:xfrm>
            <a:off x="4864605" y="1985354"/>
            <a:ext cx="3891769" cy="116951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dirty="0">
                <a:latin typeface="나눔스퀘어"/>
                <a:ea typeface="나눔스퀘어"/>
              </a:rPr>
              <a:t>사용한 교재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600" dirty="0">
              <a:latin typeface="나눔스퀘어"/>
              <a:ea typeface="나눔스퀘어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dirty="0">
                <a:latin typeface="나눔스퀘어"/>
                <a:ea typeface="나눔스퀘어"/>
              </a:rPr>
              <a:t>&lt;</a:t>
            </a:r>
            <a:r>
              <a:rPr lang="ko-KR" altLang="en-US" sz="1600" dirty="0">
                <a:latin typeface="나눔스퀘어"/>
                <a:ea typeface="나눔스퀘어"/>
              </a:rPr>
              <a:t>이것이 데이터 분석이다 </a:t>
            </a:r>
            <a:r>
              <a:rPr lang="en-US" altLang="ko-KR" sz="1600" dirty="0">
                <a:latin typeface="나눔스퀘어"/>
                <a:ea typeface="나눔스퀘어"/>
              </a:rPr>
              <a:t>with</a:t>
            </a:r>
            <a:r>
              <a:rPr lang="ko-KR" altLang="en-US" sz="1600" dirty="0">
                <a:latin typeface="나눔스퀘어"/>
                <a:ea typeface="나눔스퀘어"/>
              </a:rPr>
              <a:t> 파이썬</a:t>
            </a:r>
            <a:r>
              <a:rPr lang="en-US" altLang="ko-KR" sz="1600" dirty="0">
                <a:latin typeface="나눔스퀘어"/>
                <a:ea typeface="나눔스퀘어"/>
              </a:rPr>
              <a:t>&gt;,</a:t>
            </a:r>
            <a:r>
              <a:rPr lang="ko-KR" altLang="en-US" sz="1600" dirty="0">
                <a:latin typeface="나눔스퀘어"/>
                <a:ea typeface="나눔스퀘어"/>
              </a:rPr>
              <a:t> 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dirty="0" err="1">
                <a:latin typeface="나눔스퀘어"/>
                <a:ea typeface="나눔스퀘어"/>
              </a:rPr>
              <a:t>한빛미디어</a:t>
            </a:r>
            <a:endParaRPr lang="ko-KR" altLang="en-US" sz="1600" dirty="0">
              <a:latin typeface="나눔스퀘어"/>
              <a:ea typeface="나눔스퀘어"/>
            </a:endParaRPr>
          </a:p>
        </p:txBody>
      </p:sp>
      <p:sp>
        <p:nvSpPr>
          <p:cNvPr id="15" name="Google Shape;67;p14"/>
          <p:cNvSpPr txBox="1"/>
          <p:nvPr/>
        </p:nvSpPr>
        <p:spPr>
          <a:xfrm>
            <a:off x="1956047" y="3114453"/>
            <a:ext cx="5923138" cy="482172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lvl="0" algn="ctr" rtl="0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000" b="1">
              <a:latin typeface="나눔스퀘어"/>
              <a:ea typeface="나눔스퀘어"/>
            </a:endParaRPr>
          </a:p>
        </p:txBody>
      </p:sp>
      <p:pic>
        <p:nvPicPr>
          <p:cNvPr id="80" name="그림 9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818795" y="1341745"/>
            <a:ext cx="2490460" cy="30182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75;p15"/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나눔바른고딕"/>
                <a:ea typeface="나눔바른고딕"/>
                <a:cs typeface="NanumGothic ExtraBold"/>
                <a:sym typeface="NanumGothic ExtraBold"/>
              </a:rPr>
              <a:t>스터디 일정</a:t>
            </a:r>
            <a:endParaRPr kumimoji="0" sz="2000" b="1" i="0" u="none" strike="noStrike" kern="0" cap="none" spc="0" normalizeH="0" baseline="0">
              <a:solidFill>
                <a:srgbClr val="19264B"/>
              </a:solidFill>
              <a:latin typeface="나눔바른고딕"/>
              <a:ea typeface="나눔바른고딕"/>
              <a:cs typeface="NanumGothic ExtraBold"/>
              <a:sym typeface="NanumGothic ExtraBold"/>
            </a:endParaRPr>
          </a:p>
        </p:txBody>
      </p:sp>
      <p:graphicFrame>
        <p:nvGraphicFramePr>
          <p:cNvPr id="81" name="표 1"/>
          <p:cNvGraphicFramePr>
            <a:graphicFrameLocks noGrp="1"/>
          </p:cNvGraphicFramePr>
          <p:nvPr/>
        </p:nvGraphicFramePr>
        <p:xfrm>
          <a:off x="1524000" y="974857"/>
          <a:ext cx="6096000" cy="350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610">
                <a:tc>
                  <a:txBody>
                    <a:bodyPr/>
                    <a:lstStyle/>
                    <a:p>
                      <a:pPr marR="0" lvl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1400" b="1" i="0" u="none" strike="noStrike" kern="0" cap="none" normalizeH="0" baseline="0">
                          <a:solidFill>
                            <a:srgbClr val="FFFFFF"/>
                          </a:solidFill>
                          <a:latin typeface="나눔바른고딕"/>
                          <a:ea typeface="나눔바른고딕"/>
                        </a:rPr>
                        <a:t>주차</a:t>
                      </a:r>
                    </a:p>
                  </a:txBody>
                  <a:tcPr anchor="ctr">
                    <a:lnL w="1270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3810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43568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1400" b="1" i="0" u="none" strike="noStrike" kern="0" cap="none" normalizeH="0" baseline="0">
                          <a:solidFill>
                            <a:srgbClr val="FFFFFF"/>
                          </a:solidFill>
                          <a:latin typeface="나눔바른고딕"/>
                          <a:ea typeface="나눔바른고딕"/>
                        </a:rPr>
                        <a:t>날짜</a:t>
                      </a:r>
                    </a:p>
                  </a:txBody>
                  <a:tcPr anchor="ctr">
                    <a:lnL w="1270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3810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43568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1400" b="1" i="0" u="none" strike="noStrike" kern="0" cap="none" normalizeH="0" baseline="0">
                          <a:solidFill>
                            <a:srgbClr val="FFFFFF"/>
                          </a:solidFill>
                          <a:latin typeface="나눔바른고딕"/>
                          <a:ea typeface="나눔바른고딕"/>
                        </a:rPr>
                        <a:t>내용</a:t>
                      </a:r>
                    </a:p>
                  </a:txBody>
                  <a:tcPr anchor="ctr">
                    <a:lnL w="1270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3810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43568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610">
                <a:tc>
                  <a:txBody>
                    <a:bodyPr/>
                    <a:lstStyle/>
                    <a:p>
                      <a:pPr marR="0" lvl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en-US" altLang="ko-KR" sz="1400" b="0" i="0" u="none" strike="noStrike" kern="0" cap="none" normalizeH="0" baseline="0">
                          <a:solidFill>
                            <a:srgbClr val="000000"/>
                          </a:solidFill>
                          <a:latin typeface="나눔바른고딕"/>
                          <a:ea typeface="나눔바른고딕"/>
                        </a:rPr>
                        <a:t>4</a:t>
                      </a:r>
                      <a:r>
                        <a:rPr kumimoji="0" lang="ko-KR" altLang="en-US" sz="1400" b="0" i="0" u="none" strike="noStrike" kern="0" cap="none" normalizeH="0" baseline="0">
                          <a:solidFill>
                            <a:srgbClr val="000000"/>
                          </a:solidFill>
                          <a:latin typeface="나눔바른고딕"/>
                          <a:ea typeface="나눔바른고딕"/>
                        </a:rPr>
                        <a:t>주차</a:t>
                      </a:r>
                    </a:p>
                  </a:txBody>
                  <a:tcPr anchor="ctr">
                    <a:lnL w="1270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3810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C5CCE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en-US" altLang="ko-KR" sz="1400" b="0" i="0" u="none" strike="noStrike" kern="0" cap="none" normalizeH="0" baseline="0">
                          <a:solidFill>
                            <a:srgbClr val="000000"/>
                          </a:solidFill>
                          <a:latin typeface="나눔바른고딕"/>
                          <a:ea typeface="나눔바른고딕"/>
                        </a:rPr>
                        <a:t>9/24</a:t>
                      </a:r>
                      <a:endParaRPr kumimoji="0" lang="ko-KR" altLang="en-US" sz="1400" b="0" i="0" u="none" strike="noStrike" kern="0" cap="none" normalizeH="0" baseline="0">
                        <a:solidFill>
                          <a:srgbClr val="000000"/>
                        </a:solidFill>
                        <a:latin typeface="나눔바른고딕"/>
                        <a:ea typeface="나눔바른고딕"/>
                      </a:endParaRPr>
                    </a:p>
                  </a:txBody>
                  <a:tcPr anchor="ctr">
                    <a:lnL w="1270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3810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C5CCE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en-US" altLang="ko-KR" sz="1400" b="0" i="0" u="none" strike="noStrike" kern="0" cap="none" normalizeH="0" baseline="0">
                          <a:solidFill>
                            <a:srgbClr val="000000"/>
                          </a:solidFill>
                          <a:latin typeface="나눔바른고딕"/>
                          <a:ea typeface="나눔바른고딕"/>
                        </a:rPr>
                        <a:t>1, 2, 3</a:t>
                      </a:r>
                      <a:r>
                        <a:rPr kumimoji="0" lang="ko-KR" altLang="en-US" sz="1400" b="0" i="0" u="none" strike="noStrike" kern="0" cap="none" normalizeH="0" baseline="0">
                          <a:solidFill>
                            <a:srgbClr val="000000"/>
                          </a:solidFill>
                          <a:latin typeface="나눔바른고딕"/>
                          <a:ea typeface="나눔바른고딕"/>
                        </a:rPr>
                        <a:t>강</a:t>
                      </a:r>
                    </a:p>
                  </a:txBody>
                  <a:tcPr anchor="ctr">
                    <a:lnL w="1270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3810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C5CCE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610">
                <a:tc>
                  <a:txBody>
                    <a:bodyPr/>
                    <a:lstStyle/>
                    <a:p>
                      <a:pPr marR="0" lvl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en-US" altLang="ko-KR" sz="1400" b="0" i="0" u="none" strike="noStrike" kern="0" cap="none" normalizeH="0" baseline="0">
                          <a:solidFill>
                            <a:srgbClr val="000000"/>
                          </a:solidFill>
                          <a:latin typeface="나눔바른고딕"/>
                          <a:ea typeface="나눔바른고딕"/>
                        </a:rPr>
                        <a:t>5</a:t>
                      </a:r>
                      <a:r>
                        <a:rPr kumimoji="0" lang="ko-KR" altLang="en-US" sz="1400" b="0" i="0" u="none" strike="noStrike" kern="0" cap="none" normalizeH="0" baseline="0">
                          <a:solidFill>
                            <a:srgbClr val="000000"/>
                          </a:solidFill>
                          <a:latin typeface="나눔바른고딕"/>
                          <a:ea typeface="나눔바른고딕"/>
                        </a:rPr>
                        <a:t>주차</a:t>
                      </a:r>
                    </a:p>
                  </a:txBody>
                  <a:tcPr anchor="ctr">
                    <a:lnL w="1270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A1ADC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en-US" altLang="ko-KR" sz="1400" b="0" i="0" u="none" strike="noStrike" kern="0" cap="none" normalizeH="0" baseline="0">
                          <a:solidFill>
                            <a:srgbClr val="000000"/>
                          </a:solidFill>
                          <a:latin typeface="나눔바른고딕"/>
                          <a:ea typeface="나눔바른고딕"/>
                        </a:rPr>
                        <a:t>10/1</a:t>
                      </a:r>
                      <a:endParaRPr kumimoji="0" lang="ko-KR" altLang="en-US" sz="1400" b="0" i="0" u="none" strike="noStrike" kern="0" cap="none" normalizeH="0" baseline="0">
                        <a:solidFill>
                          <a:srgbClr val="000000"/>
                        </a:solidFill>
                        <a:latin typeface="나눔바른고딕"/>
                        <a:ea typeface="나눔바른고딕"/>
                      </a:endParaRPr>
                    </a:p>
                  </a:txBody>
                  <a:tcPr anchor="ctr">
                    <a:lnL w="1270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A1ADC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en-US" altLang="ko-KR" sz="1400" b="0" i="0" u="none" strike="noStrike" kern="0" cap="none" normalizeH="0" baseline="0">
                          <a:solidFill>
                            <a:srgbClr val="000000"/>
                          </a:solidFill>
                          <a:latin typeface="나눔바른고딕"/>
                          <a:ea typeface="나눔바른고딕"/>
                        </a:rPr>
                        <a:t>4</a:t>
                      </a:r>
                      <a:r>
                        <a:rPr kumimoji="0" lang="ko-KR" altLang="en-US" sz="1400" b="0" i="0" u="none" strike="noStrike" kern="0" cap="none" normalizeH="0" baseline="0">
                          <a:solidFill>
                            <a:srgbClr val="000000"/>
                          </a:solidFill>
                          <a:latin typeface="나눔바른고딕"/>
                          <a:ea typeface="나눔바른고딕"/>
                        </a:rPr>
                        <a:t>강</a:t>
                      </a:r>
                    </a:p>
                  </a:txBody>
                  <a:tcPr anchor="ctr">
                    <a:lnL w="1270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A1ADC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610">
                <a:tc>
                  <a:txBody>
                    <a:bodyPr/>
                    <a:lstStyle/>
                    <a:p>
                      <a:pPr marR="0" lvl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en-US" altLang="ko-KR" sz="1400" b="0" i="0" u="none" strike="noStrike" kern="0" cap="none" normalizeH="0" baseline="0">
                          <a:solidFill>
                            <a:srgbClr val="000000"/>
                          </a:solidFill>
                          <a:latin typeface="나눔바른고딕"/>
                          <a:ea typeface="나눔바른고딕"/>
                        </a:rPr>
                        <a:t>6-8</a:t>
                      </a:r>
                      <a:r>
                        <a:rPr kumimoji="0" lang="ko-KR" altLang="en-US" sz="1400" b="0" i="0" u="none" strike="noStrike" kern="0" cap="none" normalizeH="0" baseline="0">
                          <a:solidFill>
                            <a:srgbClr val="000000"/>
                          </a:solidFill>
                          <a:latin typeface="나눔바른고딕"/>
                          <a:ea typeface="나눔바른고딕"/>
                        </a:rPr>
                        <a:t>주차</a:t>
                      </a:r>
                    </a:p>
                  </a:txBody>
                  <a:tcPr anchor="ctr">
                    <a:lnL w="1270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C5CCE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en-US" altLang="ko-KR" sz="1400" b="0" i="0" u="none" strike="noStrike" kern="0" cap="none" normalizeH="0" baseline="0">
                          <a:solidFill>
                            <a:srgbClr val="000000"/>
                          </a:solidFill>
                          <a:latin typeface="나눔바른고딕"/>
                          <a:ea typeface="나눔바른고딕"/>
                        </a:rPr>
                        <a:t>-</a:t>
                      </a:r>
                      <a:endParaRPr kumimoji="0" lang="ko-KR" altLang="en-US" sz="1400" b="0" i="0" u="none" strike="noStrike" kern="0" cap="none" normalizeH="0" baseline="0">
                        <a:solidFill>
                          <a:srgbClr val="000000"/>
                        </a:solidFill>
                        <a:latin typeface="나눔바른고딕"/>
                        <a:ea typeface="나눔바른고딕"/>
                      </a:endParaRPr>
                    </a:p>
                  </a:txBody>
                  <a:tcPr anchor="ctr">
                    <a:lnL w="1270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C5CCE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en-US" altLang="ko-KR" sz="1400" b="0" i="0" u="none" strike="noStrike" kern="0" cap="none" normalizeH="0" baseline="0">
                          <a:solidFill>
                            <a:srgbClr val="000000"/>
                          </a:solidFill>
                          <a:latin typeface="나눔바른고딕"/>
                          <a:ea typeface="나눔바른고딕"/>
                        </a:rPr>
                        <a:t>-</a:t>
                      </a:r>
                      <a:endParaRPr kumimoji="0" lang="ko-KR" altLang="en-US" sz="1400" b="0" i="0" u="none" strike="noStrike" kern="0" cap="none" normalizeH="0" baseline="0">
                        <a:solidFill>
                          <a:srgbClr val="000000"/>
                        </a:solidFill>
                        <a:latin typeface="나눔바른고딕"/>
                        <a:ea typeface="나눔바른고딕"/>
                      </a:endParaRPr>
                    </a:p>
                  </a:txBody>
                  <a:tcPr anchor="ctr">
                    <a:lnL w="1270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C5CCE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610">
                <a:tc>
                  <a:txBody>
                    <a:bodyPr/>
                    <a:lstStyle/>
                    <a:p>
                      <a:pPr marR="0" lvl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en-US" altLang="ko-KR" sz="1400" b="0" i="0" u="none" strike="noStrike" kern="0" cap="none" normalizeH="0" baseline="0">
                          <a:solidFill>
                            <a:srgbClr val="000000"/>
                          </a:solidFill>
                          <a:latin typeface="나눔바른고딕"/>
                          <a:ea typeface="나눔바른고딕"/>
                        </a:rPr>
                        <a:t>9</a:t>
                      </a:r>
                      <a:r>
                        <a:rPr kumimoji="0" lang="ko-KR" altLang="en-US" sz="1400" b="0" i="0" u="none" strike="noStrike" kern="0" cap="none" normalizeH="0" baseline="0">
                          <a:solidFill>
                            <a:srgbClr val="000000"/>
                          </a:solidFill>
                          <a:latin typeface="나눔바른고딕"/>
                          <a:ea typeface="나눔바른고딕"/>
                        </a:rPr>
                        <a:t>주차</a:t>
                      </a:r>
                    </a:p>
                  </a:txBody>
                  <a:tcPr anchor="ctr">
                    <a:lnL w="1270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A1ADC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en-US" altLang="ko-KR" sz="1400" b="0" i="0" u="none" strike="noStrike" kern="0" cap="none" normalizeH="0" baseline="0">
                          <a:solidFill>
                            <a:srgbClr val="000000"/>
                          </a:solidFill>
                          <a:latin typeface="나눔바른고딕"/>
                          <a:ea typeface="나눔바른고딕"/>
                        </a:rPr>
                        <a:t>10/29</a:t>
                      </a:r>
                      <a:endParaRPr kumimoji="0" lang="ko-KR" altLang="en-US" sz="1400" b="0" i="0" u="none" strike="noStrike" kern="0" cap="none" normalizeH="0" baseline="0">
                        <a:solidFill>
                          <a:srgbClr val="000000"/>
                        </a:solidFill>
                        <a:latin typeface="나눔바른고딕"/>
                        <a:ea typeface="나눔바른고딕"/>
                      </a:endParaRPr>
                    </a:p>
                  </a:txBody>
                  <a:tcPr anchor="ctr">
                    <a:lnL w="1270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A1ADC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1400" b="0" i="0" u="none" strike="noStrike" kern="0" cap="none" normalizeH="0" baseline="0">
                          <a:solidFill>
                            <a:srgbClr val="000000"/>
                          </a:solidFill>
                          <a:latin typeface="나눔바른고딕"/>
                          <a:ea typeface="나눔바른고딕"/>
                        </a:rPr>
                        <a:t>챕터 </a:t>
                      </a:r>
                      <a:r>
                        <a:rPr kumimoji="0" lang="en-US" altLang="ko-KR" sz="1400" b="0" i="0" u="none" strike="noStrike" kern="0" cap="none" normalizeH="0" baseline="0">
                          <a:solidFill>
                            <a:srgbClr val="000000"/>
                          </a:solidFill>
                          <a:latin typeface="나눔바른고딕"/>
                          <a:ea typeface="나눔바른고딕"/>
                        </a:rPr>
                        <a:t>0, 1</a:t>
                      </a:r>
                      <a:endParaRPr kumimoji="0" lang="ko-KR" altLang="en-US" sz="1400" b="0" i="0" u="none" strike="noStrike" kern="0" cap="none" normalizeH="0" baseline="0">
                        <a:solidFill>
                          <a:srgbClr val="000000"/>
                        </a:solidFill>
                        <a:latin typeface="나눔바른고딕"/>
                        <a:ea typeface="나눔바른고딕"/>
                      </a:endParaRPr>
                    </a:p>
                  </a:txBody>
                  <a:tcPr anchor="ctr">
                    <a:lnL w="1270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A1ADC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610">
                <a:tc>
                  <a:txBody>
                    <a:bodyPr/>
                    <a:lstStyle/>
                    <a:p>
                      <a:pPr marR="0" lvl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en-US" altLang="ko-KR" sz="1400" b="0" i="0" u="none" strike="noStrike" kern="0" cap="none" normalizeH="0" baseline="0">
                          <a:solidFill>
                            <a:srgbClr val="000000"/>
                          </a:solidFill>
                          <a:latin typeface="나눔바른고딕"/>
                          <a:ea typeface="나눔바른고딕"/>
                        </a:rPr>
                        <a:t>10</a:t>
                      </a:r>
                      <a:r>
                        <a:rPr kumimoji="0" lang="ko-KR" altLang="en-US" sz="1400" b="0" i="0" u="none" strike="noStrike" kern="0" cap="none" normalizeH="0" baseline="0">
                          <a:solidFill>
                            <a:srgbClr val="000000"/>
                          </a:solidFill>
                          <a:latin typeface="나눔바른고딕"/>
                          <a:ea typeface="나눔바른고딕"/>
                        </a:rPr>
                        <a:t>주차</a:t>
                      </a:r>
                    </a:p>
                  </a:txBody>
                  <a:tcPr anchor="ctr">
                    <a:lnL w="1270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C5CCE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en-US" altLang="ko-KR" sz="1400" b="0" i="0" u="none" strike="noStrike" kern="0" cap="none" normalizeH="0" baseline="0">
                          <a:solidFill>
                            <a:srgbClr val="000000"/>
                          </a:solidFill>
                          <a:latin typeface="나눔바른고딕"/>
                          <a:ea typeface="나눔바른고딕"/>
                        </a:rPr>
                        <a:t>11/5</a:t>
                      </a:r>
                      <a:endParaRPr kumimoji="0" lang="ko-KR" altLang="en-US" sz="1400" b="0" i="0" u="none" strike="noStrike" kern="0" cap="none" normalizeH="0" baseline="0">
                        <a:solidFill>
                          <a:srgbClr val="000000"/>
                        </a:solidFill>
                        <a:latin typeface="나눔바른고딕"/>
                        <a:ea typeface="나눔바른고딕"/>
                      </a:endParaRPr>
                    </a:p>
                  </a:txBody>
                  <a:tcPr anchor="ctr">
                    <a:lnL w="1270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C5CCE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1400" b="0" i="0" u="none" strike="noStrike" kern="0" cap="none" normalizeH="0" baseline="0">
                          <a:solidFill>
                            <a:srgbClr val="000000"/>
                          </a:solidFill>
                          <a:latin typeface="나눔바른고딕"/>
                          <a:ea typeface="나눔바른고딕"/>
                        </a:rPr>
                        <a:t>챕터 </a:t>
                      </a:r>
                      <a:r>
                        <a:rPr kumimoji="0" lang="en-US" altLang="ko-KR" sz="1400" b="0" i="0" u="none" strike="noStrike" kern="0" cap="none" normalizeH="0" baseline="0">
                          <a:solidFill>
                            <a:srgbClr val="000000"/>
                          </a:solidFill>
                          <a:latin typeface="나눔바른고딕"/>
                          <a:ea typeface="나눔바른고딕"/>
                        </a:rPr>
                        <a:t>2</a:t>
                      </a:r>
                      <a:endParaRPr kumimoji="0" lang="ko-KR" altLang="en-US" sz="1400" b="0" i="0" u="none" strike="noStrike" kern="0" cap="none" normalizeH="0" baseline="0">
                        <a:solidFill>
                          <a:srgbClr val="000000"/>
                        </a:solidFill>
                        <a:latin typeface="나눔바른고딕"/>
                        <a:ea typeface="나눔바른고딕"/>
                      </a:endParaRPr>
                    </a:p>
                  </a:txBody>
                  <a:tcPr anchor="ctr">
                    <a:lnL w="1270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C5CCE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610">
                <a:tc>
                  <a:txBody>
                    <a:bodyPr/>
                    <a:lstStyle/>
                    <a:p>
                      <a:pPr marR="0" lvl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en-US" altLang="ko-KR" sz="1400" b="0" i="0" u="none" strike="noStrike" kern="0" cap="none" normalizeH="0" baseline="0">
                          <a:solidFill>
                            <a:srgbClr val="000000"/>
                          </a:solidFill>
                          <a:latin typeface="나눔바른고딕"/>
                          <a:ea typeface="나눔바른고딕"/>
                        </a:rPr>
                        <a:t>11</a:t>
                      </a:r>
                      <a:r>
                        <a:rPr kumimoji="0" lang="ko-KR" altLang="en-US" sz="1400" b="0" i="0" u="none" strike="noStrike" kern="0" cap="none" normalizeH="0" baseline="0">
                          <a:solidFill>
                            <a:srgbClr val="000000"/>
                          </a:solidFill>
                          <a:latin typeface="나눔바른고딕"/>
                          <a:ea typeface="나눔바른고딕"/>
                        </a:rPr>
                        <a:t>주차</a:t>
                      </a:r>
                    </a:p>
                  </a:txBody>
                  <a:tcPr anchor="ctr">
                    <a:lnL w="1270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A1ADC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en-US" altLang="ko-KR" sz="1400" b="0" i="0" u="none" strike="noStrike" kern="0" cap="none" normalizeH="0" baseline="0">
                          <a:solidFill>
                            <a:srgbClr val="000000"/>
                          </a:solidFill>
                          <a:latin typeface="나눔바른고딕"/>
                          <a:ea typeface="나눔바른고딕"/>
                        </a:rPr>
                        <a:t>11/12</a:t>
                      </a:r>
                      <a:endParaRPr kumimoji="0" lang="ko-KR" altLang="en-US" sz="1400" b="0" i="0" u="none" strike="noStrike" kern="0" cap="none" normalizeH="0" baseline="0">
                        <a:solidFill>
                          <a:srgbClr val="000000"/>
                        </a:solidFill>
                        <a:latin typeface="나눔바른고딕"/>
                        <a:ea typeface="나눔바른고딕"/>
                      </a:endParaRPr>
                    </a:p>
                  </a:txBody>
                  <a:tcPr anchor="ctr">
                    <a:lnL w="1270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A1ADC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1400" b="0" i="0" u="none" strike="noStrike" kern="0" cap="none" normalizeH="0" baseline="0">
                          <a:solidFill>
                            <a:srgbClr val="000000"/>
                          </a:solidFill>
                          <a:latin typeface="나눔바른고딕"/>
                          <a:ea typeface="나눔바른고딕"/>
                        </a:rPr>
                        <a:t>챕터 </a:t>
                      </a:r>
                      <a:r>
                        <a:rPr kumimoji="0" lang="en-US" altLang="ko-KR" sz="1400" b="0" i="0" u="none" strike="noStrike" kern="0" cap="none" normalizeH="0" baseline="0">
                          <a:solidFill>
                            <a:srgbClr val="000000"/>
                          </a:solidFill>
                          <a:latin typeface="나눔바른고딕"/>
                          <a:ea typeface="나눔바른고딕"/>
                        </a:rPr>
                        <a:t>3</a:t>
                      </a:r>
                      <a:endParaRPr kumimoji="0" lang="ko-KR" altLang="en-US" sz="1400" b="0" i="0" u="none" strike="noStrike" kern="0" cap="none" normalizeH="0" baseline="0">
                        <a:solidFill>
                          <a:srgbClr val="000000"/>
                        </a:solidFill>
                        <a:latin typeface="나눔바른고딕"/>
                        <a:ea typeface="나눔바른고딕"/>
                      </a:endParaRPr>
                    </a:p>
                  </a:txBody>
                  <a:tcPr anchor="ctr">
                    <a:lnL w="1270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A1ADC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610">
                <a:tc>
                  <a:txBody>
                    <a:bodyPr/>
                    <a:lstStyle/>
                    <a:p>
                      <a:pPr marR="0" lvl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en-US" altLang="ko-KR" sz="1400" b="0" i="0" u="none" strike="noStrike" kern="0" cap="none" normalizeH="0" baseline="0">
                          <a:solidFill>
                            <a:srgbClr val="000000"/>
                          </a:solidFill>
                          <a:latin typeface="나눔바른고딕"/>
                          <a:ea typeface="나눔바른고딕"/>
                        </a:rPr>
                        <a:t>12</a:t>
                      </a:r>
                      <a:r>
                        <a:rPr kumimoji="0" lang="ko-KR" altLang="en-US" sz="1400" b="0" i="0" u="none" strike="noStrike" kern="0" cap="none" normalizeH="0" baseline="0">
                          <a:solidFill>
                            <a:srgbClr val="000000"/>
                          </a:solidFill>
                          <a:latin typeface="나눔바른고딕"/>
                          <a:ea typeface="나눔바른고딕"/>
                        </a:rPr>
                        <a:t>주차</a:t>
                      </a:r>
                    </a:p>
                  </a:txBody>
                  <a:tcPr anchor="ctr">
                    <a:lnL w="1270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C5CCE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en-US" altLang="ko-KR" sz="1400" b="0" i="0" u="none" strike="noStrike" kern="0" cap="none" normalizeH="0" baseline="0">
                          <a:solidFill>
                            <a:srgbClr val="000000"/>
                          </a:solidFill>
                          <a:latin typeface="나눔바른고딕"/>
                          <a:ea typeface="나눔바른고딕"/>
                        </a:rPr>
                        <a:t>11/19</a:t>
                      </a:r>
                      <a:endParaRPr kumimoji="0" lang="ko-KR" altLang="en-US" sz="1400" b="0" i="0" u="none" strike="noStrike" kern="0" cap="none" normalizeH="0" baseline="0">
                        <a:solidFill>
                          <a:srgbClr val="000000"/>
                        </a:solidFill>
                        <a:latin typeface="나눔바른고딕"/>
                        <a:ea typeface="나눔바른고딕"/>
                      </a:endParaRPr>
                    </a:p>
                  </a:txBody>
                  <a:tcPr anchor="ctr">
                    <a:lnL w="1270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C5CCE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1400" b="0" i="0" u="none" strike="noStrike" kern="0" cap="none" normalizeH="0" baseline="0">
                          <a:solidFill>
                            <a:srgbClr val="000000"/>
                          </a:solidFill>
                          <a:latin typeface="나눔바른고딕"/>
                          <a:ea typeface="나눔바른고딕"/>
                        </a:rPr>
                        <a:t>챕터 </a:t>
                      </a:r>
                      <a:r>
                        <a:rPr kumimoji="0" lang="en-US" altLang="ko-KR" sz="1400" b="0" i="0" u="none" strike="noStrike" kern="0" cap="none" normalizeH="0" baseline="0">
                          <a:solidFill>
                            <a:srgbClr val="000000"/>
                          </a:solidFill>
                          <a:latin typeface="나눔바른고딕"/>
                          <a:ea typeface="나눔바른고딕"/>
                        </a:rPr>
                        <a:t>4</a:t>
                      </a:r>
                      <a:endParaRPr kumimoji="0" lang="ko-KR" altLang="en-US" sz="1400" b="0" i="0" u="none" strike="noStrike" kern="0" cap="none" normalizeH="0" baseline="0">
                        <a:solidFill>
                          <a:srgbClr val="000000"/>
                        </a:solidFill>
                        <a:latin typeface="나눔바른고딕"/>
                        <a:ea typeface="나눔바른고딕"/>
                      </a:endParaRPr>
                    </a:p>
                  </a:txBody>
                  <a:tcPr anchor="ctr">
                    <a:lnL w="1270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C5CCE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610">
                <a:tc>
                  <a:txBody>
                    <a:bodyPr/>
                    <a:lstStyle/>
                    <a:p>
                      <a:pPr marR="0" lvl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en-US" altLang="ko-KR" sz="1400" b="0" i="0" u="none" strike="noStrike" kern="0" cap="none" normalizeH="0" baseline="0">
                          <a:solidFill>
                            <a:srgbClr val="000000"/>
                          </a:solidFill>
                          <a:latin typeface="나눔바른고딕"/>
                          <a:ea typeface="나눔바른고딕"/>
                        </a:rPr>
                        <a:t>13</a:t>
                      </a:r>
                      <a:r>
                        <a:rPr kumimoji="0" lang="ko-KR" altLang="en-US" sz="1400" b="0" i="0" u="none" strike="noStrike" kern="0" cap="none" normalizeH="0" baseline="0">
                          <a:solidFill>
                            <a:srgbClr val="000000"/>
                          </a:solidFill>
                          <a:latin typeface="나눔바른고딕"/>
                          <a:ea typeface="나눔바른고딕"/>
                        </a:rPr>
                        <a:t>주차</a:t>
                      </a:r>
                    </a:p>
                  </a:txBody>
                  <a:tcPr anchor="ctr">
                    <a:lnL w="1270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A1ADC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en-US" altLang="ko-KR" sz="1400" b="0" i="0" u="none" strike="noStrike" kern="0" cap="none" normalizeH="0" baseline="0">
                          <a:solidFill>
                            <a:srgbClr val="000000"/>
                          </a:solidFill>
                          <a:latin typeface="나눔바른고딕"/>
                          <a:ea typeface="나눔바른고딕"/>
                        </a:rPr>
                        <a:t>11/26</a:t>
                      </a:r>
                      <a:endParaRPr kumimoji="0" lang="ko-KR" altLang="en-US" sz="1400" b="0" i="0" u="none" strike="noStrike" kern="0" cap="none" normalizeH="0" baseline="0">
                        <a:solidFill>
                          <a:srgbClr val="000000"/>
                        </a:solidFill>
                        <a:latin typeface="나눔바른고딕"/>
                        <a:ea typeface="나눔바른고딕"/>
                      </a:endParaRPr>
                    </a:p>
                  </a:txBody>
                  <a:tcPr anchor="ctr">
                    <a:lnL w="1270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A1ADC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1400" b="0" i="0" u="none" strike="noStrike" kern="0" cap="none" normalizeH="0" baseline="0">
                          <a:solidFill>
                            <a:srgbClr val="000000"/>
                          </a:solidFill>
                          <a:latin typeface="나눔바른고딕"/>
                          <a:ea typeface="나눔바른고딕"/>
                        </a:rPr>
                        <a:t>챕터 </a:t>
                      </a:r>
                      <a:r>
                        <a:rPr kumimoji="0" lang="en-US" altLang="ko-KR" sz="1400" b="0" i="0" u="none" strike="noStrike" kern="0" cap="none" normalizeH="0" baseline="0">
                          <a:solidFill>
                            <a:srgbClr val="000000"/>
                          </a:solidFill>
                          <a:latin typeface="나눔바른고딕"/>
                          <a:ea typeface="나눔바른고딕"/>
                        </a:rPr>
                        <a:t>5</a:t>
                      </a:r>
                      <a:endParaRPr kumimoji="0" lang="ko-KR" altLang="en-US" sz="1400" b="0" i="0" u="none" strike="noStrike" kern="0" cap="none" normalizeH="0" baseline="0">
                        <a:solidFill>
                          <a:srgbClr val="000000"/>
                        </a:solidFill>
                        <a:latin typeface="나눔바른고딕"/>
                        <a:ea typeface="나눔바른고딕"/>
                      </a:endParaRPr>
                    </a:p>
                  </a:txBody>
                  <a:tcPr anchor="ctr">
                    <a:lnL w="1270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A1ADC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0610">
                <a:tc>
                  <a:txBody>
                    <a:bodyPr/>
                    <a:lstStyle/>
                    <a:p>
                      <a:pPr marR="0" lvl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en-US" altLang="ko-KR" sz="1400" b="0" i="0" u="none" strike="noStrike" kern="0" cap="none" normalizeH="0" baseline="0">
                          <a:solidFill>
                            <a:srgbClr val="000000"/>
                          </a:solidFill>
                          <a:latin typeface="나눔바른고딕"/>
                          <a:ea typeface="나눔바른고딕"/>
                        </a:rPr>
                        <a:t>14-16</a:t>
                      </a:r>
                      <a:r>
                        <a:rPr kumimoji="0" lang="ko-KR" altLang="en-US" sz="1400" b="0" i="0" u="none" strike="noStrike" kern="0" cap="none" normalizeH="0" baseline="0">
                          <a:solidFill>
                            <a:srgbClr val="000000"/>
                          </a:solidFill>
                          <a:latin typeface="나눔바른고딕"/>
                          <a:ea typeface="나눔바른고딕"/>
                        </a:rPr>
                        <a:t>주차</a:t>
                      </a:r>
                    </a:p>
                  </a:txBody>
                  <a:tcPr anchor="ctr">
                    <a:lnL w="1270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C5CCE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en-US" altLang="ko-KR" sz="1400" b="0" i="0" u="none" strike="noStrike" kern="0" cap="none" normalizeH="0" baseline="0">
                          <a:solidFill>
                            <a:srgbClr val="000000"/>
                          </a:solidFill>
                          <a:latin typeface="나눔바른고딕"/>
                          <a:ea typeface="나눔바른고딕"/>
                        </a:rPr>
                        <a:t>-</a:t>
                      </a:r>
                      <a:endParaRPr kumimoji="0" lang="ko-KR" altLang="en-US" sz="1400" b="0" i="0" u="none" strike="noStrike" kern="0" cap="none" normalizeH="0" baseline="0">
                        <a:solidFill>
                          <a:srgbClr val="000000"/>
                        </a:solidFill>
                        <a:latin typeface="나눔바른고딕"/>
                        <a:ea typeface="나눔바른고딕"/>
                      </a:endParaRPr>
                    </a:p>
                  </a:txBody>
                  <a:tcPr anchor="ctr">
                    <a:lnL w="1270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C5CCE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en-US" altLang="ko-KR" sz="1400" b="0" i="0" u="none" strike="noStrike" kern="0" cap="none" normalizeH="0" baseline="0">
                          <a:solidFill>
                            <a:srgbClr val="000000"/>
                          </a:solidFill>
                          <a:latin typeface="나눔바른고딕"/>
                          <a:ea typeface="나눔바른고딕"/>
                        </a:rPr>
                        <a:t>-</a:t>
                      </a:r>
                      <a:endParaRPr kumimoji="0" lang="ko-KR" altLang="en-US" sz="1400" b="0" i="0" u="none" strike="noStrike" kern="0" cap="none" normalizeH="0" baseline="0">
                        <a:solidFill>
                          <a:srgbClr val="000000"/>
                        </a:solidFill>
                        <a:latin typeface="나눔바른고딕"/>
                        <a:ea typeface="나눔바른고딕"/>
                      </a:endParaRPr>
                    </a:p>
                  </a:txBody>
                  <a:tcPr anchor="ctr">
                    <a:lnL w="1270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C5CCE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가로 글상자 84"/>
          <p:cNvSpPr txBox="1"/>
          <p:nvPr/>
        </p:nvSpPr>
        <p:spPr>
          <a:xfrm>
            <a:off x="2012119" y="2107290"/>
            <a:ext cx="2850644" cy="338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600" b="1">
                <a:latin typeface="나눔스퀘어"/>
                <a:ea typeface="나눔스퀘어"/>
              </a:rPr>
              <a:t>피처 간의 상관 관계 분석</a:t>
            </a:r>
          </a:p>
        </p:txBody>
      </p:sp>
      <p:pic>
        <p:nvPicPr>
          <p:cNvPr id="86" name="그림 8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500179" y="2533993"/>
            <a:ext cx="3377948" cy="877389"/>
          </a:xfrm>
          <a:prstGeom prst="rect">
            <a:avLst/>
          </a:prstGeom>
        </p:spPr>
      </p:pic>
      <p:pic>
        <p:nvPicPr>
          <p:cNvPr id="87" name="그림 8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771051" y="1688984"/>
            <a:ext cx="1504736" cy="1208027"/>
          </a:xfrm>
          <a:prstGeom prst="rect">
            <a:avLst/>
          </a:prstGeom>
        </p:spPr>
      </p:pic>
      <p:pic>
        <p:nvPicPr>
          <p:cNvPr id="88" name="그림 87"/>
          <p:cNvPicPr>
            <a:picLocks noChangeAspect="1"/>
          </p:cNvPicPr>
          <p:nvPr/>
        </p:nvPicPr>
        <p:blipFill rotWithShape="1">
          <a:blip r:embed="rId6"/>
          <a:srcRect b="3430"/>
          <a:stretch>
            <a:fillRect/>
          </a:stretch>
        </p:blipFill>
        <p:spPr>
          <a:xfrm>
            <a:off x="6899523" y="3565139"/>
            <a:ext cx="1310001" cy="1287597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6861442" y="1485017"/>
            <a:ext cx="1732861" cy="2955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1.</a:t>
            </a:r>
            <a:r>
              <a:rPr lang="ko-KR" altLang="en-US"/>
              <a:t> </a:t>
            </a:r>
            <a:r>
              <a:rPr lang="en-US" altLang="ko-KR"/>
              <a:t>heatmap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937486" y="3246207"/>
            <a:ext cx="1595151" cy="293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2. pairplot</a:t>
            </a:r>
          </a:p>
        </p:txBody>
      </p:sp>
      <p:cxnSp>
        <p:nvCxnSpPr>
          <p:cNvPr id="91" name="직선 화살표 연결선 90"/>
          <p:cNvCxnSpPr/>
          <p:nvPr/>
        </p:nvCxnSpPr>
        <p:spPr>
          <a:xfrm flipV="1">
            <a:off x="5157271" y="2558014"/>
            <a:ext cx="1509081" cy="2639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/>
          <p:cNvCxnSpPr/>
          <p:nvPr/>
        </p:nvCxnSpPr>
        <p:spPr>
          <a:xfrm>
            <a:off x="5166221" y="3014526"/>
            <a:ext cx="1465703" cy="266470"/>
          </a:xfrm>
          <a:prstGeom prst="straightConnector1">
            <a:avLst/>
          </a:prstGeom>
          <a:noFill/>
          <a:ln w="9525" cap="flat" cmpd="sng" algn="ctr">
            <a:solidFill>
              <a:srgbClr val="3C80F2">
                <a:alpha val="100000"/>
              </a:srgbClr>
            </a:solidFill>
            <a:prstDash val="solid"/>
            <a:tailEnd type="arrow"/>
          </a:ln>
        </p:spPr>
      </p:cxnSp>
      <p:sp>
        <p:nvSpPr>
          <p:cNvPr id="93" name="Google Shape;66;p14"/>
          <p:cNvSpPr txBox="1"/>
          <p:nvPr/>
        </p:nvSpPr>
        <p:spPr>
          <a:xfrm>
            <a:off x="1408975" y="323204"/>
            <a:ext cx="5400505" cy="53022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CHAPTER 1. 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데이터에서 인사이트 발견하기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/>
          <p:cNvSpPr txBox="1"/>
          <p:nvPr/>
        </p:nvSpPr>
        <p:spPr>
          <a:xfrm>
            <a:off x="1408975" y="323204"/>
            <a:ext cx="5400505" cy="53022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000" b="1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CHAPTER 1. </a:t>
            </a:r>
            <a:r>
              <a:rPr lang="ko-KR" altLang="en-US" sz="2000" b="1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데이터에서 인사이트 발견하기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629275" y="1112921"/>
            <a:ext cx="1995237" cy="29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94" name="TextBox 93"/>
          <p:cNvSpPr txBox="1"/>
          <p:nvPr/>
        </p:nvSpPr>
        <p:spPr>
          <a:xfrm>
            <a:off x="1508960" y="1293395"/>
            <a:ext cx="2456448" cy="295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95" name="가로 글상자 84"/>
          <p:cNvSpPr txBox="1"/>
          <p:nvPr/>
        </p:nvSpPr>
        <p:spPr>
          <a:xfrm>
            <a:off x="1550908" y="1396925"/>
            <a:ext cx="4885985" cy="334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ko-KR" altLang="en-US" sz="1600" b="1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통계적 분석 </a:t>
            </a:r>
            <a:r>
              <a:rPr kumimoji="0" lang="en-US" altLang="ko-KR" sz="1600" b="1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:</a:t>
            </a:r>
            <a:r>
              <a:rPr kumimoji="0" lang="ko-KR" altLang="en-US" sz="1600" b="1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 분석 대상 간의 통계적 차이 검정하기</a:t>
            </a:r>
          </a:p>
        </p:txBody>
      </p:sp>
      <p:sp>
        <p:nvSpPr>
          <p:cNvPr id="98" name="가로 글상자 84"/>
          <p:cNvSpPr txBox="1"/>
          <p:nvPr/>
        </p:nvSpPr>
        <p:spPr>
          <a:xfrm>
            <a:off x="1587584" y="2385419"/>
            <a:ext cx="7556416" cy="13083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t-test : </a:t>
            </a:r>
            <a:r>
              <a:rPr kumimoji="0" lang="ko-KR" altLang="en-US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두 집단 간의 평균의 차이에 대한 검정 방법</a:t>
            </a: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p-value : </a:t>
            </a:r>
            <a:r>
              <a:rPr kumimoji="0" lang="ko-KR" altLang="en-US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가설이 얼마나 믿을만한 것인지를 나타내는 지표 </a:t>
            </a:r>
            <a:endParaRPr kumimoji="0" lang="en-US" altLang="ko-KR" sz="1600" b="0" i="0" u="none" strike="noStrike" kern="0" cap="none" spc="0" normalizeH="0" baseline="0">
              <a:solidFill>
                <a:srgbClr val="000000"/>
              </a:solidFill>
              <a:latin typeface="나눔스퀘어"/>
              <a:ea typeface="나눔스퀘어"/>
            </a:endParaRPr>
          </a:p>
          <a:p>
            <a:pPr lvl="0">
              <a:defRPr/>
            </a:pPr>
            <a:r>
              <a:rPr lang="ko-KR" altLang="en-US" sz="1600">
                <a:latin typeface="나눔스퀘어"/>
                <a:ea typeface="나눔스퀘어"/>
              </a:rPr>
              <a:t>               → </a:t>
            </a:r>
            <a:r>
              <a:rPr kumimoji="0" lang="ko-KR" altLang="en-US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 귀무 가설이 맞다는 전제 하에 현재 나온 통계값 이상이 나올 확률</a:t>
            </a:r>
          </a:p>
          <a:p>
            <a:pPr lvl="0">
              <a:defRPr/>
            </a:pPr>
            <a:r>
              <a:rPr kumimoji="0" lang="ko-KR" altLang="en-US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               일반적 기준 </a:t>
            </a:r>
            <a:r>
              <a:rPr kumimoji="0" lang="en-US" altLang="ko-KR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:</a:t>
            </a:r>
            <a:r>
              <a:rPr kumimoji="0" lang="ko-KR" altLang="en-US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 </a:t>
            </a:r>
            <a:r>
              <a:rPr kumimoji="0" lang="en-US" altLang="ko-KR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0.05 or 0.01</a:t>
            </a:r>
            <a:r>
              <a:rPr kumimoji="0" lang="ko-KR" altLang="en-US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 </a:t>
            </a:r>
            <a:r>
              <a:rPr lang="ko-KR" altLang="en-US" sz="1600">
                <a:latin typeface="나눔스퀘어"/>
                <a:ea typeface="나눔스퀘어"/>
              </a:rPr>
              <a:t>→ 기준보다 낮은 값이 나오면 귀무 가설 기각</a:t>
            </a:r>
          </a:p>
          <a:p>
            <a:pPr lvl="0">
              <a:defRPr/>
            </a:pPr>
            <a:r>
              <a:rPr kumimoji="0" lang="en-US" altLang="ko-KR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                 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/>
          <p:cNvSpPr txBox="1"/>
          <p:nvPr/>
        </p:nvSpPr>
        <p:spPr>
          <a:xfrm>
            <a:off x="1408975" y="323204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000" b="1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CHAPER 2. </a:t>
            </a:r>
            <a:r>
              <a:rPr lang="ko-KR" altLang="en-US" sz="2000" b="1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텍스트 마이닝 첫걸음</a:t>
            </a:r>
          </a:p>
        </p:txBody>
      </p:sp>
      <p:sp>
        <p:nvSpPr>
          <p:cNvPr id="86" name="가로 글상자 84"/>
          <p:cNvSpPr txBox="1"/>
          <p:nvPr/>
        </p:nvSpPr>
        <p:spPr>
          <a:xfrm>
            <a:off x="1540880" y="1351626"/>
            <a:ext cx="7773566" cy="24659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600" b="1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1.</a:t>
            </a:r>
            <a:r>
              <a:rPr kumimoji="0" lang="ko-KR" altLang="en-US" sz="1600" b="1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 크롤링 </a:t>
            </a:r>
            <a:r>
              <a:rPr kumimoji="0" lang="en-US" altLang="ko-KR" sz="1600" b="1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:</a:t>
            </a:r>
            <a:r>
              <a:rPr kumimoji="0" lang="ko-KR" altLang="en-US" sz="1600" b="1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 웹 데이터 가져오기</a:t>
            </a:r>
            <a:endParaRPr kumimoji="0" lang="ko-KR" altLang="en-US" sz="1600" b="0" i="0" u="none" strike="noStrike" kern="0" cap="none" spc="0" normalizeH="0" baseline="0">
              <a:solidFill>
                <a:srgbClr val="000000"/>
              </a:solidFill>
              <a:latin typeface="나눔스퀘어"/>
              <a:ea typeface="나눔스퀘어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ko-KR" altLang="en-US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     모든 </a:t>
            </a:r>
            <a:r>
              <a:rPr kumimoji="0" lang="en-US" altLang="ko-KR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URL</a:t>
            </a:r>
            <a:r>
              <a:rPr kumimoji="0" lang="ko-KR" altLang="en-US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의 텍스트 데이터를 가져온 뒤</a:t>
            </a:r>
            <a:r>
              <a:rPr kumimoji="0" lang="en-US" altLang="ko-KR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,</a:t>
            </a:r>
            <a:r>
              <a:rPr kumimoji="0" lang="ko-KR" altLang="en-US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 프레임의 형태로 변환    </a:t>
            </a: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ko-KR" altLang="en-US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         </a:t>
            </a: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600" b="1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2.</a:t>
            </a:r>
            <a:r>
              <a:rPr kumimoji="0" lang="ko-KR" altLang="en-US" sz="1600" b="1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 추출 </a:t>
            </a:r>
            <a:r>
              <a:rPr kumimoji="0" lang="en-US" altLang="ko-KR" sz="1600" b="1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:</a:t>
            </a:r>
            <a:r>
              <a:rPr kumimoji="0" lang="ko-KR" altLang="en-US" sz="1600" b="1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 키워드 정보 추출하기</a:t>
            </a: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ko-KR" altLang="en-US" sz="160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     텍스트 전처리 작업 </a:t>
            </a:r>
            <a:r>
              <a:rPr kumimoji="0" lang="en-US" altLang="ko-KR" sz="160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:</a:t>
            </a:r>
            <a:r>
              <a:rPr kumimoji="0" lang="ko-KR" altLang="en-US" sz="160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 파이썬의 </a:t>
            </a:r>
            <a:r>
              <a:rPr kumimoji="0" lang="en-US" altLang="ko-KR" sz="160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‘re’</a:t>
            </a:r>
            <a:r>
              <a:rPr kumimoji="0" lang="ko-KR" altLang="en-US" sz="160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 모듈을 통해 정규표현식 활용하여 한글만 추출</a:t>
            </a: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ko-KR" altLang="en-US" sz="160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      </a:t>
            </a:r>
            <a:r>
              <a:rPr kumimoji="0" lang="en-US" altLang="ko-KR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*</a:t>
            </a:r>
            <a:r>
              <a:rPr kumimoji="0" lang="ko-KR" altLang="en-US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정규표현식 </a:t>
            </a:r>
            <a:r>
              <a:rPr kumimoji="0" lang="en-US" altLang="ko-KR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:</a:t>
            </a:r>
            <a:r>
              <a:rPr kumimoji="0" lang="ko-KR" altLang="en-US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특정한 규칙을 가진 문자열의 집합을 표현하는 방식</a:t>
            </a: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         ex) </a:t>
            </a:r>
            <a:r>
              <a:rPr kumimoji="0" lang="ko-KR" altLang="en-US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한글 </a:t>
            </a:r>
            <a:r>
              <a:rPr kumimoji="0" lang="en-US" altLang="ko-KR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: [^ </a:t>
            </a:r>
            <a:r>
              <a:rPr kumimoji="0" lang="ko-KR" altLang="en-US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ㄱ</a:t>
            </a:r>
            <a:r>
              <a:rPr kumimoji="0" lang="en-US" altLang="ko-KR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 - l </a:t>
            </a:r>
            <a:r>
              <a:rPr kumimoji="0" lang="ko-KR" altLang="en-US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가 </a:t>
            </a:r>
            <a:r>
              <a:rPr kumimoji="0" lang="en-US" altLang="ko-KR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-</a:t>
            </a:r>
            <a:r>
              <a:rPr kumimoji="0" lang="ko-KR" altLang="en-US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 힣</a:t>
            </a:r>
            <a:r>
              <a:rPr kumimoji="0" lang="en-US" altLang="ko-KR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]</a:t>
            </a: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ko-KR" altLang="en-US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 </a:t>
            </a: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600" b="1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3.</a:t>
            </a:r>
            <a:r>
              <a:rPr kumimoji="0" lang="ko-KR" altLang="en-US" sz="1600" b="1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 시각화 </a:t>
            </a:r>
            <a:r>
              <a:rPr kumimoji="0" lang="en-US" altLang="ko-KR" sz="1600" b="1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:</a:t>
            </a:r>
            <a:r>
              <a:rPr kumimoji="0" lang="ko-KR" altLang="en-US" sz="1600" b="1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 워드 클라우드 시각화하기</a:t>
            </a:r>
            <a:endParaRPr kumimoji="0" lang="ko-KR" altLang="en-US" sz="1600" b="0" i="0" u="none" strike="noStrike" kern="0" cap="none" spc="0" normalizeH="0" baseline="0">
              <a:solidFill>
                <a:srgbClr val="000000"/>
              </a:solidFill>
              <a:latin typeface="나눔스퀘어"/>
              <a:ea typeface="나눔스퀘어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ko-KR" altLang="en-US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     </a:t>
            </a:r>
          </a:p>
        </p:txBody>
      </p:sp>
      <p:pic>
        <p:nvPicPr>
          <p:cNvPr id="87" name="그림 8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272551" y="3359075"/>
            <a:ext cx="2178296" cy="1543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가로 글상자 84"/>
          <p:cNvSpPr txBox="1"/>
          <p:nvPr/>
        </p:nvSpPr>
        <p:spPr>
          <a:xfrm>
            <a:off x="1829105" y="1153885"/>
            <a:ext cx="1508809" cy="33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600" b="1">
                <a:latin typeface="나눔스퀘어"/>
                <a:ea typeface="나눔스퀘어"/>
              </a:rPr>
              <a:t>회귀 분석 </a:t>
            </a:r>
            <a:r>
              <a:rPr lang="en-US" altLang="ko-KR" sz="1600" b="1">
                <a:latin typeface="나눔스퀘어"/>
                <a:ea typeface="나눔스퀘어"/>
              </a:rPr>
              <a:t> </a:t>
            </a:r>
          </a:p>
        </p:txBody>
      </p:sp>
      <p:sp>
        <p:nvSpPr>
          <p:cNvPr id="87" name="Google Shape;66;p14"/>
          <p:cNvSpPr txBox="1"/>
          <p:nvPr/>
        </p:nvSpPr>
        <p:spPr>
          <a:xfrm>
            <a:off x="1408975" y="323204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CHAPER 3. 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미래를 예측하는 데이터 분석</a:t>
            </a:r>
          </a:p>
        </p:txBody>
      </p:sp>
      <p:sp>
        <p:nvSpPr>
          <p:cNvPr id="93" name="가로 글상자 84"/>
          <p:cNvSpPr txBox="1"/>
          <p:nvPr/>
        </p:nvSpPr>
        <p:spPr>
          <a:xfrm>
            <a:off x="1891268" y="1757469"/>
            <a:ext cx="4406414" cy="8219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ko-KR" altLang="en-US" sz="1600" b="1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피처의 정규화</a:t>
            </a:r>
            <a:endParaRPr kumimoji="0" lang="ko-KR" altLang="en-US" sz="1600" b="0" i="0" u="none" strike="noStrike" kern="0" cap="none" spc="0" normalizeH="0" baseline="0">
              <a:solidFill>
                <a:srgbClr val="000000"/>
              </a:solidFill>
              <a:latin typeface="나눔스퀘어"/>
              <a:ea typeface="나눔스퀘어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1.</a:t>
            </a:r>
            <a:r>
              <a:rPr kumimoji="0" lang="ko-KR" altLang="en-US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 연속형</a:t>
            </a:r>
            <a:r>
              <a:rPr kumimoji="0" lang="en-US" altLang="ko-KR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 </a:t>
            </a:r>
            <a:r>
              <a:rPr kumimoji="0" lang="ko-KR" altLang="en-US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피처 </a:t>
            </a:r>
            <a:r>
              <a:rPr kumimoji="0" lang="en-US" altLang="ko-KR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:</a:t>
            </a:r>
            <a:r>
              <a:rPr kumimoji="0" lang="ko-KR" altLang="en-US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 피처 스케일링</a:t>
            </a: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2.</a:t>
            </a:r>
            <a:r>
              <a:rPr kumimoji="0" lang="ko-KR" altLang="en-US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 범주형 피처 </a:t>
            </a:r>
            <a:r>
              <a:rPr kumimoji="0" lang="en-US" altLang="ko-KR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: One-Hot Encoding </a:t>
            </a:r>
          </a:p>
        </p:txBody>
      </p:sp>
      <p:sp>
        <p:nvSpPr>
          <p:cNvPr id="94" name="가로 글상자 84"/>
          <p:cNvSpPr txBox="1"/>
          <p:nvPr/>
        </p:nvSpPr>
        <p:spPr>
          <a:xfrm>
            <a:off x="1953428" y="3123053"/>
            <a:ext cx="6943074" cy="5707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ko-KR" altLang="en-US" sz="1600" b="1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다중공선성</a:t>
            </a:r>
            <a:r>
              <a:rPr kumimoji="0" lang="en-US" altLang="ko-KR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 : </a:t>
            </a:r>
            <a:r>
              <a:rPr kumimoji="0" lang="ko-KR" altLang="en-US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변수 간 상관 관계가 높아 분석에 부정적인 영향을 미침</a:t>
            </a: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ko-KR" altLang="en-US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분산팽창요인</a:t>
            </a:r>
            <a:r>
              <a:rPr kumimoji="0" lang="en-US" altLang="ko-KR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(VIF)</a:t>
            </a:r>
            <a:r>
              <a:rPr kumimoji="0" lang="ko-KR" altLang="en-US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으로 평가 가능</a:t>
            </a:r>
            <a:r>
              <a:rPr kumimoji="0" lang="en-US" altLang="ko-KR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.</a:t>
            </a:r>
            <a:r>
              <a:rPr kumimoji="0" lang="ko-KR" altLang="en-US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 </a:t>
            </a:r>
            <a:r>
              <a:rPr kumimoji="0" lang="en-US" altLang="ko-KR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ex) 10~15 </a:t>
            </a:r>
            <a:r>
              <a:rPr kumimoji="0" lang="ko-KR" altLang="en-US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이상이면 다중공선성에 문제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가로 글상자 84"/>
          <p:cNvSpPr txBox="1"/>
          <p:nvPr/>
        </p:nvSpPr>
        <p:spPr>
          <a:xfrm>
            <a:off x="1829105" y="1153885"/>
            <a:ext cx="2010124" cy="33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600" b="1">
                <a:latin typeface="나눔스퀘어"/>
                <a:ea typeface="나눔스퀘어"/>
              </a:rPr>
              <a:t>시계열 데이터 분석</a:t>
            </a:r>
          </a:p>
        </p:txBody>
      </p:sp>
      <p:sp>
        <p:nvSpPr>
          <p:cNvPr id="87" name="Google Shape;66;p14"/>
          <p:cNvSpPr txBox="1"/>
          <p:nvPr/>
        </p:nvSpPr>
        <p:spPr>
          <a:xfrm>
            <a:off x="1408975" y="323204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CHAPER 3. 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미래를 예측하는 데이터 분석</a:t>
            </a:r>
          </a:p>
        </p:txBody>
      </p:sp>
      <p:sp>
        <p:nvSpPr>
          <p:cNvPr id="93" name="가로 글상자 84"/>
          <p:cNvSpPr txBox="1"/>
          <p:nvPr/>
        </p:nvSpPr>
        <p:spPr>
          <a:xfrm>
            <a:off x="1891268" y="1757469"/>
            <a:ext cx="7252732" cy="10600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600" b="1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ARIMA</a:t>
            </a:r>
            <a:r>
              <a:rPr kumimoji="0" lang="ko-KR" altLang="en-US" sz="1600" b="1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 분석</a:t>
            </a: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1.</a:t>
            </a:r>
            <a:r>
              <a:rPr kumimoji="0" lang="ko-KR" altLang="en-US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 </a:t>
            </a:r>
            <a:r>
              <a:rPr kumimoji="0" lang="en-US" altLang="ko-KR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AR(Autoregression):</a:t>
            </a:r>
            <a:r>
              <a:rPr kumimoji="0" lang="ko-KR" altLang="en-US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 자기 자신의 과거를 정보로 사용</a:t>
            </a: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2.</a:t>
            </a:r>
            <a:r>
              <a:rPr kumimoji="0" lang="ko-KR" altLang="en-US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 </a:t>
            </a:r>
            <a:r>
              <a:rPr kumimoji="0" lang="en-US" altLang="ko-KR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MA(Moving Average)</a:t>
            </a:r>
            <a:r>
              <a:rPr kumimoji="0" lang="ko-KR" altLang="en-US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 </a:t>
            </a:r>
            <a:r>
              <a:rPr kumimoji="0" lang="en-US" altLang="ko-KR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: </a:t>
            </a:r>
            <a:r>
              <a:rPr kumimoji="0" lang="ko-KR" altLang="en-US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이전 항에서의 오차를 이용하여 현재 항의 상태를 추론</a:t>
            </a: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ARMA + </a:t>
            </a:r>
            <a:r>
              <a:rPr kumimoji="0" lang="ko-KR" altLang="en-US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추세 변동의 경향성</a:t>
            </a:r>
            <a:r>
              <a:rPr kumimoji="0" lang="en-US" altLang="ko-KR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(Momentum)</a:t>
            </a:r>
            <a:r>
              <a:rPr kumimoji="0" lang="ko-KR" altLang="en-US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 </a:t>
            </a:r>
            <a:r>
              <a:rPr kumimoji="0" lang="en-US" altLang="ko-KR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=</a:t>
            </a:r>
            <a:r>
              <a:rPr kumimoji="0" lang="ko-KR" altLang="en-US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 </a:t>
            </a:r>
            <a:r>
              <a:rPr kumimoji="0" lang="en-US" altLang="ko-KR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ARIMA</a:t>
            </a:r>
            <a:r>
              <a:rPr kumimoji="0" lang="ko-KR" altLang="en-US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 모델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가로 글상자 84"/>
          <p:cNvSpPr txBox="1"/>
          <p:nvPr/>
        </p:nvSpPr>
        <p:spPr>
          <a:xfrm>
            <a:off x="1829105" y="1153885"/>
            <a:ext cx="2010124" cy="33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600" b="1">
                <a:latin typeface="나눔스퀘어"/>
                <a:ea typeface="나눔스퀘어"/>
              </a:rPr>
              <a:t>영화 평점 예측하기</a:t>
            </a:r>
          </a:p>
        </p:txBody>
      </p:sp>
      <p:sp>
        <p:nvSpPr>
          <p:cNvPr id="87" name="Google Shape;66;p14"/>
          <p:cNvSpPr txBox="1"/>
          <p:nvPr/>
        </p:nvSpPr>
        <p:spPr>
          <a:xfrm>
            <a:off x="1408975" y="323204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CHAPER 3. 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미래를 예측하는 데이터 분석</a:t>
            </a:r>
          </a:p>
        </p:txBody>
      </p:sp>
      <p:sp>
        <p:nvSpPr>
          <p:cNvPr id="93" name="가로 글상자 84"/>
          <p:cNvSpPr txBox="1"/>
          <p:nvPr/>
        </p:nvSpPr>
        <p:spPr>
          <a:xfrm>
            <a:off x="1891268" y="1757469"/>
            <a:ext cx="2470180" cy="336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ko-KR" altLang="en-US" sz="160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행렬 분해 </a:t>
            </a:r>
            <a:r>
              <a:rPr kumimoji="0" lang="en-US" altLang="ko-KR" sz="160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(</a:t>
            </a:r>
            <a:r>
              <a:rPr kumimoji="0" lang="ko-KR" altLang="en-US" sz="160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특이값 </a:t>
            </a:r>
            <a:r>
              <a:rPr kumimoji="0" lang="ko-KR" altLang="en-US" sz="160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분해</a:t>
            </a:r>
            <a:r>
              <a:rPr kumimoji="0" lang="en-US" altLang="ko-KR" sz="160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)</a:t>
            </a:r>
          </a:p>
        </p:txBody>
      </p:sp>
      <p:pic>
        <p:nvPicPr>
          <p:cNvPr id="95" name="그림 9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838916" y="2093731"/>
            <a:ext cx="5185429" cy="1476756"/>
          </a:xfrm>
          <a:prstGeom prst="rect">
            <a:avLst/>
          </a:prstGeom>
        </p:spPr>
      </p:pic>
      <p:sp>
        <p:nvSpPr>
          <p:cNvPr id="96" name="가로 글상자 84"/>
          <p:cNvSpPr txBox="1"/>
          <p:nvPr/>
        </p:nvSpPr>
        <p:spPr>
          <a:xfrm>
            <a:off x="1943405" y="3764737"/>
            <a:ext cx="6941917" cy="10625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1.</a:t>
            </a:r>
            <a:r>
              <a:rPr kumimoji="0" lang="ko-KR" altLang="en-US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 </a:t>
            </a:r>
            <a:r>
              <a:rPr kumimoji="0" lang="en-US" altLang="ko-KR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3</a:t>
            </a:r>
            <a:r>
              <a:rPr kumimoji="0" lang="ko-KR" altLang="en-US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개로 나눠진 행렬 </a:t>
            </a:r>
            <a:r>
              <a:rPr kumimoji="0" lang="en-US" altLang="ko-KR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U, S, V</a:t>
            </a:r>
            <a:r>
              <a:rPr kumimoji="0" lang="ko-KR" altLang="en-US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의 값을 임의의 숫자로 초기화</a:t>
            </a: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2.</a:t>
            </a:r>
            <a:r>
              <a:rPr kumimoji="0" lang="ko-KR" altLang="en-US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 임의의 값으로 채워진 </a:t>
            </a:r>
            <a:r>
              <a:rPr kumimoji="0" lang="en-US" altLang="ko-KR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3</a:t>
            </a:r>
            <a:r>
              <a:rPr kumimoji="0" lang="ko-KR" altLang="en-US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개의 행렬을 곱하여 새로운 행렬 </a:t>
            </a:r>
            <a:r>
              <a:rPr kumimoji="0" lang="en-US" altLang="ko-KR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A’</a:t>
            </a:r>
            <a:r>
              <a:rPr kumimoji="0" lang="ko-KR" altLang="en-US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를 계산</a:t>
            </a: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3.</a:t>
            </a:r>
            <a:r>
              <a:rPr kumimoji="0" lang="ko-KR" altLang="en-US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 행렬 </a:t>
            </a:r>
            <a:r>
              <a:rPr kumimoji="0" lang="en-US" altLang="ko-KR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A’</a:t>
            </a:r>
            <a:r>
              <a:rPr kumimoji="0" lang="ko-KR" altLang="en-US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의 값</a:t>
            </a:r>
            <a:r>
              <a:rPr kumimoji="0" lang="en-US" altLang="ko-KR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,</a:t>
            </a:r>
            <a:r>
              <a:rPr kumimoji="0" lang="ko-KR" altLang="en-US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 </a:t>
            </a:r>
            <a:r>
              <a:rPr kumimoji="0" lang="en-US" altLang="ko-KR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A</a:t>
            </a:r>
            <a:r>
              <a:rPr kumimoji="0" lang="ko-KR" altLang="en-US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의 값을 비교</a:t>
            </a: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4.</a:t>
            </a:r>
            <a:r>
              <a:rPr kumimoji="0" lang="ko-KR" altLang="en-US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 이 값들이 최대한 비슷해지는 </a:t>
            </a:r>
            <a:r>
              <a:rPr kumimoji="0" lang="en-US" altLang="ko-KR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?</a:t>
            </a:r>
            <a:r>
              <a:rPr kumimoji="0" lang="ko-KR" altLang="en-US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를 학습한 뒤</a:t>
            </a:r>
            <a:r>
              <a:rPr kumimoji="0" lang="en-US" altLang="ko-KR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,</a:t>
            </a:r>
            <a:r>
              <a:rPr kumimoji="0" lang="ko-KR" altLang="en-US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 행렬 </a:t>
            </a:r>
            <a:r>
              <a:rPr kumimoji="0" lang="en-US" altLang="ko-KR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A’</a:t>
            </a:r>
            <a:r>
              <a:rPr kumimoji="0" lang="ko-KR" altLang="en-US" sz="1600" b="0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 빈 공간에 채워 넣음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가로 글상자 84"/>
          <p:cNvSpPr txBox="1"/>
          <p:nvPr/>
        </p:nvSpPr>
        <p:spPr>
          <a:xfrm>
            <a:off x="1752240" y="1377499"/>
            <a:ext cx="683278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600" b="1" dirty="0">
                <a:latin typeface="나눔스퀘어"/>
                <a:ea typeface="나눔스퀘어"/>
              </a:rPr>
              <a:t>감성분류</a:t>
            </a:r>
            <a:r>
              <a:rPr lang="en-US" altLang="ko-KR" sz="1600" dirty="0">
                <a:latin typeface="나눔스퀘어"/>
                <a:ea typeface="나눔스퀘어"/>
              </a:rPr>
              <a:t>: </a:t>
            </a:r>
            <a:r>
              <a:rPr lang="ko-KR" altLang="en-US" sz="1600" dirty="0">
                <a:latin typeface="나눔스퀘어"/>
                <a:ea typeface="나눔스퀘어"/>
              </a:rPr>
              <a:t>문서를 긍정의견 또는 부정의견으로 나누어 분류하는 것</a:t>
            </a:r>
          </a:p>
        </p:txBody>
      </p:sp>
      <p:sp>
        <p:nvSpPr>
          <p:cNvPr id="86" name="Google Shape;66;p14"/>
          <p:cNvSpPr txBox="1"/>
          <p:nvPr/>
        </p:nvSpPr>
        <p:spPr>
          <a:xfrm>
            <a:off x="1408975" y="323204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CHAPER 4. 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데이터 분류 모델</a:t>
            </a:r>
          </a:p>
        </p:txBody>
      </p:sp>
      <p:sp>
        <p:nvSpPr>
          <p:cNvPr id="87" name="가로 글상자 84"/>
          <p:cNvSpPr txBox="1"/>
          <p:nvPr/>
        </p:nvSpPr>
        <p:spPr>
          <a:xfrm>
            <a:off x="1511605" y="1003463"/>
            <a:ext cx="51622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ko-KR" altLang="en-US" sz="1800" b="1" i="0" u="none" strike="noStrike" kern="0" cap="none" spc="0" normalizeH="0" baseline="0" dirty="0">
                <a:solidFill>
                  <a:srgbClr val="000000"/>
                </a:solidFill>
                <a:latin typeface="나눔스퀘어"/>
                <a:ea typeface="나눔스퀘어"/>
              </a:rPr>
              <a:t>강남역 맛집 리뷰로 알아보는 감성 분류</a:t>
            </a:r>
          </a:p>
        </p:txBody>
      </p:sp>
      <p:sp>
        <p:nvSpPr>
          <p:cNvPr id="2" name="가로 글상자 84">
            <a:extLst>
              <a:ext uri="{FF2B5EF4-FFF2-40B4-BE49-F238E27FC236}">
                <a16:creationId xmlns:a16="http://schemas.microsoft.com/office/drawing/2014/main" id="{FC1FDB19-722A-9F02-2703-1E0127E12CEC}"/>
              </a:ext>
            </a:extLst>
          </p:cNvPr>
          <p:cNvSpPr txBox="1"/>
          <p:nvPr/>
        </p:nvSpPr>
        <p:spPr>
          <a:xfrm>
            <a:off x="1632255" y="2142962"/>
            <a:ext cx="683278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AutoNum type="arabicPeriod"/>
              <a:defRPr/>
            </a:pPr>
            <a:r>
              <a:rPr lang="ko-KR" altLang="en-US" sz="1600" dirty="0" err="1">
                <a:latin typeface="나눔스퀘어"/>
                <a:ea typeface="나눔스퀘어"/>
              </a:rPr>
              <a:t>크롤링을</a:t>
            </a:r>
            <a:r>
              <a:rPr lang="ko-KR" altLang="en-US" sz="1600" dirty="0">
                <a:latin typeface="나눔스퀘어"/>
                <a:ea typeface="나눔스퀘어"/>
              </a:rPr>
              <a:t> 통한 </a:t>
            </a:r>
            <a:r>
              <a:rPr lang="ko-KR" altLang="en-US" sz="1600" dirty="0" err="1">
                <a:latin typeface="나눔스퀘어"/>
                <a:ea typeface="나눔스퀘어"/>
              </a:rPr>
              <a:t>카카오맵</a:t>
            </a:r>
            <a:r>
              <a:rPr lang="ko-KR" altLang="en-US" sz="1600" dirty="0">
                <a:latin typeface="나눔스퀘어"/>
                <a:ea typeface="나눔스퀘어"/>
              </a:rPr>
              <a:t> 음식점 리뷰 수집</a:t>
            </a:r>
            <a:endParaRPr lang="en-US" altLang="ko-KR" sz="1600" dirty="0">
              <a:latin typeface="나눔스퀘어"/>
              <a:ea typeface="나눔스퀘어"/>
            </a:endParaRPr>
          </a:p>
          <a:p>
            <a:pPr marL="342900" lvl="0" indent="-342900">
              <a:buAutoNum type="arabicPeriod"/>
              <a:defRPr/>
            </a:pPr>
            <a:r>
              <a:rPr lang="ko-KR" altLang="en-US" sz="1600" dirty="0">
                <a:latin typeface="나눔스퀘어"/>
                <a:ea typeface="나눔스퀘어"/>
              </a:rPr>
              <a:t>텍스트 데이터를 감성분류 피처로 사용할 수 있도록 </a:t>
            </a:r>
            <a:r>
              <a:rPr lang="ko-KR" altLang="en-US" sz="1600" dirty="0" err="1">
                <a:latin typeface="나눔스퀘어"/>
                <a:ea typeface="나눔스퀘어"/>
              </a:rPr>
              <a:t>전처리</a:t>
            </a:r>
            <a:r>
              <a:rPr lang="ko-KR" altLang="en-US" sz="1600" dirty="0">
                <a:latin typeface="나눔스퀘어"/>
                <a:ea typeface="나눔스퀘어"/>
              </a:rPr>
              <a:t> 진행</a:t>
            </a:r>
            <a:endParaRPr lang="en-US" altLang="ko-KR" sz="1600" dirty="0">
              <a:latin typeface="나눔스퀘어"/>
              <a:ea typeface="나눔스퀘어"/>
            </a:endParaRPr>
          </a:p>
          <a:p>
            <a:pPr marL="342900" lvl="0" indent="-342900">
              <a:buAutoNum type="arabicPeriod"/>
              <a:defRPr/>
            </a:pPr>
            <a:r>
              <a:rPr lang="ko-KR" altLang="en-US" sz="1600" dirty="0">
                <a:latin typeface="나눔스퀘어"/>
                <a:ea typeface="나눔스퀘어"/>
              </a:rPr>
              <a:t>데이터의 긍정</a:t>
            </a:r>
            <a:r>
              <a:rPr lang="en-US" altLang="ko-KR" sz="1600" dirty="0">
                <a:latin typeface="나눔스퀘어"/>
                <a:ea typeface="나눔스퀘어"/>
              </a:rPr>
              <a:t>/ </a:t>
            </a:r>
            <a:r>
              <a:rPr lang="ko-KR" altLang="en-US" sz="1600" dirty="0">
                <a:latin typeface="나눔스퀘어"/>
                <a:ea typeface="나눔스퀘어"/>
              </a:rPr>
              <a:t>부정 리뷰를 분류하는 모델 학습</a:t>
            </a:r>
          </a:p>
        </p:txBody>
      </p:sp>
      <p:sp>
        <p:nvSpPr>
          <p:cNvPr id="3" name="화살표: 아래쪽 2">
            <a:extLst>
              <a:ext uri="{FF2B5EF4-FFF2-40B4-BE49-F238E27FC236}">
                <a16:creationId xmlns:a16="http://schemas.microsoft.com/office/drawing/2014/main" id="{063233C0-D428-4CD7-345E-6EB8F41E79DC}"/>
              </a:ext>
            </a:extLst>
          </p:cNvPr>
          <p:cNvSpPr/>
          <p:nvPr/>
        </p:nvSpPr>
        <p:spPr>
          <a:xfrm>
            <a:off x="4641850" y="3066392"/>
            <a:ext cx="279400" cy="414927"/>
          </a:xfrm>
          <a:prstGeom prst="down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가로 글상자 84">
            <a:extLst>
              <a:ext uri="{FF2B5EF4-FFF2-40B4-BE49-F238E27FC236}">
                <a16:creationId xmlns:a16="http://schemas.microsoft.com/office/drawing/2014/main" id="{0FB7467A-7F87-95B2-6F22-E41D44277DE2}"/>
              </a:ext>
            </a:extLst>
          </p:cNvPr>
          <p:cNvSpPr txBox="1"/>
          <p:nvPr/>
        </p:nvSpPr>
        <p:spPr>
          <a:xfrm>
            <a:off x="4845355" y="3062314"/>
            <a:ext cx="267304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600" dirty="0">
                <a:latin typeface="나눔스퀘어"/>
                <a:ea typeface="나눔스퀘어"/>
              </a:rPr>
              <a:t>클래스 불균형 문제</a:t>
            </a:r>
          </a:p>
        </p:txBody>
      </p:sp>
      <p:sp>
        <p:nvSpPr>
          <p:cNvPr id="5" name="가로 글상자 84">
            <a:extLst>
              <a:ext uri="{FF2B5EF4-FFF2-40B4-BE49-F238E27FC236}">
                <a16:creationId xmlns:a16="http://schemas.microsoft.com/office/drawing/2014/main" id="{998F1757-9425-388D-18DE-2CD76CCAEA29}"/>
              </a:ext>
            </a:extLst>
          </p:cNvPr>
          <p:cNvSpPr txBox="1"/>
          <p:nvPr/>
        </p:nvSpPr>
        <p:spPr>
          <a:xfrm>
            <a:off x="2765577" y="3662200"/>
            <a:ext cx="403194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600" dirty="0">
                <a:latin typeface="나눔스퀘어"/>
                <a:ea typeface="나눔스퀘어"/>
              </a:rPr>
              <a:t>클래스 간 비율을 </a:t>
            </a:r>
            <a:r>
              <a:rPr lang="ko-KR" altLang="en-US" sz="1600" dirty="0" err="1">
                <a:latin typeface="나눔스퀘어"/>
                <a:ea typeface="나눔스퀘어"/>
              </a:rPr>
              <a:t>맞추어주는</a:t>
            </a:r>
            <a:r>
              <a:rPr lang="ko-KR" altLang="en-US" sz="1600" dirty="0">
                <a:latin typeface="나눔스퀘어"/>
                <a:ea typeface="나눔스퀘어"/>
              </a:rPr>
              <a:t> 샘플링 진행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66;p14"/>
          <p:cNvSpPr txBox="1"/>
          <p:nvPr/>
        </p:nvSpPr>
        <p:spPr>
          <a:xfrm>
            <a:off x="1408975" y="323204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CHAPER 4. 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데이터 분류 모델</a:t>
            </a:r>
          </a:p>
        </p:txBody>
      </p:sp>
      <p:sp>
        <p:nvSpPr>
          <p:cNvPr id="88" name="가로 글상자 84"/>
          <p:cNvSpPr txBox="1"/>
          <p:nvPr/>
        </p:nvSpPr>
        <p:spPr>
          <a:xfrm>
            <a:off x="1811056" y="1286232"/>
            <a:ext cx="4095597" cy="332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600" b="1" i="0" u="none" strike="noStrike" kern="0" cap="none" spc="0" normalizeH="0" baseline="0">
                <a:solidFill>
                  <a:srgbClr val="000000"/>
                </a:solidFill>
                <a:latin typeface="나눔스퀘어"/>
                <a:ea typeface="나눔스퀘어"/>
              </a:rPr>
              <a:t>Confusion Matrix</a:t>
            </a:r>
          </a:p>
        </p:txBody>
      </p:sp>
      <p:pic>
        <p:nvPicPr>
          <p:cNvPr id="89" name="그림 8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692998" y="1719414"/>
            <a:ext cx="1906448" cy="1704671"/>
          </a:xfrm>
          <a:prstGeom prst="rect">
            <a:avLst/>
          </a:prstGeom>
        </p:spPr>
      </p:pic>
      <p:pic>
        <p:nvPicPr>
          <p:cNvPr id="90" name="그림 89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3820025" y="1797397"/>
            <a:ext cx="1920925" cy="1548704"/>
          </a:xfrm>
          <a:prstGeom prst="rect">
            <a:avLst/>
          </a:prstGeom>
        </p:spPr>
      </p:pic>
      <p:sp>
        <p:nvSpPr>
          <p:cNvPr id="92" name="가로 글상자 84"/>
          <p:cNvSpPr txBox="1"/>
          <p:nvPr/>
        </p:nvSpPr>
        <p:spPr>
          <a:xfrm>
            <a:off x="1873218" y="3694553"/>
            <a:ext cx="632144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600" i="0" u="none" strike="noStrike" kern="0" cap="none" spc="0" normalizeH="0" baseline="0" dirty="0">
                <a:solidFill>
                  <a:srgbClr val="000000"/>
                </a:solidFill>
                <a:latin typeface="나눔스퀘어"/>
                <a:ea typeface="나눔스퀘어"/>
              </a:rPr>
              <a:t>F1-score : </a:t>
            </a:r>
            <a:r>
              <a:rPr kumimoji="0" lang="ko-KR" altLang="en-US" sz="1600" i="0" u="none" strike="noStrike" kern="0" cap="none" spc="0" normalizeH="0" baseline="0" dirty="0">
                <a:solidFill>
                  <a:srgbClr val="000000"/>
                </a:solidFill>
                <a:latin typeface="나눔스퀘어"/>
                <a:ea typeface="나눔스퀘어"/>
              </a:rPr>
              <a:t>정밀도와 재현도의 조화 평균값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>
            <a:extLst>
              <a:ext uri="{FF2B5EF4-FFF2-40B4-BE49-F238E27FC236}">
                <a16:creationId xmlns:a16="http://schemas.microsoft.com/office/drawing/2014/main" id="{CBDFB792-6E1E-FCAF-F7EA-B3E19376C7A8}"/>
              </a:ext>
            </a:extLst>
          </p:cNvPr>
          <p:cNvSpPr txBox="1"/>
          <p:nvPr/>
        </p:nvSpPr>
        <p:spPr>
          <a:xfrm>
            <a:off x="3466376" y="2125489"/>
            <a:ext cx="2792910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000" b="1" dirty="0">
                <a:solidFill>
                  <a:srgbClr val="19264B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anumGothic ExtraBold"/>
                <a:sym typeface="NanumGothic ExtraBold"/>
              </a:rPr>
              <a:t>감사합니다</a:t>
            </a:r>
            <a:endParaRPr sz="4000" b="1" dirty="0">
              <a:solidFill>
                <a:srgbClr val="19264B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NanumGothic ExtraBold"/>
              <a:sym typeface="NanumGothic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61689366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503</Words>
  <Application>Microsoft Office PowerPoint</Application>
  <PresentationFormat>화면 슬라이드 쇼(16:9)</PresentationFormat>
  <Paragraphs>102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0" baseType="lpstr">
      <vt:lpstr>나눔고딕</vt:lpstr>
      <vt:lpstr>나눔바른고딕</vt:lpstr>
      <vt:lpstr>나눔스퀘어</vt:lpstr>
      <vt:lpstr>나눔스퀘어 ExtraBold</vt:lpstr>
      <vt:lpstr>맑은 고딕</vt:lpstr>
      <vt:lpstr>Arial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조효원</dc:creator>
  <cp:lastModifiedBy>지유 이</cp:lastModifiedBy>
  <cp:revision>122</cp:revision>
  <dcterms:modified xsi:type="dcterms:W3CDTF">2025-11-18T08:01:47Z</dcterms:modified>
  <cp:version>1000.0000.01</cp:version>
</cp:coreProperties>
</file>